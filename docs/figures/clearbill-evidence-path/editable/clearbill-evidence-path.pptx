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0449f48be04b01" /><Relationship Type="http://schemas.openxmlformats.org/officeDocument/2006/relationships/extended-properties" Target="/docProps/app.xml" Id="R289ad0b5d2694bb8" /><Relationship Type="http://schemas.openxmlformats.org/officeDocument/2006/relationships/officeDocument" Target="/ppt/presentation.xml" Id="R12b8b696c81c40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4d202a6e4a426e"/>
  </p:sldMasterIdLst>
  <p:notesMasterIdLst>
    <p:notesMasterId xmlns:r="http://schemas.openxmlformats.org/officeDocument/2006/relationships" r:id="R86ed7fd047a941ac"/>
  </p:notesMasterIdLst>
  <p:sldIdLst>
    <p:sldId xmlns:r="http://schemas.openxmlformats.org/officeDocument/2006/relationships" id="256" r:id="R5a5eca8f255b4b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bbfb0092e54670" /><Relationship Type="http://schemas.openxmlformats.org/officeDocument/2006/relationships/slideMaster" Target="/ppt/slideMasters/slideMaster1.xml" Id="R6d4d202a6e4a426e" /><Relationship Type="http://schemas.openxmlformats.org/officeDocument/2006/relationships/notesMaster" Target="/ppt/notesMasters/notesMaster1.xml" Id="R86ed7fd047a941ac" /><Relationship Type="http://schemas.openxmlformats.org/officeDocument/2006/relationships/presProps" Target="/ppt/presProps.xml" Id="R4b07c0d4aeaf43b3" /><Relationship Type="http://schemas.openxmlformats.org/officeDocument/2006/relationships/tableStyles" Target="/ppt/tableStyles.xml" Id="Rf5bc4dd6e2cf4a81" /><Relationship Type="http://schemas.openxmlformats.org/officeDocument/2006/relationships/slide" Target="/ppt/slides/slide1.xml" Id="R5a5eca8f255b4b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70acaec24c4a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216a1ebc73474e" /><Relationship Type="http://schemas.openxmlformats.org/officeDocument/2006/relationships/notesMaster" Target="/ppt/notesMasters/notesMaster1.xml" Id="R79d6f3936a424f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0a5ef0987f42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2cc32fe48a4a9a" /><Relationship Type="http://schemas.openxmlformats.org/officeDocument/2006/relationships/slideLayout" Target="/ppt/slideLayouts/slideLayout1.xml" Id="Rff6f979ecaea4c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6f979ecaea4c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5e39e029a4c28" /><Relationship Type="http://schemas.openxmlformats.org/officeDocument/2006/relationships/notesSlide" Target="/ppt/notesSlides/notesSlide1.xml" Id="R46d99f43b0dd4ba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title">
            <a:extLst xmlns:a="http://schemas.openxmlformats.org/drawingml/2006/main">
              <a:ext uri="{FF2B5EF4-FFF2-40B4-BE49-F238E27FC236}">
                <a16:creationId xmlns:a16="http://schemas.microsoft.com/office/drawing/2014/main" id="{2432F6A2-8A26-480C-9B79-A0E3EE4C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5F"/>
                </a:solidFill>
              </a:defRPr>
            </a:pPr>
            <a:r>
              <a:rPr sz="2175" b="1">
                <a:solidFill>
                  <a:srgbClr val="15365F"/>
                </a:solidFill>
              </a:rPr>
              <a:t>ClearBill has one shared evidence plane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C43002D-4A45-470A-BDBD-9A58CAA2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4748B"/>
                </a:solidFill>
              </a:defRPr>
            </a:pPr>
            <a:r>
              <a:rPr sz="1088" b="0">
                <a:solidFill>
                  <a:srgbClr val="64748B"/>
                </a:solidFill>
              </a:rPr>
              <a:t>Public guidance enters from the corpus path; questions leave through a guarded answer path.</a:t>
            </a:r>
          </a:p>
        </p:txBody>
      </p:sp>
      <p:sp>
        <p:nvSpPr>
          <p:cNvPr id="3" name="route">
            <a:extLst xmlns:a="http://schemas.openxmlformats.org/drawingml/2006/main">
              <a:ext uri="{FF2B5EF4-FFF2-40B4-BE49-F238E27FC236}">
                <a16:creationId xmlns:a16="http://schemas.microsoft.com/office/drawing/2014/main" id="{274EAC72-70B4-4531-B148-B36C56F7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000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7451B9"/>
                </a:solidFill>
              </a:defRPr>
            </a:pPr>
            <a:r>
              <a:rPr sz="863" b="1">
                <a:solidFill>
                  <a:srgbClr val="7451B9"/>
                </a:solidFill>
              </a:rPr>
              <a:t>POST /api/chat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37F3561-1C7A-4C6F-8427-4A2F3E25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5365F"/>
            </a:solidFill>
            <a:prstDash val="solid"/>
          </a:ln>
        </p:spPr>
      </p:sp>
      <p:sp>
        <p:nvSpPr>
          <p:cNvPr id="5" name="docs-browser">
            <a:extLst xmlns:a="http://schemas.openxmlformats.org/drawingml/2006/main">
              <a:ext uri="{FF2B5EF4-FFF2-40B4-BE49-F238E27FC236}">
                <a16:creationId xmlns:a16="http://schemas.microsoft.com/office/drawing/2014/main" id="{AE7C76C7-3EE0-436D-B799-0DA66AB5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76450"/>
            <a:ext cx="6286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1769E0"/>
            </a:solidFill>
            <a:prstDash val="solid"/>
          </a:ln>
        </p:spPr>
      </p:sp>
      <p:sp>
        <p:nvSpPr>
          <p:cNvPr id="6" name="browser-chunk">
            <a:extLst xmlns:a="http://schemas.openxmlformats.org/drawingml/2006/main">
              <a:ext uri="{FF2B5EF4-FFF2-40B4-BE49-F238E27FC236}">
                <a16:creationId xmlns:a16="http://schemas.microsoft.com/office/drawing/2014/main" id="{756A8706-871E-4A3A-92F4-CC1191B6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76450"/>
            <a:ext cx="552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1769E0"/>
            </a:solidFill>
            <a:prstDash val="solid"/>
          </a:ln>
        </p:spPr>
      </p:sp>
      <p:sp>
        <p:nvSpPr>
          <p:cNvPr id="7" name="chunk-embed">
            <a:extLst xmlns:a="http://schemas.openxmlformats.org/drawingml/2006/main">
              <a:ext uri="{FF2B5EF4-FFF2-40B4-BE49-F238E27FC236}">
                <a16:creationId xmlns:a16="http://schemas.microsoft.com/office/drawing/2014/main" id="{29839290-4B30-4AFC-A4FA-791A3696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5715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1769E0"/>
            </a:solidFill>
            <a:prstDash val="solid"/>
          </a:ln>
        </p:spPr>
      </p:sp>
      <p:sp>
        <p:nvSpPr>
          <p:cNvPr id="8" name="embed-store">
            <a:extLst xmlns:a="http://schemas.openxmlformats.org/drawingml/2006/main">
              <a:ext uri="{FF2B5EF4-FFF2-40B4-BE49-F238E27FC236}">
                <a16:creationId xmlns:a16="http://schemas.microsoft.com/office/drawing/2014/main" id="{B6A4376D-4A88-406E-BD29-F73076FE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5334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896A8"/>
          </a:solidFill>
          <a:ln xmlns:a="http://schemas.openxmlformats.org/drawingml/2006/main" w="0">
            <a:solidFill>
              <a:srgbClr val="1896A8"/>
            </a:solidFill>
            <a:prstDash val="solid"/>
          </a:ln>
        </p:spPr>
      </p:sp>
      <p:sp>
        <p:nvSpPr>
          <p:cNvPr id="9" name="question-validate">
            <a:extLst xmlns:a="http://schemas.openxmlformats.org/drawingml/2006/main">
              <a:ext uri="{FF2B5EF4-FFF2-40B4-BE49-F238E27FC236}">
                <a16:creationId xmlns:a16="http://schemas.microsoft.com/office/drawing/2014/main" id="{B0A87F0D-BD71-48C6-9D52-7C1A0150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581525"/>
            <a:ext cx="5905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451B9"/>
          </a:solidFill>
          <a:ln xmlns:a="http://schemas.openxmlformats.org/drawingml/2006/main" w="0">
            <a:solidFill>
              <a:srgbClr val="7451B9"/>
            </a:solidFill>
            <a:prstDash val="solid"/>
          </a:ln>
        </p:spPr>
      </p:sp>
      <p:sp>
        <p:nvSpPr>
          <p:cNvPr id="10" name="validate-embed">
            <a:extLst xmlns:a="http://schemas.openxmlformats.org/drawingml/2006/main">
              <a:ext uri="{FF2B5EF4-FFF2-40B4-BE49-F238E27FC236}">
                <a16:creationId xmlns:a16="http://schemas.microsoft.com/office/drawing/2014/main" id="{732594C6-2886-430E-B743-91209D9B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581525"/>
            <a:ext cx="552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451B9"/>
          </a:solidFill>
          <a:ln xmlns:a="http://schemas.openxmlformats.org/drawingml/2006/main" w="0">
            <a:solidFill>
              <a:srgbClr val="7451B9"/>
            </a:solidFill>
            <a:prstDash val="solid"/>
          </a:ln>
        </p:spPr>
      </p:sp>
      <p:sp>
        <p:nvSpPr>
          <p:cNvPr id="11" name="query-store">
            <a:extLst xmlns:a="http://schemas.openxmlformats.org/drawingml/2006/main">
              <a:ext uri="{FF2B5EF4-FFF2-40B4-BE49-F238E27FC236}">
                <a16:creationId xmlns:a16="http://schemas.microsoft.com/office/drawing/2014/main" id="{301C40A9-0302-496E-B9CF-33657DCF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81525"/>
            <a:ext cx="20955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451B9"/>
          </a:solidFill>
          <a:ln xmlns:a="http://schemas.openxmlformats.org/drawingml/2006/main" w="0">
            <a:solidFill>
              <a:srgbClr val="7451B9"/>
            </a:solidFill>
            <a:prstDash val="solid"/>
          </a:ln>
        </p:spPr>
      </p:sp>
      <p:sp>
        <p:nvSpPr>
          <p:cNvPr id="12" name="store-retrieve">
            <a:extLst xmlns:a="http://schemas.openxmlformats.org/drawingml/2006/main">
              <a:ext uri="{FF2B5EF4-FFF2-40B4-BE49-F238E27FC236}">
                <a16:creationId xmlns:a16="http://schemas.microsoft.com/office/drawing/2014/main" id="{63E91FB1-034C-48C3-9B6F-76A98D9D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95650"/>
            <a:ext cx="5905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451B9"/>
          </a:solidFill>
          <a:ln xmlns:a="http://schemas.openxmlformats.org/drawingml/2006/main" w="0">
            <a:solidFill>
              <a:srgbClr val="7451B9"/>
            </a:solidFill>
            <a:prstDash val="solid"/>
          </a:ln>
        </p:spPr>
      </p:sp>
      <p:sp>
        <p:nvSpPr>
          <p:cNvPr id="13" name="retrieve-decision">
            <a:extLst xmlns:a="http://schemas.openxmlformats.org/drawingml/2006/main">
              <a:ext uri="{FF2B5EF4-FFF2-40B4-BE49-F238E27FC236}">
                <a16:creationId xmlns:a16="http://schemas.microsoft.com/office/drawing/2014/main" id="{67FDEC4F-8957-46D6-9EF4-C3F69E4B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95650"/>
            <a:ext cx="333375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451B9"/>
          </a:solidFill>
          <a:ln xmlns:a="http://schemas.openxmlformats.org/drawingml/2006/main" w="0">
            <a:solidFill>
              <a:srgbClr val="7451B9"/>
            </a:solidFill>
            <a:prstDash val="solid"/>
          </a:ln>
        </p:spPr>
      </p:sp>
      <p:sp>
        <p:nvSpPr>
          <p:cNvPr id="14" name="decision-refuse">
            <a:extLst xmlns:a="http://schemas.openxmlformats.org/drawingml/2006/main">
              <a:ext uri="{FF2B5EF4-FFF2-40B4-BE49-F238E27FC236}">
                <a16:creationId xmlns:a16="http://schemas.microsoft.com/office/drawing/2014/main" id="{2CE3B3AE-CB8B-4FE0-A9D4-FC0B230E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038600"/>
            <a:ext cx="95250" cy="6572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C4B3E"/>
          </a:solidFill>
          <a:ln xmlns:a="http://schemas.openxmlformats.org/drawingml/2006/main" w="0">
            <a:solidFill>
              <a:srgbClr val="CC4B3E"/>
            </a:solidFill>
            <a:prstDash val="solid"/>
          </a:ln>
        </p:spPr>
      </p:sp>
      <p:sp>
        <p:nvSpPr>
          <p:cNvPr id="15" name="decision-prompt-a">
            <a:extLst xmlns:a="http://schemas.openxmlformats.org/drawingml/2006/main">
              <a:ext uri="{FF2B5EF4-FFF2-40B4-BE49-F238E27FC236}">
                <a16:creationId xmlns:a16="http://schemas.microsoft.com/office/drawing/2014/main" id="{DF336E09-055F-4DCD-A3FF-D0B70B50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0"/>
            <a:ext cx="9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451B9"/>
            </a:solidFill>
            <a:prstDash val="solid"/>
          </a:ln>
        </p:spPr>
      </p:sp>
      <p:sp>
        <p:nvSpPr>
          <p:cNvPr id="16" name="decision-prompt-b">
            <a:extLst xmlns:a="http://schemas.openxmlformats.org/drawingml/2006/main">
              <a:ext uri="{FF2B5EF4-FFF2-40B4-BE49-F238E27FC236}">
                <a16:creationId xmlns:a16="http://schemas.microsoft.com/office/drawing/2014/main" id="{A83015E5-3FA7-4E9F-9F97-A75AA9AC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200275"/>
            <a:ext cx="0" cy="1133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451B9"/>
            </a:solidFill>
            <a:prstDash val="solid"/>
          </a:ln>
        </p:spPr>
      </p:sp>
      <p:sp>
        <p:nvSpPr>
          <p:cNvPr id="17" name="decision-prompt-c">
            <a:extLst xmlns:a="http://schemas.openxmlformats.org/drawingml/2006/main">
              <a:ext uri="{FF2B5EF4-FFF2-40B4-BE49-F238E27FC236}">
                <a16:creationId xmlns:a16="http://schemas.microsoft.com/office/drawing/2014/main" id="{588B20B6-481B-4BB9-81DC-04433FAF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152650"/>
            <a:ext cx="1143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451B9"/>
          </a:solidFill>
          <a:ln xmlns:a="http://schemas.openxmlformats.org/drawingml/2006/main" w="0">
            <a:solidFill>
              <a:srgbClr val="7451B9"/>
            </a:solidFill>
            <a:prstDash val="solid"/>
          </a:ln>
        </p:spPr>
      </p:sp>
      <p:sp>
        <p:nvSpPr>
          <p:cNvPr id="18" name="prompt-model">
            <a:extLst xmlns:a="http://schemas.openxmlformats.org/drawingml/2006/main">
              <a:ext uri="{FF2B5EF4-FFF2-40B4-BE49-F238E27FC236}">
                <a16:creationId xmlns:a16="http://schemas.microsoft.com/office/drawing/2014/main" id="{16E9B34C-90DB-4748-BDA1-790EDF1B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600325"/>
            <a:ext cx="95250" cy="4286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451B9"/>
          </a:solidFill>
          <a:ln xmlns:a="http://schemas.openxmlformats.org/drawingml/2006/main" w="0">
            <a:solidFill>
              <a:srgbClr val="7451B9"/>
            </a:solidFill>
            <a:prstDash val="solid"/>
          </a:ln>
        </p:spPr>
      </p:sp>
      <p:sp>
        <p:nvSpPr>
          <p:cNvPr id="19" name="model-response">
            <a:extLst xmlns:a="http://schemas.openxmlformats.org/drawingml/2006/main">
              <a:ext uri="{FF2B5EF4-FFF2-40B4-BE49-F238E27FC236}">
                <a16:creationId xmlns:a16="http://schemas.microsoft.com/office/drawing/2014/main" id="{2ED0DDF7-6F3F-4500-A651-740DF17D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038600"/>
            <a:ext cx="95250" cy="6572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1769E0"/>
            </a:solidFill>
            <a:prstDash val="solid"/>
          </a:ln>
        </p:spPr>
      </p:sp>
      <p:sp>
        <p:nvSpPr>
          <p:cNvPr id="20" name="corpus-label">
            <a:extLst xmlns:a="http://schemas.openxmlformats.org/drawingml/2006/main">
              <a:ext uri="{FF2B5EF4-FFF2-40B4-BE49-F238E27FC236}">
                <a16:creationId xmlns:a16="http://schemas.microsoft.com/office/drawing/2014/main" id="{78DA1FE1-7229-4D60-961D-21105956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69E0"/>
                </a:solidFill>
              </a:defRPr>
            </a:pPr>
            <a:r>
              <a:rPr sz="900" b="1">
                <a:solidFill>
                  <a:srgbClr val="1769E0"/>
                </a:solidFill>
              </a:rPr>
              <a:t>01 · BUILD THE CORPUS</a:t>
            </a:r>
          </a:p>
        </p:txBody>
      </p:sp>
      <p:sp>
        <p:nvSpPr>
          <p:cNvPr id="21" name="corpus-copy">
            <a:extLst xmlns:a="http://schemas.openxmlformats.org/drawingml/2006/main">
              <a:ext uri="{FF2B5EF4-FFF2-40B4-BE49-F238E27FC236}">
                <a16:creationId xmlns:a16="http://schemas.microsoft.com/office/drawing/2014/main" id="{B206BED3-ADCE-4DD5-B882-2019068B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</a:defRPr>
            </a:pPr>
            <a:r>
              <a:rPr sz="863" b="0">
                <a:solidFill>
                  <a:srgbClr val="64748B"/>
                </a:solidFill>
              </a:rPr>
              <a:t>18 maintained public guidance URLs</a:t>
            </a:r>
          </a:p>
        </p:txBody>
      </p:sp>
      <p:sp>
        <p:nvSpPr>
          <p:cNvPr id="22" name="doc-back-2">
            <a:extLst xmlns:a="http://schemas.openxmlformats.org/drawingml/2006/main">
              <a:ext uri="{FF2B5EF4-FFF2-40B4-BE49-F238E27FC236}">
                <a16:creationId xmlns:a16="http://schemas.microsoft.com/office/drawing/2014/main" id="{72BC3583-A070-46F0-90CE-900320AA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914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23" name="doc-back-1">
            <a:extLst xmlns:a="http://schemas.openxmlformats.org/drawingml/2006/main">
              <a:ext uri="{FF2B5EF4-FFF2-40B4-BE49-F238E27FC236}">
                <a16:creationId xmlns:a16="http://schemas.microsoft.com/office/drawing/2014/main" id="{561936C9-820A-4165-B16C-3011C024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914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24" name="doc-front">
            <a:extLst xmlns:a="http://schemas.openxmlformats.org/drawingml/2006/main">
              <a:ext uri="{FF2B5EF4-FFF2-40B4-BE49-F238E27FC236}">
                <a16:creationId xmlns:a16="http://schemas.microsoft.com/office/drawing/2014/main" id="{898606C2-2D90-45D0-BBC8-4E7EC4C7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914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769E0"/>
            </a:solidFill>
            <a:prstDash val="solid"/>
          </a:ln>
        </p:spPr>
      </p:sp>
      <p:sp>
        <p:nvSpPr>
          <p:cNvPr id="25" name="doc-count">
            <a:extLst xmlns:a="http://schemas.openxmlformats.org/drawingml/2006/main">
              <a:ext uri="{FF2B5EF4-FFF2-40B4-BE49-F238E27FC236}">
                <a16:creationId xmlns:a16="http://schemas.microsoft.com/office/drawing/2014/main" id="{09CDA344-094C-4AD4-BF55-8501A2E6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526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69E0"/>
                </a:solidFill>
              </a:defRPr>
            </a:pPr>
            <a:r>
              <a:rPr sz="1800" b="1">
                <a:solidFill>
                  <a:srgbClr val="1769E0"/>
                </a:solidFill>
              </a:rPr>
              <a:t>18</a:t>
            </a:r>
          </a:p>
        </p:txBody>
      </p:sp>
      <p:sp>
        <p:nvSpPr>
          <p:cNvPr id="26" name="doc-label">
            <a:extLst xmlns:a="http://schemas.openxmlformats.org/drawingml/2006/main">
              <a:ext uri="{FF2B5EF4-FFF2-40B4-BE49-F238E27FC236}">
                <a16:creationId xmlns:a16="http://schemas.microsoft.com/office/drawing/2014/main" id="{8C36C0AB-376B-4313-AEDD-176DB48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5365F"/>
                </a:solidFill>
              </a:defRPr>
            </a:pPr>
            <a:r>
              <a:rPr sz="825" b="1">
                <a:solidFill>
                  <a:srgbClr val="15365F"/>
                </a:solidFill>
              </a:rPr>
              <a:t>public</a:t>
            </a:r>
          </a:p>
          <a:p xmlns:a="http://schemas.openxmlformats.org/drawingml/2006/main">
            <a:pPr algn="ctr">
              <a:defRPr sz="825" b="1">
                <a:solidFill>
                  <a:srgbClr val="15365F"/>
                </a:solidFill>
              </a:defRPr>
            </a:pPr>
            <a:r>
              <a:rPr sz="825" b="1">
                <a:solidFill>
                  <a:srgbClr val="15365F"/>
                </a:solidFill>
              </a:rPr>
              <a:t>guides</a:t>
            </a:r>
          </a:p>
        </p:txBody>
      </p:sp>
      <p:sp>
        <p:nvSpPr>
          <p:cNvPr id="27" name="browser-circle">
            <a:extLst xmlns:a="http://schemas.openxmlformats.org/drawingml/2006/main">
              <a:ext uri="{FF2B5EF4-FFF2-40B4-BE49-F238E27FC236}">
                <a16:creationId xmlns:a16="http://schemas.microsoft.com/office/drawing/2014/main" id="{A552CA10-5A50-4127-BB49-10AF1FAD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145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F"/>
          </a:solidFill>
          <a:ln xmlns:a="http://schemas.openxmlformats.org/drawingml/2006/main" w="14288">
            <a:solidFill>
              <a:srgbClr val="1769E0"/>
            </a:solidFill>
            <a:prstDash val="solid"/>
          </a:ln>
        </p:spPr>
      </p:sp>
      <p:sp>
        <p:nvSpPr>
          <p:cNvPr id="28" name="browser-label">
            <a:extLst xmlns:a="http://schemas.openxmlformats.org/drawingml/2006/main">
              <a:ext uri="{FF2B5EF4-FFF2-40B4-BE49-F238E27FC236}">
                <a16:creationId xmlns:a16="http://schemas.microsoft.com/office/drawing/2014/main" id="{2E10FCDB-6567-41F0-9565-F006F8D1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81200"/>
            <a:ext cx="819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769E0"/>
                </a:solidFill>
              </a:defRPr>
            </a:pPr>
            <a:r>
              <a:rPr sz="938" b="1">
                <a:solidFill>
                  <a:srgbClr val="1769E0"/>
                </a:solidFill>
              </a:rPr>
              <a:t>Extract</a:t>
            </a:r>
          </a:p>
        </p:txBody>
      </p:sp>
      <p:sp>
        <p:nvSpPr>
          <p:cNvPr id="29" name="browser-detail">
            <a:extLst xmlns:a="http://schemas.openxmlformats.org/drawingml/2006/main">
              <a:ext uri="{FF2B5EF4-FFF2-40B4-BE49-F238E27FC236}">
                <a16:creationId xmlns:a16="http://schemas.microsoft.com/office/drawing/2014/main" id="{D53D8B05-1F8D-430A-ADED-9899FA7B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Puppeteer</a:t>
            </a:r>
          </a:p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one browser</a:t>
            </a:r>
          </a:p>
        </p:txBody>
      </p:sp>
      <p:sp>
        <p:nvSpPr>
          <p:cNvPr id="30" name="chunk-circle">
            <a:extLst xmlns:a="http://schemas.openxmlformats.org/drawingml/2006/main">
              <a:ext uri="{FF2B5EF4-FFF2-40B4-BE49-F238E27FC236}">
                <a16:creationId xmlns:a16="http://schemas.microsoft.com/office/drawing/2014/main" id="{4D9E15AC-1783-4195-BB1C-D1A1A36E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7145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5365F"/>
            </a:solidFill>
            <a:prstDash val="solid"/>
          </a:ln>
        </p:spPr>
      </p:sp>
      <p:sp>
        <p:nvSpPr>
          <p:cNvPr id="31" name="chunk-label">
            <a:extLst xmlns:a="http://schemas.openxmlformats.org/drawingml/2006/main">
              <a:ext uri="{FF2B5EF4-FFF2-40B4-BE49-F238E27FC236}">
                <a16:creationId xmlns:a16="http://schemas.microsoft.com/office/drawing/2014/main" id="{012D81EE-4B6E-4C76-BA37-2E818C5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98120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5365F"/>
                </a:solidFill>
              </a:defRPr>
            </a:pPr>
            <a:r>
              <a:rPr sz="938" b="1">
                <a:solidFill>
                  <a:srgbClr val="15365F"/>
                </a:solidFill>
              </a:rPr>
              <a:t>Chunk</a:t>
            </a:r>
          </a:p>
        </p:txBody>
      </p:sp>
      <p:sp>
        <p:nvSpPr>
          <p:cNvPr id="32" name="chunk-detail">
            <a:extLst xmlns:a="http://schemas.openxmlformats.org/drawingml/2006/main">
              <a:ext uri="{FF2B5EF4-FFF2-40B4-BE49-F238E27FC236}">
                <a16:creationId xmlns:a16="http://schemas.microsoft.com/office/drawing/2014/main" id="{BB730A5B-2313-4998-B4F0-7F0311F4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194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normalize</a:t>
            </a:r>
          </a:p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512 / overlap 100</a:t>
            </a:r>
          </a:p>
        </p:txBody>
      </p:sp>
      <p:sp>
        <p:nvSpPr>
          <p:cNvPr id="33" name="corpus-embed-circle">
            <a:extLst xmlns:a="http://schemas.openxmlformats.org/drawingml/2006/main">
              <a:ext uri="{FF2B5EF4-FFF2-40B4-BE49-F238E27FC236}">
                <a16:creationId xmlns:a16="http://schemas.microsoft.com/office/drawing/2014/main" id="{067B5AB1-C4AB-4919-B2BC-A0957B9E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145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F4F6"/>
          </a:solidFill>
          <a:ln xmlns:a="http://schemas.openxmlformats.org/drawingml/2006/main" w="14288">
            <a:solidFill>
              <a:srgbClr val="1896A8"/>
            </a:solidFill>
            <a:prstDash val="solid"/>
          </a:ln>
        </p:spPr>
      </p:sp>
      <p:sp>
        <p:nvSpPr>
          <p:cNvPr id="34" name="corpus-embed-label">
            <a:extLst xmlns:a="http://schemas.openxmlformats.org/drawingml/2006/main">
              <a:ext uri="{FF2B5EF4-FFF2-40B4-BE49-F238E27FC236}">
                <a16:creationId xmlns:a16="http://schemas.microsoft.com/office/drawing/2014/main" id="{483F1CC4-A5C1-426E-B0BD-5692E672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98120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896A8"/>
                </a:solidFill>
              </a:defRPr>
            </a:pPr>
            <a:r>
              <a:rPr sz="938" b="1">
                <a:solidFill>
                  <a:srgbClr val="1896A8"/>
                </a:solidFill>
              </a:rPr>
              <a:t>Embed</a:t>
            </a:r>
          </a:p>
        </p:txBody>
      </p:sp>
      <p:sp>
        <p:nvSpPr>
          <p:cNvPr id="35" name="corpus-embed-detail">
            <a:extLst xmlns:a="http://schemas.openxmlformats.org/drawingml/2006/main">
              <a:ext uri="{FF2B5EF4-FFF2-40B4-BE49-F238E27FC236}">
                <a16:creationId xmlns:a16="http://schemas.microsoft.com/office/drawing/2014/main" id="{25F998E6-0AED-4D24-B30B-E01D941F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813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MiniLM-L6-v2</a:t>
            </a:r>
          </a:p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384-D normalized</a:t>
            </a:r>
          </a:p>
        </p:txBody>
      </p:sp>
      <p:sp>
        <p:nvSpPr>
          <p:cNvPr id="36" name="astra-outer">
            <a:extLst xmlns:a="http://schemas.openxmlformats.org/drawingml/2006/main">
              <a:ext uri="{FF2B5EF4-FFF2-40B4-BE49-F238E27FC236}">
                <a16:creationId xmlns:a16="http://schemas.microsoft.com/office/drawing/2014/main" id="{5D6807EB-E060-42DE-A802-9D337B4B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590675"/>
            <a:ext cx="1238250" cy="3638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B8"/>
          </a:solidFill>
          <a:ln xmlns:a="http://schemas.openxmlformats.org/drawingml/2006/main" w="17145">
            <a:solidFill>
              <a:srgbClr val="B77A00"/>
            </a:solidFill>
            <a:prstDash val="solid"/>
          </a:ln>
        </p:spPr>
      </p:sp>
      <p:sp>
        <p:nvSpPr>
          <p:cNvPr id="37" name="astra-top">
            <a:extLst xmlns:a="http://schemas.openxmlformats.org/drawingml/2006/main">
              <a:ext uri="{FF2B5EF4-FFF2-40B4-BE49-F238E27FC236}">
                <a16:creationId xmlns:a16="http://schemas.microsoft.com/office/drawing/2014/main" id="{D7DF7B04-171E-4E14-A693-5A077CD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590675"/>
            <a:ext cx="12382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790"/>
          </a:solidFill>
          <a:ln xmlns:a="http://schemas.openxmlformats.org/drawingml/2006/main" w="17145">
            <a:solidFill>
              <a:srgbClr val="B77A00"/>
            </a:solidFill>
            <a:prstDash val="solid"/>
          </a:ln>
        </p:spPr>
      </p:sp>
      <p:sp>
        <p:nvSpPr>
          <p:cNvPr id="38" name="astra-bottom">
            <a:extLst xmlns:a="http://schemas.openxmlformats.org/drawingml/2006/main">
              <a:ext uri="{FF2B5EF4-FFF2-40B4-BE49-F238E27FC236}">
                <a16:creationId xmlns:a16="http://schemas.microsoft.com/office/drawing/2014/main" id="{9AD09C5A-428A-4A94-AE47-D6CAD372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791075"/>
            <a:ext cx="12382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D872"/>
          </a:solidFill>
          <a:ln xmlns:a="http://schemas.openxmlformats.org/drawingml/2006/main" w="17145">
            <a:solidFill>
              <a:srgbClr val="B77A00"/>
            </a:solidFill>
            <a:prstDash val="solid"/>
          </a:ln>
        </p:spPr>
      </p:sp>
      <p:sp>
        <p:nvSpPr>
          <p:cNvPr id="39" name="astra-kicker">
            <a:extLst xmlns:a="http://schemas.openxmlformats.org/drawingml/2006/main">
              <a:ext uri="{FF2B5EF4-FFF2-40B4-BE49-F238E27FC236}">
                <a16:creationId xmlns:a16="http://schemas.microsoft.com/office/drawing/2014/main" id="{DB5806FC-BDA4-4A1B-A62D-B481A416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907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77A00"/>
                </a:solidFill>
              </a:defRPr>
            </a:pPr>
            <a:r>
              <a:rPr sz="750" b="1">
                <a:solidFill>
                  <a:srgbClr val="B77A00"/>
                </a:solidFill>
              </a:rPr>
              <a:t>SHARED STATE</a:t>
            </a:r>
          </a:p>
        </p:txBody>
      </p:sp>
      <p:sp>
        <p:nvSpPr>
          <p:cNvPr id="40" name="astra-title">
            <a:extLst xmlns:a="http://schemas.openxmlformats.org/drawingml/2006/main">
              <a:ext uri="{FF2B5EF4-FFF2-40B4-BE49-F238E27FC236}">
                <a16:creationId xmlns:a16="http://schemas.microsoft.com/office/drawing/2014/main" id="{6F728A02-06A7-43E5-867B-2542C0AC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00325"/>
            <a:ext cx="971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65F"/>
                </a:solidFill>
              </a:defRPr>
            </a:pPr>
            <a:r>
              <a:rPr sz="1500" b="1">
                <a:solidFill>
                  <a:srgbClr val="15365F"/>
                </a:solidFill>
              </a:rPr>
              <a:t>Astra DB</a:t>
            </a:r>
          </a:p>
        </p:txBody>
      </p:sp>
      <p:sp>
        <p:nvSpPr>
          <p:cNvPr id="41" name="astra-copy">
            <a:extLst xmlns:a="http://schemas.openxmlformats.org/drawingml/2006/main">
              <a:ext uri="{FF2B5EF4-FFF2-40B4-BE49-F238E27FC236}">
                <a16:creationId xmlns:a16="http://schemas.microsoft.com/office/drawing/2014/main" id="{35402E9C-8EB5-4ADD-AF68-D11EA240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86100"/>
            <a:ext cx="971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2223D"/>
                </a:solidFill>
              </a:defRPr>
            </a:pPr>
            <a:r>
              <a:rPr sz="825" b="0">
                <a:solidFill>
                  <a:srgbClr val="12223D"/>
                </a:solidFill>
              </a:rPr>
              <a:t>vector collection</a:t>
            </a:r>
          </a:p>
          <a:p xmlns:a="http://schemas.openxmlformats.org/drawingml/2006/main">
            <a:pPr algn="ctr">
              <a:defRPr sz="825" b="0">
                <a:solidFill>
                  <a:srgbClr val="12223D"/>
                </a:solidFill>
              </a:defRPr>
            </a:pPr>
            <a:r>
              <a:rPr sz="825" b="0">
                <a:solidFill>
                  <a:srgbClr val="12223D"/>
                </a:solidFill>
              </a:rPr>
              <a:t>source metadata</a:t>
            </a:r>
          </a:p>
          <a:p xmlns:a="http://schemas.openxmlformats.org/drawingml/2006/main">
            <a:pPr algn="ctr">
              <a:defRPr sz="825" b="0">
                <a:solidFill>
                  <a:srgbClr val="12223D"/>
                </a:solidFill>
              </a:defRPr>
            </a:pPr>
            <a:r>
              <a:rPr sz="825" b="0">
                <a:solidFill>
                  <a:srgbClr val="12223D"/>
                </a:solidFill>
              </a:rPr>
              <a:t>dot-product search</a:t>
            </a:r>
          </a:p>
        </p:txBody>
      </p:sp>
      <p:sp>
        <p:nvSpPr>
          <p:cNvPr id="42" name="astra-divider">
            <a:extLst xmlns:a="http://schemas.openxmlformats.org/drawingml/2006/main">
              <a:ext uri="{FF2B5EF4-FFF2-40B4-BE49-F238E27FC236}">
                <a16:creationId xmlns:a16="http://schemas.microsoft.com/office/drawing/2014/main" id="{6E4FA402-464E-44E2-A9A3-BD13E158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90975"/>
            <a:ext cx="85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B77A00"/>
            </a:solidFill>
            <a:prstDash val="solid"/>
          </a:ln>
        </p:spPr>
      </p:sp>
      <p:sp>
        <p:nvSpPr>
          <p:cNvPr id="43" name="astra-secret">
            <a:extLst xmlns:a="http://schemas.openxmlformats.org/drawingml/2006/main">
              <a:ext uri="{FF2B5EF4-FFF2-40B4-BE49-F238E27FC236}">
                <a16:creationId xmlns:a16="http://schemas.microsoft.com/office/drawing/2014/main" id="{FC4CFD0A-518D-44BB-9448-DB7D289F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38625"/>
            <a:ext cx="1009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server-side token</a:t>
            </a:r>
          </a:p>
        </p:txBody>
      </p:sp>
      <p:sp>
        <p:nvSpPr>
          <p:cNvPr id="44" name="query-label">
            <a:extLst xmlns:a="http://schemas.openxmlformats.org/drawingml/2006/main">
              <a:ext uri="{FF2B5EF4-FFF2-40B4-BE49-F238E27FC236}">
                <a16:creationId xmlns:a16="http://schemas.microsoft.com/office/drawing/2014/main" id="{F5D23464-2B1B-45E4-9F8E-5876CF7D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451B9"/>
                </a:solidFill>
              </a:defRPr>
            </a:pPr>
            <a:r>
              <a:rPr sz="900" b="1">
                <a:solidFill>
                  <a:srgbClr val="7451B9"/>
                </a:solidFill>
              </a:rPr>
              <a:t>02 · ANSWER A QUESTION</a:t>
            </a:r>
          </a:p>
        </p:txBody>
      </p:sp>
      <p:sp>
        <p:nvSpPr>
          <p:cNvPr id="45" name="query-copy">
            <a:extLst xmlns:a="http://schemas.openxmlformats.org/drawingml/2006/main">
              <a:ext uri="{FF2B5EF4-FFF2-40B4-BE49-F238E27FC236}">
                <a16:creationId xmlns:a16="http://schemas.microsoft.com/office/drawing/2014/main" id="{9460E42D-2C00-417E-A358-00B923E5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9097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</a:defRPr>
            </a:pPr>
            <a:r>
              <a:rPr sz="863" b="0">
                <a:solidFill>
                  <a:srgbClr val="64748B"/>
                </a:solidFill>
              </a:rPr>
              <a:t>The latest user message enters the same vector space.</a:t>
            </a:r>
          </a:p>
        </p:txBody>
      </p:sp>
      <p:sp>
        <p:nvSpPr>
          <p:cNvPr id="46" name="question">
            <a:extLst xmlns:a="http://schemas.openxmlformats.org/drawingml/2006/main">
              <a:ext uri="{FF2B5EF4-FFF2-40B4-BE49-F238E27FC236}">
                <a16:creationId xmlns:a16="http://schemas.microsoft.com/office/drawing/2014/main" id="{119F3DBA-36B8-463A-BC22-6EEF0E84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57675"/>
            <a:ext cx="10572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E8FA"/>
          </a:solidFill>
          <a:ln xmlns:a="http://schemas.openxmlformats.org/drawingml/2006/main" w="12383">
            <a:solidFill>
              <a:srgbClr val="7451B9"/>
            </a:solidFill>
            <a:prstDash val="solid"/>
          </a:ln>
        </p:spPr>
      </p:sp>
      <p:sp>
        <p:nvSpPr>
          <p:cNvPr id="47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F79165DB-159B-491B-B05B-DD7FD0FB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391025"/>
            <a:ext cx="7715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451B9"/>
                </a:solidFill>
              </a:defRPr>
            </a:pPr>
            <a:r>
              <a:rPr sz="975" b="1">
                <a:solidFill>
                  <a:srgbClr val="7451B9"/>
                </a:solidFill>
              </a:rPr>
              <a:t>Question</a:t>
            </a:r>
          </a:p>
        </p:txBody>
      </p:sp>
      <p:sp>
        <p:nvSpPr>
          <p:cNvPr id="48" name="question-copy">
            <a:extLst xmlns:a="http://schemas.openxmlformats.org/drawingml/2006/main">
              <a:ext uri="{FF2B5EF4-FFF2-40B4-BE49-F238E27FC236}">
                <a16:creationId xmlns:a16="http://schemas.microsoft.com/office/drawing/2014/main" id="{8F5C530F-CAEB-48B1-B9A0-D12BFC11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6775"/>
            <a:ext cx="771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latest turn</a:t>
            </a:r>
          </a:p>
        </p:txBody>
      </p:sp>
      <p:sp>
        <p:nvSpPr>
          <p:cNvPr id="49" name="validate-circle">
            <a:extLst xmlns:a="http://schemas.openxmlformats.org/drawingml/2006/main">
              <a:ext uri="{FF2B5EF4-FFF2-40B4-BE49-F238E27FC236}">
                <a16:creationId xmlns:a16="http://schemas.microsoft.com/office/drawing/2014/main" id="{16776A50-8272-4C93-86CF-E31F8E16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81475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5365F"/>
            </a:solidFill>
            <a:prstDash val="solid"/>
          </a:ln>
        </p:spPr>
      </p:sp>
      <p:sp>
        <p:nvSpPr>
          <p:cNvPr id="50" name="validate-label">
            <a:extLst xmlns:a="http://schemas.openxmlformats.org/drawingml/2006/main">
              <a:ext uri="{FF2B5EF4-FFF2-40B4-BE49-F238E27FC236}">
                <a16:creationId xmlns:a16="http://schemas.microsoft.com/office/drawing/2014/main" id="{9E95D48C-0125-43B9-B1FF-1E419EA1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448175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5365F"/>
                </a:solidFill>
              </a:defRPr>
            </a:pPr>
            <a:r>
              <a:rPr sz="938" b="1">
                <a:solidFill>
                  <a:srgbClr val="15365F"/>
                </a:solidFill>
              </a:rPr>
              <a:t>Validate</a:t>
            </a:r>
          </a:p>
        </p:txBody>
      </p:sp>
      <p:sp>
        <p:nvSpPr>
          <p:cNvPr id="51" name="validate-detail">
            <a:extLst xmlns:a="http://schemas.openxmlformats.org/drawingml/2006/main">
              <a:ext uri="{FF2B5EF4-FFF2-40B4-BE49-F238E27FC236}">
                <a16:creationId xmlns:a16="http://schemas.microsoft.com/office/drawing/2014/main" id="{7093C7E6-001E-4127-85BE-E71A0B20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5286375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1–20 messages</a:t>
            </a:r>
          </a:p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≤2,000 chars</a:t>
            </a:r>
          </a:p>
        </p:txBody>
      </p:sp>
      <p:sp>
        <p:nvSpPr>
          <p:cNvPr id="52" name="query-embed-circle">
            <a:extLst xmlns:a="http://schemas.openxmlformats.org/drawingml/2006/main">
              <a:ext uri="{FF2B5EF4-FFF2-40B4-BE49-F238E27FC236}">
                <a16:creationId xmlns:a16="http://schemas.microsoft.com/office/drawing/2014/main" id="{1A16CA10-A3A7-45B5-8921-9647B74F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181475"/>
            <a:ext cx="1019175" cy="1019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F4F6"/>
          </a:solidFill>
          <a:ln xmlns:a="http://schemas.openxmlformats.org/drawingml/2006/main" w="14288">
            <a:solidFill>
              <a:srgbClr val="1896A8"/>
            </a:solidFill>
            <a:prstDash val="solid"/>
          </a:ln>
        </p:spPr>
      </p:sp>
      <p:sp>
        <p:nvSpPr>
          <p:cNvPr id="53" name="query-embed-label">
            <a:extLst xmlns:a="http://schemas.openxmlformats.org/drawingml/2006/main">
              <a:ext uri="{FF2B5EF4-FFF2-40B4-BE49-F238E27FC236}">
                <a16:creationId xmlns:a16="http://schemas.microsoft.com/office/drawing/2014/main" id="{CD0F6C30-0641-47AF-AD92-91D50944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448175"/>
            <a:ext cx="8286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896A8"/>
                </a:solidFill>
              </a:defRPr>
            </a:pPr>
            <a:r>
              <a:rPr sz="938" b="1">
                <a:solidFill>
                  <a:srgbClr val="1896A8"/>
                </a:solidFill>
              </a:rPr>
              <a:t>Embed</a:t>
            </a:r>
          </a:p>
        </p:txBody>
      </p:sp>
      <p:sp>
        <p:nvSpPr>
          <p:cNvPr id="54" name="query-embed-detail">
            <a:extLst xmlns:a="http://schemas.openxmlformats.org/drawingml/2006/main">
              <a:ext uri="{FF2B5EF4-FFF2-40B4-BE49-F238E27FC236}">
                <a16:creationId xmlns:a16="http://schemas.microsoft.com/office/drawing/2014/main" id="{E4DA9E3F-7863-46C5-BC19-50526164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276850"/>
            <a:ext cx="1209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same MiniLM</a:t>
            </a:r>
          </a:p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vector space</a:t>
            </a:r>
          </a:p>
        </p:txBody>
      </p:sp>
      <p:sp>
        <p:nvSpPr>
          <p:cNvPr id="55" name="retrieve-circle">
            <a:extLst xmlns:a="http://schemas.openxmlformats.org/drawingml/2006/main">
              <a:ext uri="{FF2B5EF4-FFF2-40B4-BE49-F238E27FC236}">
                <a16:creationId xmlns:a16="http://schemas.microsoft.com/office/drawing/2014/main" id="{7AF78818-3199-48B7-BB21-542D663D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765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E8FA"/>
          </a:solidFill>
          <a:ln xmlns:a="http://schemas.openxmlformats.org/drawingml/2006/main" w="14288">
            <a:solidFill>
              <a:srgbClr val="7451B9"/>
            </a:solidFill>
            <a:prstDash val="solid"/>
          </a:ln>
        </p:spPr>
      </p:sp>
      <p:sp>
        <p:nvSpPr>
          <p:cNvPr id="56" name="retrieve-label">
            <a:extLst xmlns:a="http://schemas.openxmlformats.org/drawingml/2006/main">
              <a:ext uri="{FF2B5EF4-FFF2-40B4-BE49-F238E27FC236}">
                <a16:creationId xmlns:a16="http://schemas.microsoft.com/office/drawing/2014/main" id="{14DC8F86-862E-43C3-A7FF-16057753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432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7451B9"/>
                </a:solidFill>
              </a:defRPr>
            </a:pPr>
            <a:r>
              <a:rPr sz="938" b="1">
                <a:solidFill>
                  <a:srgbClr val="7451B9"/>
                </a:solidFill>
              </a:rPr>
              <a:t>Top 6</a:t>
            </a:r>
          </a:p>
        </p:txBody>
      </p:sp>
      <p:sp>
        <p:nvSpPr>
          <p:cNvPr id="57" name="retrieve-detail">
            <a:extLst xmlns:a="http://schemas.openxmlformats.org/drawingml/2006/main">
              <a:ext uri="{FF2B5EF4-FFF2-40B4-BE49-F238E27FC236}">
                <a16:creationId xmlns:a16="http://schemas.microsoft.com/office/drawing/2014/main" id="{A0AA64F9-2C59-4683-A434-B7919BDF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6715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usable text</a:t>
            </a:r>
          </a:p>
          <a:p xmlns:a="http://schemas.openxmlformats.org/drawingml/2006/main">
            <a:pPr algn="ctr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only</a:t>
            </a:r>
          </a:p>
        </p:txBody>
      </p:sp>
      <p:sp>
        <p:nvSpPr>
          <p:cNvPr id="58" name="evidence-gate">
            <a:extLst xmlns:a="http://schemas.openxmlformats.org/drawingml/2006/main">
              <a:ext uri="{FF2B5EF4-FFF2-40B4-BE49-F238E27FC236}">
                <a16:creationId xmlns:a16="http://schemas.microsoft.com/office/drawing/2014/main" id="{52BF2E34-90A8-42AA-BA06-92F43EB5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76550"/>
            <a:ext cx="685800" cy="914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451B9"/>
            </a:solidFill>
            <a:prstDash val="solid"/>
          </a:ln>
        </p:spPr>
      </p:sp>
      <p:sp>
        <p:nvSpPr>
          <p:cNvPr id="59" name="gate-text">
            <a:extLst xmlns:a="http://schemas.openxmlformats.org/drawingml/2006/main">
              <a:ext uri="{FF2B5EF4-FFF2-40B4-BE49-F238E27FC236}">
                <a16:creationId xmlns:a16="http://schemas.microsoft.com/office/drawing/2014/main" id="{E2A18170-72A3-4B56-982B-6BF89CEF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289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7451B9"/>
                </a:solidFill>
              </a:defRPr>
            </a:pPr>
            <a:r>
              <a:rPr sz="788" b="1">
                <a:solidFill>
                  <a:srgbClr val="7451B9"/>
                </a:solidFill>
              </a:rPr>
              <a:t>text?</a:t>
            </a:r>
          </a:p>
        </p:txBody>
      </p:sp>
      <p:sp>
        <p:nvSpPr>
          <p:cNvPr id="60" name="prompt">
            <a:extLst xmlns:a="http://schemas.openxmlformats.org/drawingml/2006/main">
              <a:ext uri="{FF2B5EF4-FFF2-40B4-BE49-F238E27FC236}">
                <a16:creationId xmlns:a16="http://schemas.microsoft.com/office/drawing/2014/main" id="{AFE11DD7-33FC-480A-A2BE-BF9BCB6A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1809750"/>
            <a:ext cx="99060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EEE8FA"/>
          </a:solidFill>
          <a:ln xmlns:a="http://schemas.openxmlformats.org/drawingml/2006/main" w="12383">
            <a:solidFill>
              <a:srgbClr val="7451B9"/>
            </a:solidFill>
            <a:prstDash val="solid"/>
          </a:ln>
        </p:spPr>
      </p:sp>
      <p:sp>
        <p:nvSpPr>
          <p:cNvPr id="61" name="prompt-title">
            <a:extLst xmlns:a="http://schemas.openxmlformats.org/drawingml/2006/main">
              <a:ext uri="{FF2B5EF4-FFF2-40B4-BE49-F238E27FC236}">
                <a16:creationId xmlns:a16="http://schemas.microsoft.com/office/drawing/2014/main" id="{F68C61C5-1A61-49AA-9FA7-EC85DA0B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99072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7451B9"/>
                </a:solidFill>
              </a:defRPr>
            </a:pPr>
            <a:r>
              <a:rPr sz="863" b="1">
                <a:solidFill>
                  <a:srgbClr val="7451B9"/>
                </a:solidFill>
              </a:rPr>
              <a:t>Grounded prompt</a:t>
            </a:r>
          </a:p>
        </p:txBody>
      </p:sp>
      <p:sp>
        <p:nvSpPr>
          <p:cNvPr id="62" name="prompt-note">
            <a:extLst xmlns:a="http://schemas.openxmlformats.org/drawingml/2006/main">
              <a:ext uri="{FF2B5EF4-FFF2-40B4-BE49-F238E27FC236}">
                <a16:creationId xmlns:a16="http://schemas.microsoft.com/office/drawing/2014/main" id="{F81DCACE-C6AA-481E-94FC-54FD9C40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2324100"/>
            <a:ext cx="8001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4748B"/>
                </a:solidFill>
              </a:defRPr>
            </a:pPr>
            <a:r>
              <a:rPr sz="660" b="0">
                <a:solidFill>
                  <a:srgbClr val="64748B"/>
                </a:solidFill>
              </a:rPr>
              <a:t>context only</a:t>
            </a:r>
          </a:p>
        </p:txBody>
      </p:sp>
      <p:sp>
        <p:nvSpPr>
          <p:cNvPr id="63" name="model">
            <a:extLst xmlns:a="http://schemas.openxmlformats.org/drawingml/2006/main">
              <a:ext uri="{FF2B5EF4-FFF2-40B4-BE49-F238E27FC236}">
                <a16:creationId xmlns:a16="http://schemas.microsoft.com/office/drawing/2014/main" id="{91DE846B-07F8-4E33-80BC-329EE137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028950"/>
            <a:ext cx="95250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F"/>
          </a:solidFill>
          <a:ln xmlns:a="http://schemas.openxmlformats.org/drawingml/2006/main" w="14288">
            <a:solidFill>
              <a:srgbClr val="1769E0"/>
            </a:solidFill>
            <a:prstDash val="solid"/>
          </a:ln>
        </p:spPr>
      </p:sp>
      <p:sp>
        <p:nvSpPr>
          <p:cNvPr id="64" name="model-title">
            <a:extLst xmlns:a="http://schemas.openxmlformats.org/drawingml/2006/main">
              <a:ext uri="{FF2B5EF4-FFF2-40B4-BE49-F238E27FC236}">
                <a16:creationId xmlns:a16="http://schemas.microsoft.com/office/drawing/2014/main" id="{CE5EA8F7-FD32-4771-A4C3-424BAEF2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295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69E0"/>
                </a:solidFill>
              </a:defRPr>
            </a:pPr>
            <a:r>
              <a:rPr sz="900" b="1">
                <a:solidFill>
                  <a:srgbClr val="1769E0"/>
                </a:solidFill>
              </a:rPr>
              <a:t>HF router</a:t>
            </a:r>
          </a:p>
        </p:txBody>
      </p:sp>
      <p:sp>
        <p:nvSpPr>
          <p:cNvPr id="65" name="model-note">
            <a:extLst xmlns:a="http://schemas.openxmlformats.org/drawingml/2006/main">
              <a:ext uri="{FF2B5EF4-FFF2-40B4-BE49-F238E27FC236}">
                <a16:creationId xmlns:a16="http://schemas.microsoft.com/office/drawing/2014/main" id="{6BB2FB2F-0104-41FD-94F7-DE70F798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57187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64748B"/>
                </a:solidFill>
              </a:defRPr>
            </a:pPr>
            <a:r>
              <a:rPr sz="690" b="0">
                <a:solidFill>
                  <a:srgbClr val="64748B"/>
                </a:solidFill>
              </a:rPr>
              <a:t>temp 0.2</a:t>
            </a:r>
          </a:p>
          <a:p xmlns:a="http://schemas.openxmlformats.org/drawingml/2006/main">
            <a:pPr algn="ctr">
              <a:defRPr sz="690" b="0">
                <a:solidFill>
                  <a:srgbClr val="64748B"/>
                </a:solidFill>
              </a:defRPr>
            </a:pPr>
            <a:r>
              <a:rPr sz="690" b="0">
                <a:solidFill>
                  <a:srgbClr val="64748B"/>
                </a:solidFill>
              </a:rPr>
              <a:t>25 s timeout</a:t>
            </a:r>
          </a:p>
        </p:txBody>
      </p:sp>
      <p:sp>
        <p:nvSpPr>
          <p:cNvPr id="66" name="refusal">
            <a:extLst xmlns:a="http://schemas.openxmlformats.org/drawingml/2006/main">
              <a:ext uri="{FF2B5EF4-FFF2-40B4-BE49-F238E27FC236}">
                <a16:creationId xmlns:a16="http://schemas.microsoft.com/office/drawing/2014/main" id="{888F1DE0-3D67-49DB-A28F-3C9F26CB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95825"/>
            <a:ext cx="1285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CE8E4"/>
          </a:solidFill>
          <a:ln xmlns:a="http://schemas.openxmlformats.org/drawingml/2006/main" w="12383">
            <a:solidFill>
              <a:srgbClr val="CC4B3E"/>
            </a:solidFill>
            <a:prstDash val="solid"/>
          </a:ln>
        </p:spPr>
      </p:sp>
      <p:sp>
        <p:nvSpPr>
          <p:cNvPr id="67" name="refusal-copy">
            <a:extLst xmlns:a="http://schemas.openxmlformats.org/drawingml/2006/main">
              <a:ext uri="{FF2B5EF4-FFF2-40B4-BE49-F238E27FC236}">
                <a16:creationId xmlns:a16="http://schemas.microsoft.com/office/drawing/2014/main" id="{1F5F79EC-C379-4BA7-B3D9-D464CBCC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10125"/>
            <a:ext cx="1095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C4B3E"/>
                </a:solidFill>
              </a:defRPr>
            </a:pPr>
            <a:r>
              <a:rPr sz="788" b="1">
                <a:solidFill>
                  <a:srgbClr val="CC4B3E"/>
                </a:solidFill>
              </a:rPr>
              <a:t>422 · refuse</a:t>
            </a:r>
          </a:p>
          <a:p xmlns:a="http://schemas.openxmlformats.org/drawingml/2006/main">
            <a:pPr algn="ctr">
              <a:defRPr sz="788" b="1">
                <a:solidFill>
                  <a:srgbClr val="CC4B3E"/>
                </a:solidFill>
              </a:defRPr>
            </a:pPr>
            <a:r>
              <a:rPr sz="788" b="1">
                <a:solidFill>
                  <a:srgbClr val="CC4B3E"/>
                </a:solidFill>
              </a:rPr>
              <a:t>no generation</a:t>
            </a:r>
          </a:p>
        </p:txBody>
      </p:sp>
      <p:sp>
        <p:nvSpPr>
          <p:cNvPr id="68" name="response">
            <a:extLst xmlns:a="http://schemas.openxmlformats.org/drawingml/2006/main">
              <a:ext uri="{FF2B5EF4-FFF2-40B4-BE49-F238E27FC236}">
                <a16:creationId xmlns:a16="http://schemas.microsoft.com/office/drawing/2014/main" id="{7317162E-3D76-46E6-8AF3-29C18CAE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4695825"/>
            <a:ext cx="9048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5F0FF"/>
          </a:solidFill>
          <a:ln xmlns:a="http://schemas.openxmlformats.org/drawingml/2006/main" w="12383">
            <a:solidFill>
              <a:srgbClr val="1769E0"/>
            </a:solidFill>
            <a:prstDash val="solid"/>
          </a:ln>
        </p:spPr>
      </p:sp>
      <p:sp>
        <p:nvSpPr>
          <p:cNvPr id="69" name="response-copy">
            <a:extLst xmlns:a="http://schemas.openxmlformats.org/drawingml/2006/main">
              <a:ext uri="{FF2B5EF4-FFF2-40B4-BE49-F238E27FC236}">
                <a16:creationId xmlns:a16="http://schemas.microsoft.com/office/drawing/2014/main" id="{8FC9BEA8-F1A9-4431-9A9F-DC9E5464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4857750"/>
            <a:ext cx="752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69E0"/>
                </a:solidFill>
              </a:defRPr>
            </a:pPr>
            <a:r>
              <a:rPr sz="750" b="1">
                <a:solidFill>
                  <a:srgbClr val="1769E0"/>
                </a:solidFill>
              </a:rPr>
              <a:t>answer +</a:t>
            </a:r>
          </a:p>
          <a:p xmlns:a="http://schemas.openxmlformats.org/drawingml/2006/main">
            <a:pPr algn="ctr">
              <a:defRPr sz="750" b="1">
                <a:solidFill>
                  <a:srgbClr val="1769E0"/>
                </a:solidFill>
              </a:defRPr>
            </a:pPr>
            <a:r>
              <a:rPr sz="750" b="1">
                <a:solidFill>
                  <a:srgbClr val="1769E0"/>
                </a:solidFill>
              </a:rPr>
              <a:t>≤4 sources</a:t>
            </a:r>
          </a:p>
        </p:txBody>
      </p:sp>
      <p:sp>
        <p:nvSpPr>
          <p:cNvPr id="70" name="bound-browser-num">
            <a:extLst xmlns:a="http://schemas.openxmlformats.org/drawingml/2006/main">
              <a:ext uri="{FF2B5EF4-FFF2-40B4-BE49-F238E27FC236}">
                <a16:creationId xmlns:a16="http://schemas.microsoft.com/office/drawing/2014/main" id="{B513D161-3D1B-4BF7-8274-EE407433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65F"/>
          </a:solidFill>
          <a:ln xmlns:a="http://schemas.openxmlformats.org/drawingml/2006/main" w="0">
            <a:solidFill>
              <a:srgbClr val="15365F"/>
            </a:solidFill>
            <a:prstDash val="solid"/>
          </a:ln>
        </p:spPr>
      </p:sp>
      <p:sp>
        <p:nvSpPr>
          <p:cNvPr id="71" name="bound-browser-n">
            <a:extLst xmlns:a="http://schemas.openxmlformats.org/drawingml/2006/main">
              <a:ext uri="{FF2B5EF4-FFF2-40B4-BE49-F238E27FC236}">
                <a16:creationId xmlns:a16="http://schemas.microsoft.com/office/drawing/2014/main" id="{80F53CC5-BD65-46DE-96BD-F2583F75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05475"/>
            <a:ext cx="2381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2" name="bound-browser-title">
            <a:extLst xmlns:a="http://schemas.openxmlformats.org/drawingml/2006/main">
              <a:ext uri="{FF2B5EF4-FFF2-40B4-BE49-F238E27FC236}">
                <a16:creationId xmlns:a16="http://schemas.microsoft.com/office/drawing/2014/main" id="{3E7177B5-52CC-44DF-814A-29E379BC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648325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5365F"/>
                </a:solidFill>
              </a:defRPr>
            </a:pPr>
            <a:r>
              <a:rPr sz="750" b="1">
                <a:solidFill>
                  <a:srgbClr val="15365F"/>
                </a:solidFill>
              </a:rPr>
              <a:t>SERVER BOUNDARY</a:t>
            </a:r>
          </a:p>
        </p:txBody>
      </p:sp>
      <p:sp>
        <p:nvSpPr>
          <p:cNvPr id="73" name="bound-browser-body">
            <a:extLst xmlns:a="http://schemas.openxmlformats.org/drawingml/2006/main">
              <a:ext uri="{FF2B5EF4-FFF2-40B4-BE49-F238E27FC236}">
                <a16:creationId xmlns:a16="http://schemas.microsoft.com/office/drawing/2014/main" id="{61B77D91-5CB2-4481-B252-F1DCAD8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848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Astra and model credentials never enter the browser.</a:t>
            </a:r>
          </a:p>
        </p:txBody>
      </p:sp>
      <p:sp>
        <p:nvSpPr>
          <p:cNvPr id="74" name="bound-empty-num">
            <a:extLst xmlns:a="http://schemas.openxmlformats.org/drawingml/2006/main">
              <a:ext uri="{FF2B5EF4-FFF2-40B4-BE49-F238E27FC236}">
                <a16:creationId xmlns:a16="http://schemas.microsoft.com/office/drawing/2014/main" id="{9BC44C7A-2C03-45C7-A978-0F3F9F81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6578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4B3E"/>
          </a:solidFill>
          <a:ln xmlns:a="http://schemas.openxmlformats.org/drawingml/2006/main" w="0">
            <a:solidFill>
              <a:srgbClr val="CC4B3E"/>
            </a:solidFill>
            <a:prstDash val="solid"/>
          </a:ln>
        </p:spPr>
      </p:sp>
      <p:sp>
        <p:nvSpPr>
          <p:cNvPr id="75" name="bound-empty-n">
            <a:extLst xmlns:a="http://schemas.openxmlformats.org/drawingml/2006/main">
              <a:ext uri="{FF2B5EF4-FFF2-40B4-BE49-F238E27FC236}">
                <a16:creationId xmlns:a16="http://schemas.microsoft.com/office/drawing/2014/main" id="{DFCCEBB4-2E39-4686-8DA9-6FC797C9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05475"/>
            <a:ext cx="2381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76" name="bound-empty-title">
            <a:extLst xmlns:a="http://schemas.openxmlformats.org/drawingml/2006/main">
              <a:ext uri="{FF2B5EF4-FFF2-40B4-BE49-F238E27FC236}">
                <a16:creationId xmlns:a16="http://schemas.microsoft.com/office/drawing/2014/main" id="{71C121A2-A426-4392-B500-6ABF0F6E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648325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CC4B3E"/>
                </a:solidFill>
              </a:defRPr>
            </a:pPr>
            <a:r>
              <a:rPr sz="750" b="1">
                <a:solidFill>
                  <a:srgbClr val="CC4B3E"/>
                </a:solidFill>
              </a:rPr>
              <a:t>EMPTY RETRIEVAL</a:t>
            </a:r>
          </a:p>
        </p:txBody>
      </p:sp>
      <p:sp>
        <p:nvSpPr>
          <p:cNvPr id="77" name="bound-empty-body">
            <a:extLst xmlns:a="http://schemas.openxmlformats.org/drawingml/2006/main">
              <a:ext uri="{FF2B5EF4-FFF2-40B4-BE49-F238E27FC236}">
                <a16:creationId xmlns:a16="http://schemas.microsoft.com/office/drawing/2014/main" id="{75B3AC31-AAF9-425C-A4B6-64DBFCB1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48350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The route refuses before generation—no general-knowledge fallback.</a:t>
            </a:r>
          </a:p>
        </p:txBody>
      </p:sp>
      <p:sp>
        <p:nvSpPr>
          <p:cNvPr id="78" name="bound-scope-num">
            <a:extLst xmlns:a="http://schemas.openxmlformats.org/drawingml/2006/main">
              <a:ext uri="{FF2B5EF4-FFF2-40B4-BE49-F238E27FC236}">
                <a16:creationId xmlns:a16="http://schemas.microsoft.com/office/drawing/2014/main" id="{BB8C4F66-155A-4920-9962-C57049BE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6578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065"/>
          </a:solidFill>
          <a:ln xmlns:a="http://schemas.openxmlformats.org/drawingml/2006/main" w="0">
            <a:solidFill>
              <a:srgbClr val="1F8065"/>
            </a:solidFill>
            <a:prstDash val="solid"/>
          </a:ln>
        </p:spPr>
      </p:sp>
      <p:sp>
        <p:nvSpPr>
          <p:cNvPr id="79" name="bound-scope-n">
            <a:extLst xmlns:a="http://schemas.openxmlformats.org/drawingml/2006/main">
              <a:ext uri="{FF2B5EF4-FFF2-40B4-BE49-F238E27FC236}">
                <a16:creationId xmlns:a16="http://schemas.microsoft.com/office/drawing/2014/main" id="{3AE74B03-69BB-4D65-9013-C6C06849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705475"/>
            <a:ext cx="2381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0" name="bound-scope-title">
            <a:extLst xmlns:a="http://schemas.openxmlformats.org/drawingml/2006/main">
              <a:ext uri="{FF2B5EF4-FFF2-40B4-BE49-F238E27FC236}">
                <a16:creationId xmlns:a16="http://schemas.microsoft.com/office/drawing/2014/main" id="{726EA682-D1E0-4001-9280-E53E87E6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5648325"/>
            <a:ext cx="2676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8065"/>
                </a:solidFill>
              </a:defRPr>
            </a:pPr>
            <a:r>
              <a:rPr sz="750" b="1">
                <a:solidFill>
                  <a:srgbClr val="1F8065"/>
                </a:solidFill>
              </a:rPr>
              <a:t>SCOPE</a:t>
            </a:r>
          </a:p>
        </p:txBody>
      </p:sp>
      <p:sp>
        <p:nvSpPr>
          <p:cNvPr id="81" name="bound-scope-body">
            <a:extLst xmlns:a="http://schemas.openxmlformats.org/drawingml/2006/main">
              <a:ext uri="{FF2B5EF4-FFF2-40B4-BE49-F238E27FC236}">
                <a16:creationId xmlns:a16="http://schemas.microsoft.com/office/drawing/2014/main" id="{23E6DF64-82CA-40AC-A61F-E72E6BDB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5848350"/>
            <a:ext cx="2676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</a:defRPr>
            </a:pPr>
            <a:r>
              <a:rPr sz="713" b="0">
                <a:solidFill>
                  <a:srgbClr val="64748B"/>
                </a:solidFill>
              </a:rPr>
              <a:t>Educational guidance only; no PHI, coverage, or amount-owed decision.</a:t>
            </a:r>
          </a:p>
        </p:txBody>
      </p:sp>
      <p:sp>
        <p:nvSpPr>
          <p:cNvPr id="82" name="caption">
            <a:extLst xmlns:a="http://schemas.openxmlformats.org/drawingml/2006/main">
              <a:ext uri="{FF2B5EF4-FFF2-40B4-BE49-F238E27FC236}">
                <a16:creationId xmlns:a16="http://schemas.microsoft.com/office/drawing/2014/main" id="{D1CE6787-F246-432D-9E7B-0A3FADA7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2223D"/>
                </a:solidFill>
              </a:defRPr>
            </a:pPr>
            <a:r>
              <a:rPr sz="938" b="0">
                <a:solidFill>
                  <a:srgbClr val="12223D"/>
                </a:solidFill>
              </a:rPr>
              <a:t>The offline and online paths share only the embedding space and vector collection; the evidence gate decides whether generation is allowed.</a:t>
            </a:r>
          </a:p>
        </p:txBody>
      </p:sp>
      <p:sp>
        <p:nvSpPr>
          <p:cNvPr id="83" name="sources">
            <a:extLst xmlns:a="http://schemas.openxmlformats.org/drawingml/2006/main">
              <a:ext uri="{FF2B5EF4-FFF2-40B4-BE49-F238E27FC236}">
                <a16:creationId xmlns:a16="http://schemas.microsoft.com/office/drawing/2014/main" id="{13ADBAAF-8328-4F84-8A69-B6238925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7334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4748B"/>
                </a:solidFill>
              </a:defRPr>
            </a:pPr>
            <a:r>
              <a:rPr sz="690" b="0">
                <a:solidFill>
                  <a:srgbClr val="64748B"/>
                </a:solidFill>
              </a:rPr>
              <a:t>scripts/loadDB.ts · app/api/chat/route.ts · app/lib/chat.ts · app/types.ts</a:t>
            </a:r>
          </a:p>
        </p:txBody>
      </p:sp>
    </p:spTree>
    <p:extLst>
      <p:ext uri="{BB962C8B-B14F-4D97-AF65-F5344CB8AC3E}">
        <p14:creationId xmlns:p14="http://schemas.microsoft.com/office/powerpoint/2010/main" val="3302655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2026-07-21T08:17:32.4520000Z</dcterms:created>
  <dcterms:modified xsi:type="dcterms:W3CDTF">2026-07-21T08:17:32.4520000Z</dcterms:modified>
</coreProperties>
</file>