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6692cf1e6de4754" /><Relationship Type="http://schemas.openxmlformats.org/officeDocument/2006/relationships/extended-properties" Target="/docProps/app.xml" Id="Re7fa08a12ef9448d" /><Relationship Type="http://schemas.openxmlformats.org/officeDocument/2006/relationships/officeDocument" Target="/ppt/presentation.xml" Id="R8bb1d10fc767459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c548d3f4034a27"/>
  </p:sldMasterIdLst>
  <p:notesMasterIdLst>
    <p:notesMasterId xmlns:r="http://schemas.openxmlformats.org/officeDocument/2006/relationships" r:id="R7940569510b04406"/>
  </p:notesMasterIdLst>
  <p:sldIdLst>
    <p:sldId xmlns:r="http://schemas.openxmlformats.org/officeDocument/2006/relationships" id="256" r:id="R4f0ab08ef166475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b187283e267451f" /><Relationship Type="http://schemas.openxmlformats.org/officeDocument/2006/relationships/slideMaster" Target="/ppt/slideMasters/slideMaster1.xml" Id="R98c548d3f4034a27" /><Relationship Type="http://schemas.openxmlformats.org/officeDocument/2006/relationships/notesMaster" Target="/ppt/notesMasters/notesMaster1.xml" Id="R7940569510b04406" /><Relationship Type="http://schemas.openxmlformats.org/officeDocument/2006/relationships/presProps" Target="/ppt/presProps.xml" Id="Rbf429b3c8a4f4539" /><Relationship Type="http://schemas.openxmlformats.org/officeDocument/2006/relationships/tableStyles" Target="/ppt/tableStyles.xml" Id="Red8fd4fbcfc34386" /><Relationship Type="http://schemas.openxmlformats.org/officeDocument/2006/relationships/slide" Target="/ppt/slides/slide1.xml" Id="R4f0ab08ef166475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58397883553419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288a84636f94745" /><Relationship Type="http://schemas.openxmlformats.org/officeDocument/2006/relationships/notesMaster" Target="/ppt/notesMasters/notesMaster1.xml" Id="R5fd46adfff704f9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f0ff60c8e44e7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3f04c9168964098" /><Relationship Type="http://schemas.openxmlformats.org/officeDocument/2006/relationships/slideLayout" Target="/ppt/slideLayouts/slideLayout1.xml" Id="R690f0af61682455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0f0af61682455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585d0c556b4191" /><Relationship Type="http://schemas.openxmlformats.org/officeDocument/2006/relationships/image" Target="/ppt/media/image.png" Id="R6995247fbb2a48df" /><Relationship Type="http://schemas.openxmlformats.org/officeDocument/2006/relationships/notesSlide" Target="/ppt/notesSlides/notesSlide1.xml" Id="R54138ac3af1d4c1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itle">
            <a:extLst xmlns:a="http://schemas.openxmlformats.org/drawingml/2006/main">
              <a:ext uri="{FF2B5EF4-FFF2-40B4-BE49-F238E27FC236}">
                <a16:creationId xmlns:a16="http://schemas.microsoft.com/office/drawing/2014/main" id="{6ACE2509-DACC-4443-B335-C8E6EDEC6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11391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72033"/>
                </a:solidFill>
              </a:defRPr>
            </a:pPr>
            <a:r>
              <a:rPr sz="2625" b="1">
                <a:solidFill>
                  <a:srgbClr val="172033"/>
                </a:solidFill>
              </a:rPr>
              <a:t>ClearBill keeps the statement, evidence, and answer boundary visible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71EA027-2A0A-4D97-B623-87D39C49E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95325"/>
            <a:ext cx="11391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7084"/>
                </a:solidFill>
              </a:defRPr>
            </a:pPr>
            <a:r>
              <a:rPr sz="1275" b="0">
                <a:solidFill>
                  <a:srgbClr val="657084"/>
                </a:solidFill>
              </a:rPr>
              <a:t>The demo is deterministic; the live server retrieves bounded context and refuses before generation when no usable passage exists.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6C0D976D-6D45-40C6-B2E7-1048B59B1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57275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72033"/>
            </a:solidFill>
            <a:prstDash val="solid"/>
          </a:ln>
        </p:spPr>
      </p:sp>
      <p:sp>
        <p:nvSpPr>
          <p:cNvPr id="4" name="demo-label">
            <a:extLst xmlns:a="http://schemas.openxmlformats.org/drawingml/2006/main">
              <a:ext uri="{FF2B5EF4-FFF2-40B4-BE49-F238E27FC236}">
                <a16:creationId xmlns:a16="http://schemas.microsoft.com/office/drawing/2014/main" id="{0796579A-30DD-4177-A488-71B173D3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38250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756C7"/>
                </a:solidFill>
              </a:defRPr>
            </a:pPr>
            <a:r>
              <a:rPr sz="1050" b="1">
                <a:solidFill>
                  <a:srgbClr val="2756C7"/>
                </a:solidFill>
              </a:rPr>
              <a:t>COMPLETE SYNTHETIC REVIEW</a:t>
            </a:r>
          </a:p>
        </p:txBody>
      </p:sp>
      <p:sp>
        <p:nvSpPr>
          <p:cNvPr id="5" name="screenshot-frame">
            <a:extLst xmlns:a="http://schemas.openxmlformats.org/drawingml/2006/main">
              <a:ext uri="{FF2B5EF4-FFF2-40B4-BE49-F238E27FC236}">
                <a16:creationId xmlns:a16="http://schemas.microsoft.com/office/drawing/2014/main" id="{4C62A136-77EF-47BD-845D-BAE7DA152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04950"/>
            <a:ext cx="7258050" cy="3819525"/>
          </a:xfrm>
          <a:prstGeom xmlns:a="http://schemas.openxmlformats.org/drawingml/2006/main" prst="roundRect">
            <a:avLst>
              <a:gd name="adj" fmla="val 12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7243B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95247fbb2a48df"/>
          <a:srcRect xmlns:a="http://schemas.openxmlformats.org/drawingml/2006/main" l="0" t="3557" r="0" b="35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8625" y="1533525"/>
            <a:ext cx="7200900" cy="3762375"/>
          </a:xfrm>
          <a:prstGeom xmlns:a="http://schemas.openxmlformats.org/drawingml/2006/main" prst="rect">
            <a:avLst/>
          </a:prstGeom>
        </p:spPr>
      </p:pic>
      <p:sp>
        <p:nvSpPr>
          <p:cNvPr id="7" name="demo-caption">
            <a:extLst xmlns:a="http://schemas.openxmlformats.org/drawingml/2006/main">
              <a:ext uri="{FF2B5EF4-FFF2-40B4-BE49-F238E27FC236}">
                <a16:creationId xmlns:a16="http://schemas.microsoft.com/office/drawing/2014/main" id="{AAE01B98-57BF-4E2F-8EA9-23694EBED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91150"/>
            <a:ext cx="7258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57084"/>
                </a:solidFill>
              </a:defRPr>
            </a:pPr>
            <a:r>
              <a:rPr sz="1050" b="0">
                <a:solidFill>
                  <a:srgbClr val="657084"/>
                </a:solidFill>
              </a:rPr>
              <a:t>Default fixture · all amounts synthetic · 3 committed public references · no live retrieval</a:t>
            </a:r>
          </a:p>
        </p:txBody>
      </p:sp>
      <p:sp>
        <p:nvSpPr>
          <p:cNvPr id="8" name="live-label">
            <a:extLst xmlns:a="http://schemas.openxmlformats.org/drawingml/2006/main">
              <a:ext uri="{FF2B5EF4-FFF2-40B4-BE49-F238E27FC236}">
                <a16:creationId xmlns:a16="http://schemas.microsoft.com/office/drawing/2014/main" id="{EA295981-10D4-44AB-9E84-9E025D4F7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2382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756C7"/>
                </a:solidFill>
              </a:defRPr>
            </a:pPr>
            <a:r>
              <a:rPr sz="1050" b="1">
                <a:solidFill>
                  <a:srgbClr val="2756C7"/>
                </a:solidFill>
              </a:rPr>
              <a:t>LIVE EVIDENCE GATE</a:t>
            </a:r>
          </a:p>
        </p:txBody>
      </p:sp>
      <p:sp>
        <p:nvSpPr>
          <p:cNvPr id="9" name="arrow-1">
            <a:extLst xmlns:a="http://schemas.openxmlformats.org/drawingml/2006/main">
              <a:ext uri="{FF2B5EF4-FFF2-40B4-BE49-F238E27FC236}">
                <a16:creationId xmlns:a16="http://schemas.microsoft.com/office/drawing/2014/main" id="{FB3A2636-4EA5-4FFD-9F49-E9A6A08A4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952625"/>
            <a:ext cx="114300" cy="2095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756C7"/>
          </a:solidFill>
          <a:ln xmlns:a="http://schemas.openxmlformats.org/drawingml/2006/main" w="0">
            <a:solidFill>
              <a:srgbClr val="2756C7"/>
            </a:solidFill>
            <a:prstDash val="solid"/>
          </a:ln>
        </p:spPr>
      </p:sp>
      <p:sp>
        <p:nvSpPr>
          <p:cNvPr id="10" name="arrow-2">
            <a:extLst xmlns:a="http://schemas.openxmlformats.org/drawingml/2006/main">
              <a:ext uri="{FF2B5EF4-FFF2-40B4-BE49-F238E27FC236}">
                <a16:creationId xmlns:a16="http://schemas.microsoft.com/office/drawing/2014/main" id="{6751AE0C-BB91-4A33-85E4-5E54088BC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09850"/>
            <a:ext cx="114300" cy="2095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756C7"/>
          </a:solidFill>
          <a:ln xmlns:a="http://schemas.openxmlformats.org/drawingml/2006/main" w="0">
            <a:solidFill>
              <a:srgbClr val="2756C7"/>
            </a:solidFill>
            <a:prstDash val="solid"/>
          </a:ln>
        </p:spPr>
      </p:sp>
      <p:sp>
        <p:nvSpPr>
          <p:cNvPr id="11" name="arrow-3">
            <a:extLst xmlns:a="http://schemas.openxmlformats.org/drawingml/2006/main">
              <a:ext uri="{FF2B5EF4-FFF2-40B4-BE49-F238E27FC236}">
                <a16:creationId xmlns:a16="http://schemas.microsoft.com/office/drawing/2014/main" id="{D7B7CEB8-5DEA-4704-8A77-6C595869E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267075"/>
            <a:ext cx="114300" cy="2095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756C7"/>
          </a:solidFill>
          <a:ln xmlns:a="http://schemas.openxmlformats.org/drawingml/2006/main" w="0">
            <a:solidFill>
              <a:srgbClr val="2756C7"/>
            </a:solidFill>
            <a:prstDash val="solid"/>
          </a:ln>
        </p:spPr>
      </p:sp>
      <p:sp>
        <p:nvSpPr>
          <p:cNvPr id="12" name="question">
            <a:extLst xmlns:a="http://schemas.openxmlformats.org/drawingml/2006/main">
              <a:ext uri="{FF2B5EF4-FFF2-40B4-BE49-F238E27FC236}">
                <a16:creationId xmlns:a16="http://schemas.microsoft.com/office/drawing/2014/main" id="{6E88A573-6BC9-47E2-A52E-BBFB2AC4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04950"/>
            <a:ext cx="3733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7EDFC"/>
          </a:solidFill>
          <a:ln xmlns:a="http://schemas.openxmlformats.org/drawingml/2006/main" w="9525">
            <a:solidFill>
              <a:srgbClr val="2756C7"/>
            </a:solidFill>
            <a:prstDash val="solid"/>
          </a:ln>
        </p:spPr>
      </p:sp>
      <p:sp>
        <p:nvSpPr>
          <p:cNvPr id="13" name="question-copy">
            <a:extLst xmlns:a="http://schemas.openxmlformats.org/drawingml/2006/main">
              <a:ext uri="{FF2B5EF4-FFF2-40B4-BE49-F238E27FC236}">
                <a16:creationId xmlns:a16="http://schemas.microsoft.com/office/drawing/2014/main" id="{EEE8B820-7F11-4055-8B97-6B7A37EE6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6287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</a:defRPr>
            </a:pPr>
            <a:r>
              <a:rPr sz="1050" b="1">
                <a:solidFill>
                  <a:srgbClr val="172033"/>
                </a:solidFill>
              </a:rPr>
              <a:t>Validate 1–20 messages · ≤2,000 chars each</a:t>
            </a:r>
          </a:p>
        </p:txBody>
      </p:sp>
      <p:sp>
        <p:nvSpPr>
          <p:cNvPr id="14" name="embedding">
            <a:extLst xmlns:a="http://schemas.openxmlformats.org/drawingml/2006/main">
              <a:ext uri="{FF2B5EF4-FFF2-40B4-BE49-F238E27FC236}">
                <a16:creationId xmlns:a16="http://schemas.microsoft.com/office/drawing/2014/main" id="{9DCABEB1-D732-4D6E-8849-42C6F96F0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62175"/>
            <a:ext cx="3733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7C85"/>
            </a:solidFill>
            <a:prstDash val="solid"/>
          </a:ln>
        </p:spPr>
      </p:sp>
      <p:sp>
        <p:nvSpPr>
          <p:cNvPr id="15" name="embedding-copy">
            <a:extLst xmlns:a="http://schemas.openxmlformats.org/drawingml/2006/main">
              <a:ext uri="{FF2B5EF4-FFF2-40B4-BE49-F238E27FC236}">
                <a16:creationId xmlns:a16="http://schemas.microsoft.com/office/drawing/2014/main" id="{A3E16151-1E09-4525-8EDA-F7C4EEEFF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860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</a:defRPr>
            </a:pPr>
            <a:r>
              <a:rPr sz="1050" b="1">
                <a:solidFill>
                  <a:srgbClr val="172033"/>
                </a:solidFill>
              </a:rPr>
              <a:t>Embed latest question · normalized 384-D</a:t>
            </a:r>
          </a:p>
        </p:txBody>
      </p:sp>
      <p:sp>
        <p:nvSpPr>
          <p:cNvPr id="16" name="retrieval">
            <a:extLst xmlns:a="http://schemas.openxmlformats.org/drawingml/2006/main">
              <a:ext uri="{FF2B5EF4-FFF2-40B4-BE49-F238E27FC236}">
                <a16:creationId xmlns:a16="http://schemas.microsoft.com/office/drawing/2014/main" id="{20F3C9AF-E8EA-49E3-9998-ADE5044AC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19400"/>
            <a:ext cx="37338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4F1F1"/>
          </a:solidFill>
          <a:ln xmlns:a="http://schemas.openxmlformats.org/drawingml/2006/main" w="9525">
            <a:solidFill>
              <a:srgbClr val="147C85"/>
            </a:solidFill>
            <a:prstDash val="solid"/>
          </a:ln>
        </p:spPr>
      </p:sp>
      <p:sp>
        <p:nvSpPr>
          <p:cNvPr id="17" name="retrieval-copy">
            <a:extLst xmlns:a="http://schemas.openxmlformats.org/drawingml/2006/main">
              <a:ext uri="{FF2B5EF4-FFF2-40B4-BE49-F238E27FC236}">
                <a16:creationId xmlns:a16="http://schemas.microsoft.com/office/drawing/2014/main" id="{19BE928A-543A-46F8-8502-66B4DC6C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432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33"/>
                </a:solidFill>
              </a:defRPr>
            </a:pPr>
            <a:r>
              <a:rPr sz="1125" b="1">
                <a:solidFill>
                  <a:srgbClr val="172033"/>
                </a:solidFill>
              </a:rPr>
              <a:t>Astra vector retrieval · at most 6 passages</a:t>
            </a:r>
          </a:p>
        </p:txBody>
      </p:sp>
      <p:sp>
        <p:nvSpPr>
          <p:cNvPr id="18" name="gate">
            <a:extLst xmlns:a="http://schemas.openxmlformats.org/drawingml/2006/main">
              <a:ext uri="{FF2B5EF4-FFF2-40B4-BE49-F238E27FC236}">
                <a16:creationId xmlns:a16="http://schemas.microsoft.com/office/drawing/2014/main" id="{5A20860F-FDD2-4288-98AC-3A50F8692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76625"/>
            <a:ext cx="37338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72033"/>
            </a:solidFill>
            <a:prstDash val="solid"/>
          </a:ln>
        </p:spPr>
      </p:sp>
      <p:sp>
        <p:nvSpPr>
          <p:cNvPr id="19" name="gate-title">
            <a:extLst xmlns:a="http://schemas.openxmlformats.org/drawingml/2006/main">
              <a:ext uri="{FF2B5EF4-FFF2-40B4-BE49-F238E27FC236}">
                <a16:creationId xmlns:a16="http://schemas.microsoft.com/office/drawing/2014/main" id="{21705320-5FAC-4307-AAC9-F1E466C79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571875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243B"/>
                </a:solidFill>
              </a:defRPr>
            </a:pPr>
            <a:r>
              <a:rPr sz="900" b="1">
                <a:solidFill>
                  <a:srgbClr val="17243B"/>
                </a:solidFill>
              </a:rPr>
              <a:t>USABLE SOURCE TEXT?</a:t>
            </a:r>
          </a:p>
        </p:txBody>
      </p:sp>
      <p:sp>
        <p:nvSpPr>
          <p:cNvPr id="20" name="gate-copy">
            <a:extLst xmlns:a="http://schemas.openxmlformats.org/drawingml/2006/main">
              <a:ext uri="{FF2B5EF4-FFF2-40B4-BE49-F238E27FC236}">
                <a16:creationId xmlns:a16="http://schemas.microsoft.com/office/drawing/2014/main" id="{86F49EA0-4010-4FBB-94D9-656962F9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71900"/>
            <a:ext cx="2381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57084"/>
                </a:solidFill>
              </a:defRPr>
            </a:pPr>
            <a:r>
              <a:rPr sz="900" b="0">
                <a:solidFill>
                  <a:srgbClr val="657084"/>
                </a:solidFill>
              </a:rPr>
              <a:t>Branch before model generation</a:t>
            </a:r>
          </a:p>
        </p:txBody>
      </p:sp>
      <p:sp>
        <p:nvSpPr>
          <p:cNvPr id="21" name="refusal">
            <a:extLst xmlns:a="http://schemas.openxmlformats.org/drawingml/2006/main">
              <a:ext uri="{FF2B5EF4-FFF2-40B4-BE49-F238E27FC236}">
                <a16:creationId xmlns:a16="http://schemas.microsoft.com/office/drawing/2014/main" id="{E2FED1E7-41CB-40D2-AFFD-6D642C696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210050"/>
            <a:ext cx="17335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0C2"/>
          </a:solidFill>
          <a:ln xmlns:a="http://schemas.openxmlformats.org/drawingml/2006/main" w="9525">
            <a:solidFill>
              <a:srgbClr val="A46700"/>
            </a:solidFill>
            <a:prstDash val="solid"/>
          </a:ln>
        </p:spPr>
      </p:sp>
      <p:sp>
        <p:nvSpPr>
          <p:cNvPr id="22" name="refusal-head">
            <a:extLst xmlns:a="http://schemas.openxmlformats.org/drawingml/2006/main">
              <a:ext uri="{FF2B5EF4-FFF2-40B4-BE49-F238E27FC236}">
                <a16:creationId xmlns:a16="http://schemas.microsoft.com/office/drawing/2014/main" id="{7A626D4D-2FDA-41B0-A2EE-8F8A3083D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95775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A46700"/>
                </a:solidFill>
              </a:defRPr>
            </a:pPr>
            <a:r>
              <a:rPr sz="900" b="1">
                <a:solidFill>
                  <a:srgbClr val="A46700"/>
                </a:solidFill>
              </a:rPr>
              <a:t>NO</a:t>
            </a:r>
          </a:p>
        </p:txBody>
      </p:sp>
      <p:sp>
        <p:nvSpPr>
          <p:cNvPr id="23" name="refusal-copy">
            <a:extLst xmlns:a="http://schemas.openxmlformats.org/drawingml/2006/main">
              <a:ext uri="{FF2B5EF4-FFF2-40B4-BE49-F238E27FC236}">
                <a16:creationId xmlns:a16="http://schemas.microsoft.com/office/drawing/2014/main" id="{B1E909F9-9076-4DE3-A4D7-89285C8E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148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</a:defRPr>
            </a:pPr>
            <a:r>
              <a:rPr sz="1050" b="1">
                <a:solidFill>
                  <a:srgbClr val="172033"/>
                </a:solidFill>
              </a:rPr>
              <a:t>422 response</a:t>
            </a:r>
          </a:p>
          <a:p xmlns:a="http://schemas.openxmlformats.org/drawingml/2006/main">
            <a:pPr algn="l">
              <a:defRPr sz="1050" b="1">
                <a:solidFill>
                  <a:srgbClr val="172033"/>
                </a:solidFill>
              </a:defRPr>
            </a:pPr>
            <a:r>
              <a:rPr sz="1050" b="1">
                <a:solidFill>
                  <a:srgbClr val="172033"/>
                </a:solidFill>
              </a:rPr>
              <a:t>Generation skipped</a:t>
            </a:r>
          </a:p>
        </p:txBody>
      </p:sp>
      <p:sp>
        <p:nvSpPr>
          <p:cNvPr id="24" name="answer">
            <a:extLst xmlns:a="http://schemas.openxmlformats.org/drawingml/2006/main">
              <a:ext uri="{FF2B5EF4-FFF2-40B4-BE49-F238E27FC236}">
                <a16:creationId xmlns:a16="http://schemas.microsoft.com/office/drawing/2014/main" id="{AC629888-7920-4649-9D45-B151558B9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18478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7EDFC"/>
          </a:solidFill>
          <a:ln xmlns:a="http://schemas.openxmlformats.org/drawingml/2006/main" w="9525">
            <a:solidFill>
              <a:srgbClr val="2756C7"/>
            </a:solidFill>
            <a:prstDash val="solid"/>
          </a:ln>
        </p:spPr>
      </p:sp>
      <p:sp>
        <p:nvSpPr>
          <p:cNvPr id="25" name="answer-head">
            <a:extLst xmlns:a="http://schemas.openxmlformats.org/drawingml/2006/main">
              <a:ext uri="{FF2B5EF4-FFF2-40B4-BE49-F238E27FC236}">
                <a16:creationId xmlns:a16="http://schemas.microsoft.com/office/drawing/2014/main" id="{95779F48-CDA7-442A-9DB4-995CED8E3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29577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756C7"/>
                </a:solidFill>
              </a:defRPr>
            </a:pPr>
            <a:r>
              <a:rPr sz="900" b="1">
                <a:solidFill>
                  <a:srgbClr val="2756C7"/>
                </a:solidFill>
              </a:rPr>
              <a:t>YES</a:t>
            </a:r>
          </a:p>
        </p:txBody>
      </p:sp>
      <p:sp>
        <p:nvSpPr>
          <p:cNvPr id="26" name="answer-copy">
            <a:extLst xmlns:a="http://schemas.openxmlformats.org/drawingml/2006/main">
              <a:ext uri="{FF2B5EF4-FFF2-40B4-BE49-F238E27FC236}">
                <a16:creationId xmlns:a16="http://schemas.microsoft.com/office/drawing/2014/main" id="{4777627B-E995-40DF-B18E-D8F58A6B2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514850"/>
            <a:ext cx="1562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</a:defRPr>
            </a:pPr>
            <a:r>
              <a:rPr sz="1050" b="1">
                <a:solidFill>
                  <a:srgbClr val="172033"/>
                </a:solidFill>
              </a:rPr>
              <a:t>Context-only model</a:t>
            </a:r>
          </a:p>
          <a:p xmlns:a="http://schemas.openxmlformats.org/drawingml/2006/main">
            <a:pPr algn="l">
              <a:defRPr sz="1050" b="1">
                <a:solidFill>
                  <a:srgbClr val="172033"/>
                </a:solidFill>
              </a:defRPr>
            </a:pPr>
            <a:r>
              <a:rPr sz="1050" b="1">
                <a:solidFill>
                  <a:srgbClr val="172033"/>
                </a:solidFill>
              </a:rPr>
              <a:t>Answer + sources</a:t>
            </a:r>
          </a:p>
        </p:txBody>
      </p:sp>
      <p:sp>
        <p:nvSpPr>
          <p:cNvPr id="27" name="gate-note">
            <a:extLst xmlns:a="http://schemas.openxmlformats.org/drawingml/2006/main">
              <a:ext uri="{FF2B5EF4-FFF2-40B4-BE49-F238E27FC236}">
                <a16:creationId xmlns:a16="http://schemas.microsoft.com/office/drawing/2014/main" id="{FC558F62-EBF4-4B91-9AF5-097ABF666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57775"/>
            <a:ext cx="3733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7084"/>
                </a:solidFill>
              </a:defRPr>
            </a:pPr>
            <a:r>
              <a:rPr sz="975" b="0">
                <a:solidFill>
                  <a:srgbClr val="657084"/>
                </a:solidFill>
              </a:rPr>
              <a:t>The model token and Astra credentials remain server-side.</a:t>
            </a:r>
          </a:p>
        </p:txBody>
      </p:sp>
      <p:sp>
        <p:nvSpPr>
          <p:cNvPr id="28" name="boundary-rule">
            <a:extLst xmlns:a="http://schemas.openxmlformats.org/drawingml/2006/main">
              <a:ext uri="{FF2B5EF4-FFF2-40B4-BE49-F238E27FC236}">
                <a16:creationId xmlns:a16="http://schemas.microsoft.com/office/drawing/2014/main" id="{6A5969BE-3DD1-402D-A851-C8267092F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912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172033"/>
            </a:solidFill>
            <a:prstDash val="solid"/>
          </a:ln>
        </p:spPr>
      </p:sp>
      <p:sp>
        <p:nvSpPr>
          <p:cNvPr id="29" name="demo-head">
            <a:extLst xmlns:a="http://schemas.openxmlformats.org/drawingml/2006/main">
              <a:ext uri="{FF2B5EF4-FFF2-40B4-BE49-F238E27FC236}">
                <a16:creationId xmlns:a16="http://schemas.microsoft.com/office/drawing/2014/main" id="{157A4DD0-17E8-4254-8B02-D876FCF26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43600"/>
            <a:ext cx="1809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56C7"/>
                </a:solidFill>
              </a:defRPr>
            </a:pPr>
            <a:r>
              <a:rPr sz="975" b="1">
                <a:solidFill>
                  <a:srgbClr val="2756C7"/>
                </a:solidFill>
              </a:rPr>
              <a:t>DEMO EVIDENCE</a:t>
            </a:r>
          </a:p>
        </p:txBody>
      </p:sp>
      <p:sp>
        <p:nvSpPr>
          <p:cNvPr id="30" name="demo-copy">
            <a:extLst xmlns:a="http://schemas.openxmlformats.org/drawingml/2006/main">
              <a:ext uri="{FF2B5EF4-FFF2-40B4-BE49-F238E27FC236}">
                <a16:creationId xmlns:a16="http://schemas.microsoft.com/office/drawing/2014/main" id="{5B446B11-859D-492D-829A-0457B2959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7220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33"/>
                </a:solidFill>
              </a:defRPr>
            </a:pPr>
            <a:r>
              <a:rPr sz="1050" b="0">
                <a:solidFill>
                  <a:srgbClr val="172033"/>
                </a:solidFill>
              </a:rPr>
              <a:t>Synthetic EOB, fixture answer, and three public references.</a:t>
            </a:r>
          </a:p>
        </p:txBody>
      </p:sp>
      <p:sp>
        <p:nvSpPr>
          <p:cNvPr id="31" name="divider-1">
            <a:extLst xmlns:a="http://schemas.openxmlformats.org/drawingml/2006/main">
              <a:ext uri="{FF2B5EF4-FFF2-40B4-BE49-F238E27FC236}">
                <a16:creationId xmlns:a16="http://schemas.microsoft.com/office/drawing/2014/main" id="{EEABBB9E-D5E2-40E6-9EBB-FE29E8C2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5943600"/>
            <a:ext cx="0" cy="542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0D8"/>
            </a:solidFill>
            <a:prstDash val="solid"/>
          </a:ln>
        </p:spPr>
      </p:sp>
      <p:sp>
        <p:nvSpPr>
          <p:cNvPr id="32" name="live-head">
            <a:extLst xmlns:a="http://schemas.openxmlformats.org/drawingml/2006/main">
              <a:ext uri="{FF2B5EF4-FFF2-40B4-BE49-F238E27FC236}">
                <a16:creationId xmlns:a16="http://schemas.microsoft.com/office/drawing/2014/main" id="{A47CFDBF-EDDD-4995-A566-620604E40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943600"/>
            <a:ext cx="2095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56C7"/>
                </a:solidFill>
              </a:defRPr>
            </a:pPr>
            <a:r>
              <a:rPr sz="975" b="1">
                <a:solidFill>
                  <a:srgbClr val="2756C7"/>
                </a:solidFill>
              </a:rPr>
              <a:t>LIVE IMPLEMENTATION</a:t>
            </a:r>
          </a:p>
        </p:txBody>
      </p:sp>
      <p:sp>
        <p:nvSpPr>
          <p:cNvPr id="33" name="live-copy">
            <a:extLst xmlns:a="http://schemas.openxmlformats.org/drawingml/2006/main">
              <a:ext uri="{FF2B5EF4-FFF2-40B4-BE49-F238E27FC236}">
                <a16:creationId xmlns:a16="http://schemas.microsoft.com/office/drawing/2014/main" id="{DCBA6FA9-75F4-4FFB-B296-DDFF73BCB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6172200"/>
            <a:ext cx="3219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33"/>
                </a:solidFill>
              </a:defRPr>
            </a:pPr>
            <a:r>
              <a:rPr sz="1050" b="0">
                <a:solidFill>
                  <a:srgbClr val="172033"/>
                </a:solidFill>
              </a:rPr>
              <a:t>Bounded retrieval, context-only generation, and explicit refusal.</a:t>
            </a:r>
          </a:p>
        </p:txBody>
      </p:sp>
      <p:sp>
        <p:nvSpPr>
          <p:cNvPr id="34" name="divider-2">
            <a:extLst xmlns:a="http://schemas.openxmlformats.org/drawingml/2006/main">
              <a:ext uri="{FF2B5EF4-FFF2-40B4-BE49-F238E27FC236}">
                <a16:creationId xmlns:a16="http://schemas.microsoft.com/office/drawing/2014/main" id="{6FAB3C84-BBB8-4D64-959A-CFF22049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943600"/>
            <a:ext cx="0" cy="542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9D0D8"/>
            </a:solidFill>
            <a:prstDash val="solid"/>
          </a:ln>
        </p:spPr>
      </p:sp>
      <p:sp>
        <p:nvSpPr>
          <p:cNvPr id="35" name="not-head">
            <a:extLst xmlns:a="http://schemas.openxmlformats.org/drawingml/2006/main">
              <a:ext uri="{FF2B5EF4-FFF2-40B4-BE49-F238E27FC236}">
                <a16:creationId xmlns:a16="http://schemas.microsoft.com/office/drawing/2014/main" id="{3860B3FD-D477-4348-9BE9-572D66E37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943600"/>
            <a:ext cx="16192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74438"/>
                </a:solidFill>
              </a:defRPr>
            </a:pPr>
            <a:r>
              <a:rPr sz="975" b="1">
                <a:solidFill>
                  <a:srgbClr val="B74438"/>
                </a:solidFill>
              </a:rPr>
              <a:t>NOT CLAIMED</a:t>
            </a:r>
          </a:p>
        </p:txBody>
      </p:sp>
      <p:sp>
        <p:nvSpPr>
          <p:cNvPr id="36" name="not-copy">
            <a:extLst xmlns:a="http://schemas.openxmlformats.org/drawingml/2006/main">
              <a:ext uri="{FF2B5EF4-FFF2-40B4-BE49-F238E27FC236}">
                <a16:creationId xmlns:a16="http://schemas.microsoft.com/office/drawing/2014/main" id="{AA920C10-342B-4E9B-B72E-707C032F7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172200"/>
            <a:ext cx="381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33"/>
                </a:solidFill>
              </a:defRPr>
            </a:pPr>
            <a:r>
              <a:rPr sz="1050" b="0">
                <a:solidFill>
                  <a:srgbClr val="172033"/>
                </a:solidFill>
              </a:rPr>
              <a:t>No coverage, correctness, compliance, retrieval-quality, or financial-outcome claim.</a:t>
            </a:r>
          </a:p>
        </p:txBody>
      </p:sp>
      <p:sp>
        <p:nvSpPr>
          <p:cNvPr id="37" name="sources">
            <a:extLst xmlns:a="http://schemas.openxmlformats.org/drawingml/2006/main">
              <a:ext uri="{FF2B5EF4-FFF2-40B4-BE49-F238E27FC236}">
                <a16:creationId xmlns:a16="http://schemas.microsoft.com/office/drawing/2014/main" id="{F703089E-3DBA-41DB-9BC4-0EF305316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29400"/>
            <a:ext cx="11391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57084"/>
                </a:solidFill>
              </a:defRPr>
            </a:pPr>
            <a:r>
              <a:rPr sz="750" b="0">
                <a:solidFill>
                  <a:srgbClr val="657084"/>
                </a:solidFill>
              </a:rPr>
              <a:t>Sources: app/data/demo.ts · app/lib/chat.ts · app/api/chat/route.ts · scripts/loadDB.ts</a:t>
            </a:r>
          </a:p>
        </p:txBody>
      </p:sp>
    </p:spTree>
    <p:extLst>
      <p:ext uri="{BB962C8B-B14F-4D97-AF65-F5344CB8AC3E}">
        <p14:creationId xmlns:p14="http://schemas.microsoft.com/office/powerpoint/2010/main" val="11535009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2026-07-21T06:11:55.6650000Z</dcterms:created>
  <dcterms:modified xsi:type="dcterms:W3CDTF">2026-07-21T06:11:55.6650000Z</dcterms:modified>
</coreProperties>
</file>