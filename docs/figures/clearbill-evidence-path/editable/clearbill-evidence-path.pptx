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0fc01c223e4067" /><Relationship Type="http://schemas.openxmlformats.org/officeDocument/2006/relationships/extended-properties" Target="/docProps/app.xml" Id="R751b46dbb3fa4d0b" /><Relationship Type="http://schemas.openxmlformats.org/officeDocument/2006/relationships/officeDocument" Target="/ppt/presentation.xml" Id="R58c9d8550ed441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355a825d83480e"/>
  </p:sldMasterIdLst>
  <p:notesMasterIdLst>
    <p:notesMasterId xmlns:r="http://schemas.openxmlformats.org/officeDocument/2006/relationships" r:id="Rf14e2c77280b45ea"/>
  </p:notesMasterIdLst>
  <p:sldIdLst>
    <p:sldId xmlns:r="http://schemas.openxmlformats.org/officeDocument/2006/relationships" id="256" r:id="Rdb03795d362a45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7f6b43920a44fe" /><Relationship Type="http://schemas.openxmlformats.org/officeDocument/2006/relationships/slideMaster" Target="/ppt/slideMasters/slideMaster1.xml" Id="Ra6355a825d83480e" /><Relationship Type="http://schemas.openxmlformats.org/officeDocument/2006/relationships/notesMaster" Target="/ppt/notesMasters/notesMaster1.xml" Id="Rf14e2c77280b45ea" /><Relationship Type="http://schemas.openxmlformats.org/officeDocument/2006/relationships/presProps" Target="/ppt/presProps.xml" Id="R220b6b6b88b0474e" /><Relationship Type="http://schemas.openxmlformats.org/officeDocument/2006/relationships/tableStyles" Target="/ppt/tableStyles.xml" Id="R796113ca1b394186" /><Relationship Type="http://schemas.openxmlformats.org/officeDocument/2006/relationships/slide" Target="/ppt/slides/slide1.xml" Id="Rdb03795d362a45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75b534c2ad42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1773558b094923" /><Relationship Type="http://schemas.openxmlformats.org/officeDocument/2006/relationships/notesMaster" Target="/ppt/notesMasters/notesMaster1.xml" Id="Rd5683a8d397148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b8b45d61474d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43cc03406f46a0" /><Relationship Type="http://schemas.openxmlformats.org/officeDocument/2006/relationships/slideLayout" Target="/ppt/slideLayouts/slideLayout1.xml" Id="R950533e1719141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0533e1719141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594b2cf8540e8" /><Relationship Type="http://schemas.openxmlformats.org/officeDocument/2006/relationships/notesSlide" Target="/ppt/notesSlides/notesSlide1.xml" Id="Rddc28f3cbbcb48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6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title">
            <a:extLst xmlns:a="http://schemas.openxmlformats.org/drawingml/2006/main">
              <a:ext uri="{FF2B5EF4-FFF2-40B4-BE49-F238E27FC236}">
                <a16:creationId xmlns:a16="http://schemas.microsoft.com/office/drawing/2014/main" id="{BD4FA41E-9AB2-4119-90EC-A932AA4A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5213B"/>
                </a:solidFill>
              </a:defRPr>
            </a:pPr>
            <a:r>
              <a:rPr sz="2475" b="1">
                <a:solidFill>
                  <a:srgbClr val="15213B"/>
                </a:solidFill>
              </a:rPr>
              <a:t>ClearBill keeps the explanation attached to the synthetic statement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B67E8F7-24DB-4E4E-A19C-76C2D197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76275"/>
            <a:ext cx="11391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8A"/>
                </a:solidFill>
              </a:defRPr>
            </a:pPr>
            <a:r>
              <a:rPr sz="1200" b="0">
                <a:solidFill>
                  <a:srgbClr val="63708A"/>
                </a:solidFill>
              </a:rPr>
              <a:t>One EOB is annotated in place: the answer names the fields to compare, cites public guidance, and keeps live refusal separate from the fixture.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F344A6D-9953-421D-917D-9E2333D1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3822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5213B"/>
            </a:solidFill>
            <a:prstDash val="solid"/>
          </a:ln>
        </p:spPr>
      </p:sp>
      <p:sp>
        <p:nvSpPr>
          <p:cNvPr id="4" name="document-label">
            <a:extLst xmlns:a="http://schemas.openxmlformats.org/drawingml/2006/main">
              <a:ext uri="{FF2B5EF4-FFF2-40B4-BE49-F238E27FC236}">
                <a16:creationId xmlns:a16="http://schemas.microsoft.com/office/drawing/2014/main" id="{24A746B7-AFC0-467F-BB33-08AEF224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5DFF"/>
                </a:solidFill>
              </a:defRPr>
            </a:pPr>
            <a:r>
              <a:rPr sz="900" b="1">
                <a:solidFill>
                  <a:srgbClr val="165DFF"/>
                </a:solidFill>
              </a:rPr>
              <a:t>SYNTHETIC EXPLANATION OF BENEFITS</a:t>
            </a:r>
          </a:p>
        </p:txBody>
      </p:sp>
      <p:sp>
        <p:nvSpPr>
          <p:cNvPr id="5" name="document">
            <a:extLst xmlns:a="http://schemas.openxmlformats.org/drawingml/2006/main">
              <a:ext uri="{FF2B5EF4-FFF2-40B4-BE49-F238E27FC236}">
                <a16:creationId xmlns:a16="http://schemas.microsoft.com/office/drawing/2014/main" id="{14B29E59-9192-4B0D-98A6-02C918A4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6286500" cy="410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102A56"/>
            </a:solidFill>
            <a:prstDash val="solid"/>
          </a:ln>
        </p:spPr>
      </p:sp>
      <p:sp>
        <p:nvSpPr>
          <p:cNvPr id="6" name="document-accent">
            <a:extLst xmlns:a="http://schemas.openxmlformats.org/drawingml/2006/main">
              <a:ext uri="{FF2B5EF4-FFF2-40B4-BE49-F238E27FC236}">
                <a16:creationId xmlns:a16="http://schemas.microsoft.com/office/drawing/2014/main" id="{4B1B4C43-B7EE-46E5-84A0-D74FEE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76200" cy="410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7" name="doc-eyebrow">
            <a:extLst xmlns:a="http://schemas.openxmlformats.org/drawingml/2006/main">
              <a:ext uri="{FF2B5EF4-FFF2-40B4-BE49-F238E27FC236}">
                <a16:creationId xmlns:a16="http://schemas.microsoft.com/office/drawing/2014/main" id="{D9D29C14-6F93-4BEE-90BB-1CEF7025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65DFF"/>
                </a:solidFill>
              </a:defRPr>
            </a:pPr>
            <a:r>
              <a:rPr sz="750" b="1">
                <a:solidFill>
                  <a:srgbClr val="165DFF"/>
                </a:solidFill>
              </a:rPr>
              <a:t>EXPLANATION OF BENEFITS</a:t>
            </a:r>
          </a:p>
        </p:txBody>
      </p:sp>
      <p:sp>
        <p:nvSpPr>
          <p:cNvPr id="8" name="doc-title">
            <a:extLst xmlns:a="http://schemas.openxmlformats.org/drawingml/2006/main">
              <a:ext uri="{FF2B5EF4-FFF2-40B4-BE49-F238E27FC236}">
                <a16:creationId xmlns:a16="http://schemas.microsoft.com/office/drawing/2014/main" id="{5F54ADF5-98CD-4C32-82BB-8E4E5D84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56"/>
                </a:solidFill>
              </a:defRPr>
            </a:pPr>
            <a:r>
              <a:rPr sz="1575" b="1">
                <a:solidFill>
                  <a:srgbClr val="102A56"/>
                </a:solidFill>
              </a:rPr>
              <a:t>Claim 04-2719</a:t>
            </a:r>
          </a:p>
        </p:txBody>
      </p:sp>
      <p:sp>
        <p:nvSpPr>
          <p:cNvPr id="9" name="doc-subtitle">
            <a:extLst xmlns:a="http://schemas.openxmlformats.org/drawingml/2006/main">
              <a:ext uri="{FF2B5EF4-FFF2-40B4-BE49-F238E27FC236}">
                <a16:creationId xmlns:a16="http://schemas.microsoft.com/office/drawing/2014/main" id="{107EA676-3709-41A6-B6FE-ECB8C9B4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3708A"/>
                </a:solidFill>
              </a:defRPr>
            </a:pPr>
            <a:r>
              <a:rPr sz="863" b="0">
                <a:solidFill>
                  <a:srgbClr val="63708A"/>
                </a:solidFill>
              </a:rPr>
              <a:t>Northstar Internal Medicine · Sample PPO plan</a:t>
            </a:r>
          </a:p>
        </p:txBody>
      </p:sp>
      <p:sp>
        <p:nvSpPr>
          <p:cNvPr id="10" name="doc-meta">
            <a:extLst xmlns:a="http://schemas.openxmlformats.org/drawingml/2006/main">
              <a:ext uri="{FF2B5EF4-FFF2-40B4-BE49-F238E27FC236}">
                <a16:creationId xmlns:a16="http://schemas.microsoft.com/office/drawing/2014/main" id="{85449B4B-7887-4AB1-90A6-473FED47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28775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Sample member</a:t>
            </a:r>
          </a:p>
          <a:p xmlns:a="http://schemas.openxmlformats.org/drawingml/2006/main">
            <a:pPr algn="r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Apr 10, 2026 service</a:t>
            </a:r>
          </a:p>
          <a:p xmlns:a="http://schemas.openxmlformats.org/drawingml/2006/main">
            <a:pPr algn="r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Apr 18, 2026 processed</a:t>
            </a:r>
          </a:p>
          <a:p xmlns:a="http://schemas.openxmlformats.org/drawingml/2006/main">
            <a:pPr algn="r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Finalized</a:t>
            </a:r>
          </a:p>
        </p:txBody>
      </p:sp>
      <p:sp>
        <p:nvSpPr>
          <p:cNvPr id="11" name="doc-rule-1">
            <a:extLst xmlns:a="http://schemas.openxmlformats.org/drawingml/2006/main">
              <a:ext uri="{FF2B5EF4-FFF2-40B4-BE49-F238E27FC236}">
                <a16:creationId xmlns:a16="http://schemas.microsoft.com/office/drawing/2014/main" id="{2478E03F-ED00-4D0B-AB6D-E7C79024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19350"/>
            <a:ext cx="579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12" name="summary-0">
            <a:extLst xmlns:a="http://schemas.openxmlformats.org/drawingml/2006/main">
              <a:ext uri="{FF2B5EF4-FFF2-40B4-BE49-F238E27FC236}">
                <a16:creationId xmlns:a16="http://schemas.microsoft.com/office/drawing/2014/main" id="{A3C321FF-1E97-434B-9B4B-A53EE5B8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1352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13" name="summary-label-0">
            <a:extLst xmlns:a="http://schemas.openxmlformats.org/drawingml/2006/main">
              <a:ext uri="{FF2B5EF4-FFF2-40B4-BE49-F238E27FC236}">
                <a16:creationId xmlns:a16="http://schemas.microsoft.com/office/drawing/2014/main" id="{A089E27E-E54C-409C-A7A0-A20B5DDC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162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PROVIDER BILLED</a:t>
            </a:r>
          </a:p>
        </p:txBody>
      </p:sp>
      <p:sp>
        <p:nvSpPr>
          <p:cNvPr id="14" name="summary-value-0">
            <a:extLst xmlns:a="http://schemas.openxmlformats.org/drawingml/2006/main">
              <a:ext uri="{FF2B5EF4-FFF2-40B4-BE49-F238E27FC236}">
                <a16:creationId xmlns:a16="http://schemas.microsoft.com/office/drawing/2014/main" id="{5F208791-C681-4408-AB01-34A7E5C3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A56"/>
                </a:solidFill>
              </a:defRPr>
            </a:pPr>
            <a:r>
              <a:rPr sz="1200" b="1">
                <a:solidFill>
                  <a:srgbClr val="102A56"/>
                </a:solidFill>
              </a:rPr>
              <a:t>$593.00</a:t>
            </a:r>
          </a:p>
        </p:txBody>
      </p:sp>
      <p:sp>
        <p:nvSpPr>
          <p:cNvPr id="15" name="summary-1">
            <a:extLst xmlns:a="http://schemas.openxmlformats.org/drawingml/2006/main">
              <a:ext uri="{FF2B5EF4-FFF2-40B4-BE49-F238E27FC236}">
                <a16:creationId xmlns:a16="http://schemas.microsoft.com/office/drawing/2014/main" id="{24EAA2BF-3C94-4C4B-A38F-D9173BE7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71750"/>
            <a:ext cx="1352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16" name="summary-label-1">
            <a:extLst xmlns:a="http://schemas.openxmlformats.org/drawingml/2006/main">
              <a:ext uri="{FF2B5EF4-FFF2-40B4-BE49-F238E27FC236}">
                <a16:creationId xmlns:a16="http://schemas.microsoft.com/office/drawing/2014/main" id="{3B4AC50B-C77E-4EA2-962B-2E71F8B8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657475"/>
            <a:ext cx="1162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PLAN DISCOUNTS</a:t>
            </a:r>
          </a:p>
        </p:txBody>
      </p:sp>
      <p:sp>
        <p:nvSpPr>
          <p:cNvPr id="17" name="summary-value-1">
            <a:extLst xmlns:a="http://schemas.openxmlformats.org/drawingml/2006/main">
              <a:ext uri="{FF2B5EF4-FFF2-40B4-BE49-F238E27FC236}">
                <a16:creationId xmlns:a16="http://schemas.microsoft.com/office/drawing/2014/main" id="{EF81B20A-E839-4E94-9D3C-651D3B82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57500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A56"/>
                </a:solidFill>
              </a:defRPr>
            </a:pPr>
            <a:r>
              <a:rPr sz="1200" b="1">
                <a:solidFill>
                  <a:srgbClr val="102A56"/>
                </a:solidFill>
              </a:rPr>
              <a:t>−$282.00</a:t>
            </a:r>
          </a:p>
        </p:txBody>
      </p:sp>
      <p:sp>
        <p:nvSpPr>
          <p:cNvPr id="18" name="summary-2">
            <a:extLst xmlns:a="http://schemas.openxmlformats.org/drawingml/2006/main">
              <a:ext uri="{FF2B5EF4-FFF2-40B4-BE49-F238E27FC236}">
                <a16:creationId xmlns:a16="http://schemas.microsoft.com/office/drawing/2014/main" id="{010C6770-4B88-4DDC-BD36-A6FD0800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352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19" name="summary-label-2">
            <a:extLst xmlns:a="http://schemas.openxmlformats.org/drawingml/2006/main">
              <a:ext uri="{FF2B5EF4-FFF2-40B4-BE49-F238E27FC236}">
                <a16:creationId xmlns:a16="http://schemas.microsoft.com/office/drawing/2014/main" id="{6ED5CD2E-C11D-44BF-BF4E-D1D8AD7B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57475"/>
            <a:ext cx="1162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PLAN PAID</a:t>
            </a:r>
          </a:p>
        </p:txBody>
      </p:sp>
      <p:sp>
        <p:nvSpPr>
          <p:cNvPr id="20" name="summary-value-2">
            <a:extLst xmlns:a="http://schemas.openxmlformats.org/drawingml/2006/main">
              <a:ext uri="{FF2B5EF4-FFF2-40B4-BE49-F238E27FC236}">
                <a16:creationId xmlns:a16="http://schemas.microsoft.com/office/drawing/2014/main" id="{63D52F1B-9E09-425C-8B29-74C591D3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57500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2A56"/>
                </a:solidFill>
              </a:defRPr>
            </a:pPr>
            <a:r>
              <a:rPr sz="1200" b="1">
                <a:solidFill>
                  <a:srgbClr val="102A56"/>
                </a:solidFill>
              </a:rPr>
              <a:t>−$251.00</a:t>
            </a:r>
          </a:p>
        </p:txBody>
      </p:sp>
      <p:sp>
        <p:nvSpPr>
          <p:cNvPr id="21" name="summary-3">
            <a:extLst xmlns:a="http://schemas.openxmlformats.org/drawingml/2006/main">
              <a:ext uri="{FF2B5EF4-FFF2-40B4-BE49-F238E27FC236}">
                <a16:creationId xmlns:a16="http://schemas.microsoft.com/office/drawing/2014/main" id="{9E94388D-42BE-4FEB-88E7-6FE7546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71750"/>
            <a:ext cx="1352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A8"/>
          </a:solidFill>
          <a:ln xmlns:a="http://schemas.openxmlformats.org/drawingml/2006/main" w="9525">
            <a:solidFill>
              <a:srgbClr val="9B6200"/>
            </a:solidFill>
            <a:prstDash val="solid"/>
          </a:ln>
        </p:spPr>
      </p:sp>
      <p:sp>
        <p:nvSpPr>
          <p:cNvPr id="22" name="summary-label-3">
            <a:extLst xmlns:a="http://schemas.openxmlformats.org/drawingml/2006/main">
              <a:ext uri="{FF2B5EF4-FFF2-40B4-BE49-F238E27FC236}">
                <a16:creationId xmlns:a16="http://schemas.microsoft.com/office/drawing/2014/main" id="{E3869414-AE03-4557-B728-644EEB09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657475"/>
            <a:ext cx="1162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B6200"/>
                </a:solidFill>
              </a:defRPr>
            </a:pPr>
            <a:r>
              <a:rPr sz="675" b="1">
                <a:solidFill>
                  <a:srgbClr val="9B6200"/>
                </a:solidFill>
              </a:rPr>
              <a:t>YOU MAY OWE</a:t>
            </a:r>
          </a:p>
        </p:txBody>
      </p:sp>
      <p:sp>
        <p:nvSpPr>
          <p:cNvPr id="23" name="summary-value-3">
            <a:extLst xmlns:a="http://schemas.openxmlformats.org/drawingml/2006/main">
              <a:ext uri="{FF2B5EF4-FFF2-40B4-BE49-F238E27FC236}">
                <a16:creationId xmlns:a16="http://schemas.microsoft.com/office/drawing/2014/main" id="{A3D4D6E8-1512-45F7-B52C-BBBFD48A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57500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6200"/>
                </a:solidFill>
              </a:defRPr>
            </a:pPr>
            <a:r>
              <a:rPr sz="1200" b="1">
                <a:solidFill>
                  <a:srgbClr val="9B6200"/>
                </a:solidFill>
              </a:rPr>
              <a:t>$60.00</a:t>
            </a:r>
          </a:p>
        </p:txBody>
      </p:sp>
      <p:sp>
        <p:nvSpPr>
          <p:cNvPr id="24" name="service-head">
            <a:extLst xmlns:a="http://schemas.openxmlformats.org/drawingml/2006/main">
              <a:ext uri="{FF2B5EF4-FFF2-40B4-BE49-F238E27FC236}">
                <a16:creationId xmlns:a16="http://schemas.microsoft.com/office/drawing/2014/main" id="{4273CF98-28BC-494F-8F26-719DCF62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476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SERVICE</a:t>
            </a:r>
          </a:p>
        </p:txBody>
      </p:sp>
      <p:sp>
        <p:nvSpPr>
          <p:cNvPr id="25" name="billed-head">
            <a:extLst xmlns:a="http://schemas.openxmlformats.org/drawingml/2006/main">
              <a:ext uri="{FF2B5EF4-FFF2-40B4-BE49-F238E27FC236}">
                <a16:creationId xmlns:a16="http://schemas.microsoft.com/office/drawing/2014/main" id="{F17DF541-95F9-44C5-AD1B-7101F08C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704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BILLED</a:t>
            </a:r>
          </a:p>
        </p:txBody>
      </p:sp>
      <p:sp>
        <p:nvSpPr>
          <p:cNvPr id="26" name="allowed-head">
            <a:extLst xmlns:a="http://schemas.openxmlformats.org/drawingml/2006/main">
              <a:ext uri="{FF2B5EF4-FFF2-40B4-BE49-F238E27FC236}">
                <a16:creationId xmlns:a16="http://schemas.microsoft.com/office/drawing/2014/main" id="{7D5AB1BE-F2C4-4B4F-A30F-20586A74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704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ALLOWED</a:t>
            </a:r>
          </a:p>
        </p:txBody>
      </p:sp>
      <p:sp>
        <p:nvSpPr>
          <p:cNvPr id="27" name="owe-head">
            <a:extLst xmlns:a="http://schemas.openxmlformats.org/drawingml/2006/main">
              <a:ext uri="{FF2B5EF4-FFF2-40B4-BE49-F238E27FC236}">
                <a16:creationId xmlns:a16="http://schemas.microsoft.com/office/drawing/2014/main" id="{1A35CCE0-2EC8-4A7F-B1E1-7CC5DC4C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33750"/>
            <a:ext cx="704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3708A"/>
                </a:solidFill>
              </a:defRPr>
            </a:pPr>
            <a:r>
              <a:rPr sz="675" b="1">
                <a:solidFill>
                  <a:srgbClr val="63708A"/>
                </a:solidFill>
              </a:rPr>
              <a:t>YOU OWE</a:t>
            </a:r>
          </a:p>
        </p:txBody>
      </p:sp>
      <p:sp>
        <p:nvSpPr>
          <p:cNvPr id="28" name="row-bg-0">
            <a:extLst xmlns:a="http://schemas.openxmlformats.org/drawingml/2006/main">
              <a:ext uri="{FF2B5EF4-FFF2-40B4-BE49-F238E27FC236}">
                <a16:creationId xmlns:a16="http://schemas.microsoft.com/office/drawing/2014/main" id="{CB35DD08-A7F2-4150-81A6-76B267F2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2825"/>
            <a:ext cx="579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29" name="row-code-0">
            <a:extLst xmlns:a="http://schemas.openxmlformats.org/drawingml/2006/main">
              <a:ext uri="{FF2B5EF4-FFF2-40B4-BE49-F238E27FC236}">
                <a16:creationId xmlns:a16="http://schemas.microsoft.com/office/drawing/2014/main" id="{58BEA502-2972-40C1-82D7-F7F692D1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4953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65DFF"/>
                </a:solidFill>
              </a:defRPr>
            </a:pPr>
            <a:r>
              <a:rPr sz="675" b="1">
                <a:solidFill>
                  <a:srgbClr val="165DFF"/>
                </a:solidFill>
              </a:rPr>
              <a:t>99214</a:t>
            </a:r>
          </a:p>
        </p:txBody>
      </p:sp>
      <p:sp>
        <p:nvSpPr>
          <p:cNvPr id="30" name="row-label-0">
            <a:extLst xmlns:a="http://schemas.openxmlformats.org/drawingml/2006/main">
              <a:ext uri="{FF2B5EF4-FFF2-40B4-BE49-F238E27FC236}">
                <a16:creationId xmlns:a16="http://schemas.microsoft.com/office/drawing/2014/main" id="{2754DF5D-07FF-434B-A872-E6A02C39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952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213B"/>
                </a:solidFill>
              </a:defRPr>
            </a:pPr>
            <a:r>
              <a:rPr sz="825" b="1">
                <a:solidFill>
                  <a:srgbClr val="15213B"/>
                </a:solidFill>
              </a:rPr>
              <a:t>Office visit, established patient</a:t>
            </a:r>
          </a:p>
        </p:txBody>
      </p:sp>
      <p:sp>
        <p:nvSpPr>
          <p:cNvPr id="31" name="row-billed-0">
            <a:extLst xmlns:a="http://schemas.openxmlformats.org/drawingml/2006/main">
              <a:ext uri="{FF2B5EF4-FFF2-40B4-BE49-F238E27FC236}">
                <a16:creationId xmlns:a16="http://schemas.microsoft.com/office/drawing/2014/main" id="{D2EA8F9A-4E34-4B6A-90C0-1805C771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957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$425.00</a:t>
            </a:r>
          </a:p>
        </p:txBody>
      </p:sp>
      <p:sp>
        <p:nvSpPr>
          <p:cNvPr id="32" name="row-allowed-0">
            <a:extLst xmlns:a="http://schemas.openxmlformats.org/drawingml/2006/main">
              <a:ext uri="{FF2B5EF4-FFF2-40B4-BE49-F238E27FC236}">
                <a16:creationId xmlns:a16="http://schemas.microsoft.com/office/drawing/2014/main" id="{AFA9DD17-F0F7-4316-BBB6-EC755120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957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$235.00</a:t>
            </a:r>
          </a:p>
        </p:txBody>
      </p:sp>
      <p:sp>
        <p:nvSpPr>
          <p:cNvPr id="33" name="row-owe-0">
            <a:extLst xmlns:a="http://schemas.openxmlformats.org/drawingml/2006/main">
              <a:ext uri="{FF2B5EF4-FFF2-40B4-BE49-F238E27FC236}">
                <a16:creationId xmlns:a16="http://schemas.microsoft.com/office/drawing/2014/main" id="{448485A3-351D-4EEA-B60F-5119031B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957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$40.00</a:t>
            </a:r>
          </a:p>
        </p:txBody>
      </p:sp>
      <p:sp>
        <p:nvSpPr>
          <p:cNvPr id="34" name="row-bg-1">
            <a:extLst xmlns:a="http://schemas.openxmlformats.org/drawingml/2006/main">
              <a:ext uri="{FF2B5EF4-FFF2-40B4-BE49-F238E27FC236}">
                <a16:creationId xmlns:a16="http://schemas.microsoft.com/office/drawing/2014/main" id="{3DC06725-C8ED-413C-BC2B-D18B7DE3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48125"/>
            <a:ext cx="579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FF"/>
          </a:solidFill>
          <a:ln xmlns:a="http://schemas.openxmlformats.org/drawingml/2006/main" w="13335">
            <a:solidFill>
              <a:srgbClr val="165DFF"/>
            </a:solidFill>
            <a:prstDash val="solid"/>
          </a:ln>
        </p:spPr>
      </p:sp>
      <p:sp>
        <p:nvSpPr>
          <p:cNvPr id="35" name="row-code-1">
            <a:extLst xmlns:a="http://schemas.openxmlformats.org/drawingml/2006/main">
              <a:ext uri="{FF2B5EF4-FFF2-40B4-BE49-F238E27FC236}">
                <a16:creationId xmlns:a16="http://schemas.microsoft.com/office/drawing/2014/main" id="{4D251046-1C2C-43B4-98DC-669B12B4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4953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65DFF"/>
                </a:solidFill>
              </a:defRPr>
            </a:pPr>
            <a:r>
              <a:rPr sz="675" b="1">
                <a:solidFill>
                  <a:srgbClr val="165DFF"/>
                </a:solidFill>
              </a:rPr>
              <a:t>80053</a:t>
            </a:r>
          </a:p>
        </p:txBody>
      </p:sp>
      <p:sp>
        <p:nvSpPr>
          <p:cNvPr id="3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B905CE75-20B9-478A-B4E6-2E128D49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2952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213B"/>
                </a:solidFill>
              </a:defRPr>
            </a:pPr>
            <a:r>
              <a:rPr sz="825" b="1">
                <a:solidFill>
                  <a:srgbClr val="15213B"/>
                </a:solidFill>
              </a:rPr>
              <a:t>Comprehensive metabolic panel</a:t>
            </a:r>
          </a:p>
        </p:txBody>
      </p:sp>
      <p:sp>
        <p:nvSpPr>
          <p:cNvPr id="37" name="row-billed-1">
            <a:extLst xmlns:a="http://schemas.openxmlformats.org/drawingml/2006/main">
              <a:ext uri="{FF2B5EF4-FFF2-40B4-BE49-F238E27FC236}">
                <a16:creationId xmlns:a16="http://schemas.microsoft.com/office/drawing/2014/main" id="{977F396A-7ACA-4802-8DF8-82B1D545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$168.00</a:t>
            </a:r>
          </a:p>
        </p:txBody>
      </p:sp>
      <p:sp>
        <p:nvSpPr>
          <p:cNvPr id="38" name="row-allowed-1">
            <a:extLst xmlns:a="http://schemas.openxmlformats.org/drawingml/2006/main">
              <a:ext uri="{FF2B5EF4-FFF2-40B4-BE49-F238E27FC236}">
                <a16:creationId xmlns:a16="http://schemas.microsoft.com/office/drawing/2014/main" id="{0FC37963-0689-4B55-AE9D-450430E7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910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$76.00</a:t>
            </a:r>
          </a:p>
        </p:txBody>
      </p:sp>
      <p:sp>
        <p:nvSpPr>
          <p:cNvPr id="39" name="row-owe-1">
            <a:extLst xmlns:a="http://schemas.openxmlformats.org/drawingml/2006/main">
              <a:ext uri="{FF2B5EF4-FFF2-40B4-BE49-F238E27FC236}">
                <a16:creationId xmlns:a16="http://schemas.microsoft.com/office/drawing/2014/main" id="{8CE7CDDE-49C9-4BA1-9615-59CE04C3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910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$20.00</a:t>
            </a:r>
          </a:p>
        </p:txBody>
      </p:sp>
      <p:sp>
        <p:nvSpPr>
          <p:cNvPr id="40" name="row-bg-2">
            <a:extLst xmlns:a="http://schemas.openxmlformats.org/drawingml/2006/main">
              <a:ext uri="{FF2B5EF4-FFF2-40B4-BE49-F238E27FC236}">
                <a16:creationId xmlns:a16="http://schemas.microsoft.com/office/drawing/2014/main" id="{A22BA0AF-D599-46D5-B07F-3B9FB498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5791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41" name="row-code-2">
            <a:extLst xmlns:a="http://schemas.openxmlformats.org/drawingml/2006/main">
              <a:ext uri="{FF2B5EF4-FFF2-40B4-BE49-F238E27FC236}">
                <a16:creationId xmlns:a16="http://schemas.microsoft.com/office/drawing/2014/main" id="{E2F6A1A5-F7E5-480D-95AD-5974B402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4953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65DFF"/>
                </a:solidFill>
              </a:defRPr>
            </a:pPr>
            <a:r>
              <a:rPr sz="675" b="1">
                <a:solidFill>
                  <a:srgbClr val="165DFF"/>
                </a:solidFill>
              </a:rPr>
              <a:t>ADJ</a:t>
            </a:r>
          </a:p>
        </p:txBody>
      </p:sp>
      <p:sp>
        <p:nvSpPr>
          <p:cNvPr id="42" name="row-label-2">
            <a:extLst xmlns:a="http://schemas.openxmlformats.org/drawingml/2006/main">
              <a:ext uri="{FF2B5EF4-FFF2-40B4-BE49-F238E27FC236}">
                <a16:creationId xmlns:a16="http://schemas.microsoft.com/office/drawing/2014/main" id="{DB12FE4C-F86B-4164-865B-9025C460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952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213B"/>
                </a:solidFill>
              </a:defRPr>
            </a:pPr>
            <a:r>
              <a:rPr sz="825" b="1">
                <a:solidFill>
                  <a:srgbClr val="15213B"/>
                </a:solidFill>
              </a:rPr>
              <a:t>Network discount and plan payment</a:t>
            </a:r>
          </a:p>
        </p:txBody>
      </p:sp>
      <p:sp>
        <p:nvSpPr>
          <p:cNvPr id="43" name="row-billed-2">
            <a:extLst xmlns:a="http://schemas.openxmlformats.org/drawingml/2006/main">
              <a:ext uri="{FF2B5EF4-FFF2-40B4-BE49-F238E27FC236}">
                <a16:creationId xmlns:a16="http://schemas.microsoft.com/office/drawing/2014/main" id="{90F5E566-59BA-4A18-B2ED-1280035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−$282.00</a:t>
            </a:r>
          </a:p>
        </p:txBody>
      </p:sp>
      <p:sp>
        <p:nvSpPr>
          <p:cNvPr id="44" name="row-allowed-2">
            <a:extLst xmlns:a="http://schemas.openxmlformats.org/drawingml/2006/main">
              <a:ext uri="{FF2B5EF4-FFF2-40B4-BE49-F238E27FC236}">
                <a16:creationId xmlns:a16="http://schemas.microsoft.com/office/drawing/2014/main" id="{759AD7B7-0911-4647-A8EF-365FB15A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863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Applied</a:t>
            </a:r>
          </a:p>
        </p:txBody>
      </p:sp>
      <p:sp>
        <p:nvSpPr>
          <p:cNvPr id="45" name="row-owe-2">
            <a:extLst xmlns:a="http://schemas.openxmlformats.org/drawingml/2006/main">
              <a:ext uri="{FF2B5EF4-FFF2-40B4-BE49-F238E27FC236}">
                <a16:creationId xmlns:a16="http://schemas.microsoft.com/office/drawing/2014/main" id="{A2904C7C-733E-4853-ACFD-1466AFF6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86300"/>
            <a:ext cx="704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5213B"/>
                </a:solidFill>
              </a:defRPr>
            </a:pPr>
            <a:r>
              <a:rPr sz="825" b="0">
                <a:solidFill>
                  <a:srgbClr val="15213B"/>
                </a:solidFill>
              </a:rPr>
              <a:t>$0.00</a:t>
            </a:r>
          </a:p>
        </p:txBody>
      </p:sp>
      <p:sp>
        <p:nvSpPr>
          <p:cNvPr id="46" name="not-bill">
            <a:extLst xmlns:a="http://schemas.openxmlformats.org/drawingml/2006/main">
              <a:ext uri="{FF2B5EF4-FFF2-40B4-BE49-F238E27FC236}">
                <a16:creationId xmlns:a16="http://schemas.microsoft.com/office/drawing/2014/main" id="{4B3974FD-B365-4EF5-AD00-C9A631BD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5791200" cy="295275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0A8"/>
          </a:solidFill>
          <a:ln xmlns:a="http://schemas.openxmlformats.org/drawingml/2006/main" w="9525">
            <a:solidFill>
              <a:srgbClr val="9B6200"/>
            </a:solidFill>
            <a:prstDash val="solid"/>
          </a:ln>
        </p:spPr>
      </p:sp>
      <p:sp>
        <p:nvSpPr>
          <p:cNvPr id="47" name="not-bill-label">
            <a:extLst xmlns:a="http://schemas.openxmlformats.org/drawingml/2006/main">
              <a:ext uri="{FF2B5EF4-FFF2-40B4-BE49-F238E27FC236}">
                <a16:creationId xmlns:a16="http://schemas.microsoft.com/office/drawing/2014/main" id="{5CAB9754-CEB9-451C-86A0-E667C5F6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00650"/>
            <a:ext cx="7810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B6200"/>
                </a:solidFill>
              </a:defRPr>
            </a:pPr>
            <a:r>
              <a:rPr sz="675" b="1">
                <a:solidFill>
                  <a:srgbClr val="9B6200"/>
                </a:solidFill>
              </a:rPr>
              <a:t>NOT A BILL</a:t>
            </a:r>
          </a:p>
        </p:txBody>
      </p:sp>
      <p:sp>
        <p:nvSpPr>
          <p:cNvPr id="48" name="not-bill-copy">
            <a:extLst xmlns:a="http://schemas.openxmlformats.org/drawingml/2006/main">
              <a:ext uri="{FF2B5EF4-FFF2-40B4-BE49-F238E27FC236}">
                <a16:creationId xmlns:a16="http://schemas.microsoft.com/office/drawing/2014/main" id="{EEDA7BE3-0104-4AB0-ABC4-08CB16FF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81600"/>
            <a:ext cx="464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5213B"/>
                </a:solidFill>
              </a:defRPr>
            </a:pPr>
            <a:r>
              <a:rPr sz="788" b="0">
                <a:solidFill>
                  <a:srgbClr val="15213B"/>
                </a:solidFill>
              </a:rPr>
              <a:t>Compare with the provider invoice before paying; every identity and amount shown is synthetic.</a:t>
            </a:r>
          </a:p>
        </p:txBody>
      </p:sp>
      <p:sp>
        <p:nvSpPr>
          <p:cNvPr id="49" name="document-to-answer">
            <a:extLst xmlns:a="http://schemas.openxmlformats.org/drawingml/2006/main">
              <a:ext uri="{FF2B5EF4-FFF2-40B4-BE49-F238E27FC236}">
                <a16:creationId xmlns:a16="http://schemas.microsoft.com/office/drawing/2014/main" id="{54A7E6B3-883D-4936-9851-3397C4F4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62125"/>
            <a:ext cx="419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50" name="question-label">
            <a:extLst xmlns:a="http://schemas.openxmlformats.org/drawingml/2006/main">
              <a:ext uri="{FF2B5EF4-FFF2-40B4-BE49-F238E27FC236}">
                <a16:creationId xmlns:a16="http://schemas.microsoft.com/office/drawing/2014/main" id="{24938B0E-90DC-40B4-AB57-8C6F41AB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2382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5DFF"/>
                </a:solidFill>
              </a:defRPr>
            </a:pPr>
            <a:r>
              <a:rPr sz="900" b="1">
                <a:solidFill>
                  <a:srgbClr val="165DFF"/>
                </a:solidFill>
              </a:rPr>
              <a:t>BUNDLED DEMO QUESTION</a:t>
            </a:r>
          </a:p>
        </p:txBody>
      </p:sp>
      <p:sp>
        <p:nvSpPr>
          <p:cNvPr id="51" name="question">
            <a:extLst xmlns:a="http://schemas.openxmlformats.org/drawingml/2006/main">
              <a:ext uri="{FF2B5EF4-FFF2-40B4-BE49-F238E27FC236}">
                <a16:creationId xmlns:a16="http://schemas.microsoft.com/office/drawing/2014/main" id="{461A9C83-45E5-46CD-AD7C-F73BB2E9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57325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6EEFF"/>
          </a:solidFill>
          <a:ln xmlns:a="http://schemas.openxmlformats.org/drawingml/2006/main" w="11430">
            <a:solidFill>
              <a:srgbClr val="165DFF"/>
            </a:solidFill>
            <a:prstDash val="solid"/>
          </a:ln>
        </p:spPr>
      </p:sp>
      <p:sp>
        <p:nvSpPr>
          <p:cNvPr id="52" name="question-copy">
            <a:extLst xmlns:a="http://schemas.openxmlformats.org/drawingml/2006/main">
              <a:ext uri="{FF2B5EF4-FFF2-40B4-BE49-F238E27FC236}">
                <a16:creationId xmlns:a16="http://schemas.microsoft.com/office/drawing/2014/main" id="{03E7881A-9B36-49EA-A15C-E165148C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38300"/>
            <a:ext cx="438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2A56"/>
                </a:solidFill>
              </a:defRPr>
            </a:pPr>
            <a:r>
              <a:rPr sz="1275" b="1">
                <a:solidFill>
                  <a:srgbClr val="102A56"/>
                </a:solidFill>
              </a:rPr>
              <a:t>What is an Explanation of Benefits?</a:t>
            </a:r>
          </a:p>
        </p:txBody>
      </p:sp>
      <p:sp>
        <p:nvSpPr>
          <p:cNvPr id="53" name="answer-label">
            <a:extLst xmlns:a="http://schemas.openxmlformats.org/drawingml/2006/main">
              <a:ext uri="{FF2B5EF4-FFF2-40B4-BE49-F238E27FC236}">
                <a16:creationId xmlns:a16="http://schemas.microsoft.com/office/drawing/2014/main" id="{75492F70-D2CD-4AD2-902D-8AEB913C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098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137A8"/>
                </a:solidFill>
              </a:defRPr>
            </a:pPr>
            <a:r>
              <a:rPr sz="900" b="1">
                <a:solidFill>
                  <a:srgbClr val="7137A8"/>
                </a:solidFill>
              </a:rPr>
              <a:t>DETERMINISTIC EXPLANATION</a:t>
            </a:r>
          </a:p>
        </p:txBody>
      </p:sp>
      <p:sp>
        <p:nvSpPr>
          <p:cNvPr id="54" name="answer">
            <a:extLst xmlns:a="http://schemas.openxmlformats.org/drawingml/2006/main">
              <a:ext uri="{FF2B5EF4-FFF2-40B4-BE49-F238E27FC236}">
                <a16:creationId xmlns:a16="http://schemas.microsoft.com/office/drawing/2014/main" id="{BE2B3333-7854-4011-98C6-3F959317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28875"/>
            <a:ext cx="47625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137A8"/>
            </a:solidFill>
            <a:prstDash val="solid"/>
          </a:ln>
        </p:spPr>
      </p:sp>
      <p:sp>
        <p:nvSpPr>
          <p:cNvPr id="55" name="answer-lead">
            <a:extLst xmlns:a="http://schemas.openxmlformats.org/drawingml/2006/main">
              <a:ext uri="{FF2B5EF4-FFF2-40B4-BE49-F238E27FC236}">
                <a16:creationId xmlns:a16="http://schemas.microsoft.com/office/drawing/2014/main" id="{46414E18-D1D0-47B0-8425-6C1641A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81275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2A56"/>
                </a:solidFill>
              </a:defRPr>
            </a:pPr>
            <a:r>
              <a:rPr sz="1125" b="1">
                <a:solidFill>
                  <a:srgbClr val="102A56"/>
                </a:solidFill>
              </a:rPr>
              <a:t>An EOB is the insurer’s record of how a claim was processed—not a bill.</a:t>
            </a:r>
          </a:p>
        </p:txBody>
      </p:sp>
      <p:sp>
        <p:nvSpPr>
          <p:cNvPr id="56" name="number-0">
            <a:extLst xmlns:a="http://schemas.openxmlformats.org/drawingml/2006/main">
              <a:ext uri="{FF2B5EF4-FFF2-40B4-BE49-F238E27FC236}">
                <a16:creationId xmlns:a16="http://schemas.microsoft.com/office/drawing/2014/main" id="{2B303DC0-12AB-48DC-A673-64E715C4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8F7"/>
          </a:solidFill>
          <a:ln xmlns:a="http://schemas.openxmlformats.org/drawingml/2006/main" w="9525">
            <a:solidFill>
              <a:srgbClr val="7137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137A8"/>
                </a:solidFill>
              </a:defRPr>
            </a:pPr>
            <a:r>
              <a:rPr sz="750" b="1">
                <a:solidFill>
                  <a:srgbClr val="7137A8"/>
                </a:solidFill>
              </a:rPr>
              <a:t>1</a:t>
            </a:r>
          </a:p>
        </p:txBody>
      </p:sp>
      <p:sp>
        <p:nvSpPr>
          <p:cNvPr id="57" name="answer-label-0">
            <a:extLst xmlns:a="http://schemas.openxmlformats.org/drawingml/2006/main">
              <a:ext uri="{FF2B5EF4-FFF2-40B4-BE49-F238E27FC236}">
                <a16:creationId xmlns:a16="http://schemas.microsoft.com/office/drawing/2014/main" id="{888E36E9-0568-48AF-B64C-557E3910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575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Amount billed</a:t>
            </a:r>
          </a:p>
        </p:txBody>
      </p:sp>
      <p:sp>
        <p:nvSpPr>
          <p:cNvPr id="58" name="answer-note-0">
            <a:extLst xmlns:a="http://schemas.openxmlformats.org/drawingml/2006/main">
              <a:ext uri="{FF2B5EF4-FFF2-40B4-BE49-F238E27FC236}">
                <a16:creationId xmlns:a16="http://schemas.microsoft.com/office/drawing/2014/main" id="{49B372DF-84DE-41FB-9AD5-F2119EC5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57525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provider submission</a:t>
            </a:r>
          </a:p>
        </p:txBody>
      </p:sp>
      <p:sp>
        <p:nvSpPr>
          <p:cNvPr id="59" name="number-1">
            <a:extLst xmlns:a="http://schemas.openxmlformats.org/drawingml/2006/main">
              <a:ext uri="{FF2B5EF4-FFF2-40B4-BE49-F238E27FC236}">
                <a16:creationId xmlns:a16="http://schemas.microsoft.com/office/drawing/2014/main" id="{14AE64D7-AE13-4186-8787-F896E0E0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8F7"/>
          </a:solidFill>
          <a:ln xmlns:a="http://schemas.openxmlformats.org/drawingml/2006/main" w="9525">
            <a:solidFill>
              <a:srgbClr val="7137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137A8"/>
                </a:solidFill>
              </a:defRPr>
            </a:pPr>
            <a:r>
              <a:rPr sz="750" b="1">
                <a:solidFill>
                  <a:srgbClr val="7137A8"/>
                </a:solidFill>
              </a:rPr>
              <a:t>2</a:t>
            </a:r>
          </a:p>
        </p:txBody>
      </p:sp>
      <p:sp>
        <p:nvSpPr>
          <p:cNvPr id="60" name="answer-label-1">
            <a:extLst xmlns:a="http://schemas.openxmlformats.org/drawingml/2006/main">
              <a:ext uri="{FF2B5EF4-FFF2-40B4-BE49-F238E27FC236}">
                <a16:creationId xmlns:a16="http://schemas.microsoft.com/office/drawing/2014/main" id="{9D36E3C1-5261-46A6-B084-55215BF6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242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Allowed amount</a:t>
            </a:r>
          </a:p>
        </p:txBody>
      </p:sp>
      <p:sp>
        <p:nvSpPr>
          <p:cNvPr id="61" name="answer-note-1">
            <a:extLst xmlns:a="http://schemas.openxmlformats.org/drawingml/2006/main">
              <a:ext uri="{FF2B5EF4-FFF2-40B4-BE49-F238E27FC236}">
                <a16:creationId xmlns:a16="http://schemas.microsoft.com/office/drawing/2014/main" id="{3AD62342-AD32-499D-A1FC-99816550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24225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negotiated or recognized price</a:t>
            </a:r>
          </a:p>
        </p:txBody>
      </p:sp>
      <p:sp>
        <p:nvSpPr>
          <p:cNvPr id="62" name="number-2">
            <a:extLst xmlns:a="http://schemas.openxmlformats.org/drawingml/2006/main">
              <a:ext uri="{FF2B5EF4-FFF2-40B4-BE49-F238E27FC236}">
                <a16:creationId xmlns:a16="http://schemas.microsoft.com/office/drawing/2014/main" id="{5E10A86E-817B-4821-936E-023395A8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81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8F7"/>
          </a:solidFill>
          <a:ln xmlns:a="http://schemas.openxmlformats.org/drawingml/2006/main" w="9525">
            <a:solidFill>
              <a:srgbClr val="7137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137A8"/>
                </a:solidFill>
              </a:defRPr>
            </a:pPr>
            <a:r>
              <a:rPr sz="750" b="1">
                <a:solidFill>
                  <a:srgbClr val="7137A8"/>
                </a:solidFill>
              </a:rPr>
              <a:t>3</a:t>
            </a:r>
          </a:p>
        </p:txBody>
      </p:sp>
      <p:sp>
        <p:nvSpPr>
          <p:cNvPr id="63" name="answer-label-2">
            <a:extLst xmlns:a="http://schemas.openxmlformats.org/drawingml/2006/main">
              <a:ext uri="{FF2B5EF4-FFF2-40B4-BE49-F238E27FC236}">
                <a16:creationId xmlns:a16="http://schemas.microsoft.com/office/drawing/2014/main" id="{8DA5CAA6-B068-47E8-A6CE-D851213D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909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Plan paid</a:t>
            </a:r>
          </a:p>
        </p:txBody>
      </p:sp>
      <p:sp>
        <p:nvSpPr>
          <p:cNvPr id="64" name="answer-note-2">
            <a:extLst xmlns:a="http://schemas.openxmlformats.org/drawingml/2006/main">
              <a:ext uri="{FF2B5EF4-FFF2-40B4-BE49-F238E27FC236}">
                <a16:creationId xmlns:a16="http://schemas.microsoft.com/office/drawing/2014/main" id="{1E2A851E-C4AE-44EB-B3FF-3FD91C4D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90925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insurance payment</a:t>
            </a:r>
          </a:p>
        </p:txBody>
      </p:sp>
      <p:sp>
        <p:nvSpPr>
          <p:cNvPr id="65" name="number-3">
            <a:extLst xmlns:a="http://schemas.openxmlformats.org/drawingml/2006/main">
              <a:ext uri="{FF2B5EF4-FFF2-40B4-BE49-F238E27FC236}">
                <a16:creationId xmlns:a16="http://schemas.microsoft.com/office/drawing/2014/main" id="{2B73B88F-BC95-4E16-B28A-CFF2A755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8F7"/>
          </a:solidFill>
          <a:ln xmlns:a="http://schemas.openxmlformats.org/drawingml/2006/main" w="9525">
            <a:solidFill>
              <a:srgbClr val="7137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7137A8"/>
                </a:solidFill>
              </a:defRPr>
            </a:pPr>
            <a:r>
              <a:rPr sz="750" b="1">
                <a:solidFill>
                  <a:srgbClr val="7137A8"/>
                </a:solidFill>
              </a:rPr>
              <a:t>4</a:t>
            </a:r>
          </a:p>
        </p:txBody>
      </p:sp>
      <p:sp>
        <p:nvSpPr>
          <p:cNvPr id="66" name="answer-label-3">
            <a:extLst xmlns:a="http://schemas.openxmlformats.org/drawingml/2006/main">
              <a:ext uri="{FF2B5EF4-FFF2-40B4-BE49-F238E27FC236}">
                <a16:creationId xmlns:a16="http://schemas.microsoft.com/office/drawing/2014/main" id="{49D32CBC-B473-4298-875D-3CDEE14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8576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You may owe</a:t>
            </a:r>
          </a:p>
        </p:txBody>
      </p:sp>
      <p:sp>
        <p:nvSpPr>
          <p:cNvPr id="67" name="answer-note-3">
            <a:extLst xmlns:a="http://schemas.openxmlformats.org/drawingml/2006/main">
              <a:ext uri="{FF2B5EF4-FFF2-40B4-BE49-F238E27FC236}">
                <a16:creationId xmlns:a16="http://schemas.microsoft.com/office/drawing/2014/main" id="{7FEFA518-680B-433F-AFE5-AA59BD19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800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deductible, copay, coinsurance, or non-covered amount</a:t>
            </a:r>
          </a:p>
        </p:txBody>
      </p:sp>
      <p:sp>
        <p:nvSpPr>
          <p:cNvPr id="68" name="sources-label">
            <a:extLst xmlns:a="http://schemas.openxmlformats.org/drawingml/2006/main">
              <a:ext uri="{FF2B5EF4-FFF2-40B4-BE49-F238E27FC236}">
                <a16:creationId xmlns:a16="http://schemas.microsoft.com/office/drawing/2014/main" id="{BB065361-152A-47DF-B3CF-747B3DB7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43400"/>
            <a:ext cx="333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5DFF"/>
                </a:solidFill>
              </a:defRPr>
            </a:pPr>
            <a:r>
              <a:rPr sz="900" b="1">
                <a:solidFill>
                  <a:srgbClr val="165DFF"/>
                </a:solidFill>
              </a:rPr>
              <a:t>PUBLIC GUIDANCE SHOWN WITH THE ANSWER</a:t>
            </a:r>
          </a:p>
        </p:txBody>
      </p:sp>
      <p:sp>
        <p:nvSpPr>
          <p:cNvPr id="69" name="source-tag-0">
            <a:extLst xmlns:a="http://schemas.openxmlformats.org/drawingml/2006/main">
              <a:ext uri="{FF2B5EF4-FFF2-40B4-BE49-F238E27FC236}">
                <a16:creationId xmlns:a16="http://schemas.microsoft.com/office/drawing/2014/main" id="{CB0D865F-4D19-451B-B8AD-B86BC233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5720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65DFF"/>
                </a:solidFill>
              </a:defRPr>
            </a:pPr>
            <a:r>
              <a:rPr sz="788" b="1">
                <a:solidFill>
                  <a:srgbClr val="165DFF"/>
                </a:solidFill>
              </a:rPr>
              <a:t>[1]</a:t>
            </a:r>
          </a:p>
        </p:txBody>
      </p:sp>
      <p:sp>
        <p:nvSpPr>
          <p:cNvPr id="70" name="source-publisher-0">
            <a:extLst xmlns:a="http://schemas.openxmlformats.org/drawingml/2006/main">
              <a:ext uri="{FF2B5EF4-FFF2-40B4-BE49-F238E27FC236}">
                <a16:creationId xmlns:a16="http://schemas.microsoft.com/office/drawing/2014/main" id="{CF94DD8C-730F-42F0-8E2F-AD3B401E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72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HealthCare.gov</a:t>
            </a:r>
          </a:p>
        </p:txBody>
      </p:sp>
      <p:sp>
        <p:nvSpPr>
          <p:cNvPr id="71" name="source-topic-0">
            <a:extLst xmlns:a="http://schemas.openxmlformats.org/drawingml/2006/main">
              <a:ext uri="{FF2B5EF4-FFF2-40B4-BE49-F238E27FC236}">
                <a16:creationId xmlns:a16="http://schemas.microsoft.com/office/drawing/2014/main" id="{86454546-97D6-492D-98DF-8903DEE2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572000"/>
            <a:ext cx="3076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understanding an insurance bill</a:t>
            </a:r>
          </a:p>
        </p:txBody>
      </p:sp>
      <p:sp>
        <p:nvSpPr>
          <p:cNvPr id="72" name="source-rule-0">
            <a:extLst xmlns:a="http://schemas.openxmlformats.org/drawingml/2006/main">
              <a:ext uri="{FF2B5EF4-FFF2-40B4-BE49-F238E27FC236}">
                <a16:creationId xmlns:a16="http://schemas.microsoft.com/office/drawing/2014/main" id="{0723E8A7-DA70-4AD8-9590-DF7CFFDE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91075"/>
            <a:ext cx="421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BCC9DA"/>
            </a:solidFill>
            <a:prstDash val="solid"/>
          </a:ln>
        </p:spPr>
      </p:sp>
      <p:sp>
        <p:nvSpPr>
          <p:cNvPr id="73" name="source-tag-1">
            <a:extLst xmlns:a="http://schemas.openxmlformats.org/drawingml/2006/main">
              <a:ext uri="{FF2B5EF4-FFF2-40B4-BE49-F238E27FC236}">
                <a16:creationId xmlns:a16="http://schemas.microsoft.com/office/drawing/2014/main" id="{7DAD3522-F8E6-401F-B654-1A8CE840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8672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65DFF"/>
                </a:solidFill>
              </a:defRPr>
            </a:pPr>
            <a:r>
              <a:rPr sz="788" b="1">
                <a:solidFill>
                  <a:srgbClr val="165DFF"/>
                </a:solidFill>
              </a:rPr>
              <a:t>[2]</a:t>
            </a:r>
          </a:p>
        </p:txBody>
      </p:sp>
      <p:sp>
        <p:nvSpPr>
          <p:cNvPr id="74" name="source-publisher-1">
            <a:extLst xmlns:a="http://schemas.openxmlformats.org/drawingml/2006/main">
              <a:ext uri="{FF2B5EF4-FFF2-40B4-BE49-F238E27FC236}">
                <a16:creationId xmlns:a16="http://schemas.microsoft.com/office/drawing/2014/main" id="{F58EA623-C822-49D5-8B4E-F3DEE7F5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672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CMS</a:t>
            </a:r>
          </a:p>
        </p:txBody>
      </p:sp>
      <p:sp>
        <p:nvSpPr>
          <p:cNvPr id="75" name="source-topic-1">
            <a:extLst xmlns:a="http://schemas.openxmlformats.org/drawingml/2006/main">
              <a:ext uri="{FF2B5EF4-FFF2-40B4-BE49-F238E27FC236}">
                <a16:creationId xmlns:a16="http://schemas.microsoft.com/office/drawing/2014/main" id="{1AA36764-43A9-4901-B5E9-F7F8121D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67275"/>
            <a:ext cx="3076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No Surprises Act consumer rights</a:t>
            </a:r>
          </a:p>
        </p:txBody>
      </p:sp>
      <p:sp>
        <p:nvSpPr>
          <p:cNvPr id="76" name="source-rule-1">
            <a:extLst xmlns:a="http://schemas.openxmlformats.org/drawingml/2006/main">
              <a:ext uri="{FF2B5EF4-FFF2-40B4-BE49-F238E27FC236}">
                <a16:creationId xmlns:a16="http://schemas.microsoft.com/office/drawing/2014/main" id="{EC3C0B19-9955-4486-8B57-F8D45F60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86350"/>
            <a:ext cx="421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BCC9DA"/>
            </a:solidFill>
            <a:prstDash val="solid"/>
          </a:ln>
        </p:spPr>
      </p:sp>
      <p:sp>
        <p:nvSpPr>
          <p:cNvPr id="77" name="source-tag-2">
            <a:extLst xmlns:a="http://schemas.openxmlformats.org/drawingml/2006/main">
              <a:ext uri="{FF2B5EF4-FFF2-40B4-BE49-F238E27FC236}">
                <a16:creationId xmlns:a16="http://schemas.microsoft.com/office/drawing/2014/main" id="{3E528BF2-0066-428B-A2D7-C3A7D615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625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65DFF"/>
                </a:solidFill>
              </a:defRPr>
            </a:pPr>
            <a:r>
              <a:rPr sz="788" b="1">
                <a:solidFill>
                  <a:srgbClr val="165DFF"/>
                </a:solidFill>
              </a:rPr>
              <a:t>[3]</a:t>
            </a:r>
          </a:p>
        </p:txBody>
      </p:sp>
      <p:sp>
        <p:nvSpPr>
          <p:cNvPr id="78" name="source-publisher-2">
            <a:extLst xmlns:a="http://schemas.openxmlformats.org/drawingml/2006/main">
              <a:ext uri="{FF2B5EF4-FFF2-40B4-BE49-F238E27FC236}">
                <a16:creationId xmlns:a16="http://schemas.microsoft.com/office/drawing/2014/main" id="{33FDF205-85C6-4D83-9FC2-F43B2E98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625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CFPB</a:t>
            </a:r>
          </a:p>
        </p:txBody>
      </p:sp>
      <p:sp>
        <p:nvSpPr>
          <p:cNvPr id="79" name="source-topic-2">
            <a:extLst xmlns:a="http://schemas.openxmlformats.org/drawingml/2006/main">
              <a:ext uri="{FF2B5EF4-FFF2-40B4-BE49-F238E27FC236}">
                <a16:creationId xmlns:a16="http://schemas.microsoft.com/office/drawing/2014/main" id="{70090882-0904-400B-8B3A-0D62CD78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162550"/>
            <a:ext cx="3076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3708A"/>
                </a:solidFill>
              </a:defRPr>
            </a:pPr>
            <a:r>
              <a:rPr sz="788" b="0">
                <a:solidFill>
                  <a:srgbClr val="63708A"/>
                </a:solidFill>
              </a:rPr>
              <a:t>disputing a medical bill</a:t>
            </a:r>
          </a:p>
        </p:txBody>
      </p:sp>
      <p:sp>
        <p:nvSpPr>
          <p:cNvPr id="80" name="source-rule-2">
            <a:extLst xmlns:a="http://schemas.openxmlformats.org/drawingml/2006/main">
              <a:ext uri="{FF2B5EF4-FFF2-40B4-BE49-F238E27FC236}">
                <a16:creationId xmlns:a16="http://schemas.microsoft.com/office/drawing/2014/main" id="{A5B53757-7AF3-4795-B1DF-9DF1AC1F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381625"/>
            <a:ext cx="421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BCC9DA"/>
            </a:solidFill>
            <a:prstDash val="solid"/>
          </a:ln>
        </p:spPr>
      </p:sp>
      <p:sp>
        <p:nvSpPr>
          <p:cNvPr id="81" name="live-contract">
            <a:extLst xmlns:a="http://schemas.openxmlformats.org/drawingml/2006/main">
              <a:ext uri="{FF2B5EF4-FFF2-40B4-BE49-F238E27FC236}">
                <a16:creationId xmlns:a16="http://schemas.microsoft.com/office/drawing/2014/main" id="{884ED37D-181B-4839-AF06-99B9849D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534025"/>
            <a:ext cx="4762500" cy="523875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F0E8F7"/>
          </a:solidFill>
          <a:ln xmlns:a="http://schemas.openxmlformats.org/drawingml/2006/main" w="9525">
            <a:solidFill>
              <a:srgbClr val="7137A8"/>
            </a:solidFill>
            <a:prstDash val="solid"/>
          </a:ln>
        </p:spPr>
      </p:sp>
      <p:sp>
        <p:nvSpPr>
          <p:cNvPr id="82" name="live-title">
            <a:extLst xmlns:a="http://schemas.openxmlformats.org/drawingml/2006/main">
              <a:ext uri="{FF2B5EF4-FFF2-40B4-BE49-F238E27FC236}">
                <a16:creationId xmlns:a16="http://schemas.microsoft.com/office/drawing/2014/main" id="{08416717-D412-4C1F-AF85-FC2F43EF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619750"/>
            <a:ext cx="7143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137A8"/>
                </a:solidFill>
              </a:defRPr>
            </a:pPr>
            <a:r>
              <a:rPr sz="750" b="1">
                <a:solidFill>
                  <a:srgbClr val="7137A8"/>
                </a:solidFill>
              </a:rPr>
              <a:t>LIVE MODE</a:t>
            </a:r>
          </a:p>
        </p:txBody>
      </p:sp>
      <p:sp>
        <p:nvSpPr>
          <p:cNvPr id="83" name="live-copy">
            <a:extLst xmlns:a="http://schemas.openxmlformats.org/drawingml/2006/main">
              <a:ext uri="{FF2B5EF4-FFF2-40B4-BE49-F238E27FC236}">
                <a16:creationId xmlns:a16="http://schemas.microsoft.com/office/drawing/2014/main" id="{6EC30ECA-A578-4DA4-A48D-027382FD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591175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15213B"/>
                </a:solidFill>
              </a:defRPr>
            </a:pPr>
            <a:r>
              <a:rPr sz="788" b="1">
                <a:solidFill>
                  <a:srgbClr val="15213B"/>
                </a:solidFill>
              </a:rPr>
              <a:t>retrieve ≤6  →  usable source text  →  context-only answer</a:t>
            </a:r>
          </a:p>
        </p:txBody>
      </p:sp>
      <p:sp>
        <p:nvSpPr>
          <p:cNvPr id="84" name="live-refusal">
            <a:extLst xmlns:a="http://schemas.openxmlformats.org/drawingml/2006/main">
              <a:ext uri="{FF2B5EF4-FFF2-40B4-BE49-F238E27FC236}">
                <a16:creationId xmlns:a16="http://schemas.microsoft.com/office/drawing/2014/main" id="{ADD7590B-2F15-4353-A324-1333C163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791200"/>
            <a:ext cx="3619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64B38"/>
                </a:solidFill>
              </a:defRPr>
            </a:pPr>
            <a:r>
              <a:rPr sz="788" b="1">
                <a:solidFill>
                  <a:srgbClr val="C64B38"/>
                </a:solidFill>
              </a:rPr>
              <a:t>no usable text  →  422 response before generation</a:t>
            </a:r>
          </a:p>
        </p:txBody>
      </p:sp>
      <p:sp>
        <p:nvSpPr>
          <p:cNvPr id="8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90DDE96-D6E1-4BFE-A662-4CCA79BB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0077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5213B"/>
            </a:solidFill>
            <a:prstDash val="solid"/>
          </a:ln>
        </p:spPr>
      </p:sp>
      <p:sp>
        <p:nvSpPr>
          <p:cNvPr id="86" name="boundary">
            <a:extLst xmlns:a="http://schemas.openxmlformats.org/drawingml/2006/main">
              <a:ext uri="{FF2B5EF4-FFF2-40B4-BE49-F238E27FC236}">
                <a16:creationId xmlns:a16="http://schemas.microsoft.com/office/drawing/2014/main" id="{9C083845-4960-43D9-9D87-1FF3B830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428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64B38"/>
                </a:solidFill>
              </a:defRPr>
            </a:pPr>
            <a:r>
              <a:rPr sz="825" b="1">
                <a:solidFill>
                  <a:srgbClr val="C64B38"/>
                </a:solidFill>
              </a:rPr>
              <a:t>EVIDENCE BOUNDARY</a:t>
            </a:r>
          </a:p>
        </p:txBody>
      </p:sp>
      <p:sp>
        <p:nvSpPr>
          <p:cNvPr id="87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B3E94006-1867-4A3F-AF5D-A719475E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6324600"/>
            <a:ext cx="9582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5213B"/>
                </a:solidFill>
              </a:defRPr>
            </a:pPr>
            <a:r>
              <a:rPr sz="938" b="0">
                <a:solidFill>
                  <a:srgbClr val="15213B"/>
                </a:solidFill>
              </a:rPr>
              <a:t>Fixture answer and sources are deterministic. No coverage, correctness, compliance, retrieval-quality, or financial-outcome claim.</a:t>
            </a:r>
          </a:p>
        </p:txBody>
      </p:sp>
      <p:sp>
        <p:nvSpPr>
          <p:cNvPr id="88" name="sources">
            <a:extLst xmlns:a="http://schemas.openxmlformats.org/drawingml/2006/main">
              <a:ext uri="{FF2B5EF4-FFF2-40B4-BE49-F238E27FC236}">
                <a16:creationId xmlns:a16="http://schemas.microsoft.com/office/drawing/2014/main" id="{FB510EE3-30C0-4BA9-9C3F-E5E043FE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0"/>
            <a:ext cx="11391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3708A"/>
                </a:solidFill>
              </a:defRPr>
            </a:pPr>
            <a:r>
              <a:rPr sz="713" b="0">
                <a:solidFill>
                  <a:srgbClr val="63708A"/>
                </a:solidFill>
              </a:rPr>
              <a:t>Sources: app/page.tsx · app/data/demo.ts · app/lib/chat.ts · app/api/chat/route.ts</a:t>
            </a:r>
          </a:p>
        </p:txBody>
      </p:sp>
    </p:spTree>
    <p:extLst>
      <p:ext uri="{BB962C8B-B14F-4D97-AF65-F5344CB8AC3E}">
        <p14:creationId xmlns:p14="http://schemas.microsoft.com/office/powerpoint/2010/main" val="1323078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2026-07-21T07:17:56.9490000Z</dcterms:created>
  <dcterms:modified xsi:type="dcterms:W3CDTF">2026-07-21T07:17:56.9490000Z</dcterms:modified>
</coreProperties>
</file>