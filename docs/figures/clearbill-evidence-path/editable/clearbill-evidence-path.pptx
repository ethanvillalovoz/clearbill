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08ebb9f31740a0" /><Relationship Type="http://schemas.openxmlformats.org/officeDocument/2006/relationships/extended-properties" Target="/docProps/app.xml" Id="R01693d662ff447be" /><Relationship Type="http://schemas.openxmlformats.org/officeDocument/2006/relationships/officeDocument" Target="/ppt/presentation.xml" Id="R6fb8640efe8040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fe1a2278ce4ecf"/>
  </p:sldMasterIdLst>
  <p:notesMasterIdLst>
    <p:notesMasterId xmlns:r="http://schemas.openxmlformats.org/officeDocument/2006/relationships" r:id="R2eeded662f0a486a"/>
  </p:notesMasterIdLst>
  <p:sldIdLst>
    <p:sldId xmlns:r="http://schemas.openxmlformats.org/officeDocument/2006/relationships" id="256" r:id="R1eff57ebccdd4c6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7fb8c4772740d0" /><Relationship Type="http://schemas.openxmlformats.org/officeDocument/2006/relationships/slideMaster" Target="/ppt/slideMasters/slideMaster1.xml" Id="Rabfe1a2278ce4ecf" /><Relationship Type="http://schemas.openxmlformats.org/officeDocument/2006/relationships/notesMaster" Target="/ppt/notesMasters/notesMaster1.xml" Id="R2eeded662f0a486a" /><Relationship Type="http://schemas.openxmlformats.org/officeDocument/2006/relationships/presProps" Target="/ppt/presProps.xml" Id="R3964cc82dd254154" /><Relationship Type="http://schemas.openxmlformats.org/officeDocument/2006/relationships/tableStyles" Target="/ppt/tableStyles.xml" Id="R5c1499db58b64502" /><Relationship Type="http://schemas.openxmlformats.org/officeDocument/2006/relationships/slide" Target="/ppt/slides/slide1.xml" Id="R1eff57ebccdd4c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ec2a9449c74a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4ab07789c74e4a" /><Relationship Type="http://schemas.openxmlformats.org/officeDocument/2006/relationships/notesMaster" Target="/ppt/notesMasters/notesMaster1.xml" Id="R233fd299f89f4f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3b9deb45824a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7c479d12ef4784" /><Relationship Type="http://schemas.openxmlformats.org/officeDocument/2006/relationships/slideLayout" Target="/ppt/slideLayouts/slideLayout1.xml" Id="R140e69ada3b942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0e69ada3b942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f6c0bcdf34b82" /><Relationship Type="http://schemas.openxmlformats.org/officeDocument/2006/relationships/notesSlide" Target="/ppt/notesSlides/notesSlide1.xml" Id="Ra3107c2ff65c46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title">
            <a:extLst xmlns:a="http://schemas.openxmlformats.org/drawingml/2006/main">
              <a:ext uri="{FF2B5EF4-FFF2-40B4-BE49-F238E27FC236}">
                <a16:creationId xmlns:a16="http://schemas.microsoft.com/office/drawing/2014/main" id="{FC198598-ADE2-45DB-B690-431493C3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39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ClearBill keeps the explanation attached to the synthetic statement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E1C8167-276F-48B8-BE1C-F028E216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"/>
            <a:ext cx="11391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4"/>
                </a:solidFill>
              </a:defRPr>
            </a:pPr>
            <a:r>
              <a:rPr sz="1200" b="0">
                <a:solidFill>
                  <a:srgbClr val="667084"/>
                </a:solidFill>
              </a:rPr>
              <a:t>One EOB is annotated in place: the answer names the fields to compare, cites public guidance, and keeps live refusal separate from the fixture.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6EF8707-7F8E-4A65-AA31-0C6653D9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382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72033"/>
            </a:solidFill>
            <a:prstDash val="solid"/>
          </a:ln>
        </p:spPr>
      </p:sp>
      <p:sp>
        <p:nvSpPr>
          <p:cNvPr id="4" name="document-label">
            <a:extLst xmlns:a="http://schemas.openxmlformats.org/drawingml/2006/main">
              <a:ext uri="{FF2B5EF4-FFF2-40B4-BE49-F238E27FC236}">
                <a16:creationId xmlns:a16="http://schemas.microsoft.com/office/drawing/2014/main" id="{EB7240B2-F354-4718-A586-4040F2C2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95AC8"/>
                </a:solidFill>
              </a:defRPr>
            </a:pPr>
            <a:r>
              <a:rPr sz="900" b="1">
                <a:solidFill>
                  <a:srgbClr val="295AC8"/>
                </a:solidFill>
              </a:rPr>
              <a:t>SYNTHETIC EXPLANATION OF BENEFITS</a:t>
            </a:r>
          </a:p>
        </p:txBody>
      </p:sp>
      <p:sp>
        <p:nvSpPr>
          <p:cNvPr id="5" name="document">
            <a:extLst xmlns:a="http://schemas.openxmlformats.org/drawingml/2006/main">
              <a:ext uri="{FF2B5EF4-FFF2-40B4-BE49-F238E27FC236}">
                <a16:creationId xmlns:a16="http://schemas.microsoft.com/office/drawing/2014/main" id="{6B597B15-DEF8-49C6-AFDD-F0420A98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7325"/>
            <a:ext cx="6286500" cy="410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7243B"/>
            </a:solidFill>
            <a:prstDash val="solid"/>
          </a:ln>
        </p:spPr>
      </p:sp>
      <p:sp>
        <p:nvSpPr>
          <p:cNvPr id="6" name="document-accent">
            <a:extLst xmlns:a="http://schemas.openxmlformats.org/drawingml/2006/main">
              <a:ext uri="{FF2B5EF4-FFF2-40B4-BE49-F238E27FC236}">
                <a16:creationId xmlns:a16="http://schemas.microsoft.com/office/drawing/2014/main" id="{3291621A-A571-41BC-9E4C-48FDDFD6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7325"/>
            <a:ext cx="76200" cy="410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5AC8"/>
          </a:solidFill>
          <a:ln xmlns:a="http://schemas.openxmlformats.org/drawingml/2006/main" w="0">
            <a:solidFill>
              <a:srgbClr val="295AC8"/>
            </a:solidFill>
            <a:prstDash val="solid"/>
          </a:ln>
        </p:spPr>
      </p:sp>
      <p:sp>
        <p:nvSpPr>
          <p:cNvPr id="7" name="doc-eyebrow">
            <a:extLst xmlns:a="http://schemas.openxmlformats.org/drawingml/2006/main">
              <a:ext uri="{FF2B5EF4-FFF2-40B4-BE49-F238E27FC236}">
                <a16:creationId xmlns:a16="http://schemas.microsoft.com/office/drawing/2014/main" id="{6C145B1A-3DE3-4F30-B2D8-EDBE34EA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95AC8"/>
                </a:solidFill>
              </a:defRPr>
            </a:pPr>
            <a:r>
              <a:rPr sz="750" b="1">
                <a:solidFill>
                  <a:srgbClr val="295AC8"/>
                </a:solidFill>
              </a:rPr>
              <a:t>EXPLANATION OF BENEFITS</a:t>
            </a:r>
          </a:p>
        </p:txBody>
      </p:sp>
      <p:sp>
        <p:nvSpPr>
          <p:cNvPr id="8" name="doc-title">
            <a:extLst xmlns:a="http://schemas.openxmlformats.org/drawingml/2006/main">
              <a:ext uri="{FF2B5EF4-FFF2-40B4-BE49-F238E27FC236}">
                <a16:creationId xmlns:a16="http://schemas.microsoft.com/office/drawing/2014/main" id="{386545C2-DFF0-41DD-8453-4D1AE7BF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43B"/>
                </a:solidFill>
              </a:defRPr>
            </a:pPr>
            <a:r>
              <a:rPr sz="1575" b="1">
                <a:solidFill>
                  <a:srgbClr val="17243B"/>
                </a:solidFill>
              </a:rPr>
              <a:t>Claim 04-2719</a:t>
            </a:r>
          </a:p>
        </p:txBody>
      </p:sp>
      <p:sp>
        <p:nvSpPr>
          <p:cNvPr id="9" name="doc-subtitle">
            <a:extLst xmlns:a="http://schemas.openxmlformats.org/drawingml/2006/main">
              <a:ext uri="{FF2B5EF4-FFF2-40B4-BE49-F238E27FC236}">
                <a16:creationId xmlns:a16="http://schemas.microsoft.com/office/drawing/2014/main" id="{93778D9D-CA7A-4F22-83C0-B489F505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3048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4"/>
                </a:solidFill>
              </a:defRPr>
            </a:pPr>
            <a:r>
              <a:rPr sz="863" b="0">
                <a:solidFill>
                  <a:srgbClr val="667084"/>
                </a:solidFill>
              </a:rPr>
              <a:t>Northstar Internal Medicine · Sample PPO plan</a:t>
            </a:r>
          </a:p>
        </p:txBody>
      </p:sp>
      <p:sp>
        <p:nvSpPr>
          <p:cNvPr id="10" name="doc-meta">
            <a:extLst xmlns:a="http://schemas.openxmlformats.org/drawingml/2006/main">
              <a:ext uri="{FF2B5EF4-FFF2-40B4-BE49-F238E27FC236}">
                <a16:creationId xmlns:a16="http://schemas.microsoft.com/office/drawing/2014/main" id="{F4D9909C-8003-4E7D-A49B-9C89A5A9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28775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084"/>
                </a:solidFill>
              </a:defRPr>
            </a:pPr>
            <a:r>
              <a:rPr sz="788" b="0">
                <a:solidFill>
                  <a:srgbClr val="667084"/>
                </a:solidFill>
              </a:rPr>
              <a:t>Sample member</a:t>
            </a:r>
          </a:p>
          <a:p xmlns:a="http://schemas.openxmlformats.org/drawingml/2006/main">
            <a:pPr algn="r">
              <a:defRPr sz="788" b="0">
                <a:solidFill>
                  <a:srgbClr val="667084"/>
                </a:solidFill>
              </a:defRPr>
            </a:pPr>
            <a:r>
              <a:rPr sz="788" b="0">
                <a:solidFill>
                  <a:srgbClr val="667084"/>
                </a:solidFill>
              </a:rPr>
              <a:t>Apr 10, 2026 service</a:t>
            </a:r>
          </a:p>
          <a:p xmlns:a="http://schemas.openxmlformats.org/drawingml/2006/main">
            <a:pPr algn="r">
              <a:defRPr sz="788" b="0">
                <a:solidFill>
                  <a:srgbClr val="667084"/>
                </a:solidFill>
              </a:defRPr>
            </a:pPr>
            <a:r>
              <a:rPr sz="788" b="0">
                <a:solidFill>
                  <a:srgbClr val="667084"/>
                </a:solidFill>
              </a:rPr>
              <a:t>Apr 18, 2026 processed</a:t>
            </a:r>
          </a:p>
          <a:p xmlns:a="http://schemas.openxmlformats.org/drawingml/2006/main">
            <a:pPr algn="r">
              <a:defRPr sz="788" b="0">
                <a:solidFill>
                  <a:srgbClr val="667084"/>
                </a:solidFill>
              </a:defRPr>
            </a:pPr>
            <a:r>
              <a:rPr sz="788" b="0">
                <a:solidFill>
                  <a:srgbClr val="667084"/>
                </a:solidFill>
              </a:rPr>
              <a:t>Finalized</a:t>
            </a:r>
          </a:p>
        </p:txBody>
      </p:sp>
      <p:sp>
        <p:nvSpPr>
          <p:cNvPr id="11" name="doc-rule-1">
            <a:extLst xmlns:a="http://schemas.openxmlformats.org/drawingml/2006/main">
              <a:ext uri="{FF2B5EF4-FFF2-40B4-BE49-F238E27FC236}">
                <a16:creationId xmlns:a16="http://schemas.microsoft.com/office/drawing/2014/main" id="{B46F4F3E-AF7C-4890-89F6-B0FF7DA1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579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12" name="summary-0">
            <a:extLst xmlns:a="http://schemas.openxmlformats.org/drawingml/2006/main">
              <a:ext uri="{FF2B5EF4-FFF2-40B4-BE49-F238E27FC236}">
                <a16:creationId xmlns:a16="http://schemas.microsoft.com/office/drawing/2014/main" id="{FB4C0737-E0D2-4FC1-AEA4-C42993DC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1352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13" name="summary-label-0">
            <a:extLst xmlns:a="http://schemas.openxmlformats.org/drawingml/2006/main">
              <a:ext uri="{FF2B5EF4-FFF2-40B4-BE49-F238E27FC236}">
                <a16:creationId xmlns:a16="http://schemas.microsoft.com/office/drawing/2014/main" id="{94ADBEC5-CC74-458D-93B5-C5C017CC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1162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4"/>
                </a:solidFill>
              </a:defRPr>
            </a:pPr>
            <a:r>
              <a:rPr sz="675" b="1">
                <a:solidFill>
                  <a:srgbClr val="667084"/>
                </a:solidFill>
              </a:rPr>
              <a:t>PROVIDER BILLED</a:t>
            </a:r>
          </a:p>
        </p:txBody>
      </p:sp>
      <p:sp>
        <p:nvSpPr>
          <p:cNvPr id="14" name="summary-value-0">
            <a:extLst xmlns:a="http://schemas.openxmlformats.org/drawingml/2006/main">
              <a:ext uri="{FF2B5EF4-FFF2-40B4-BE49-F238E27FC236}">
                <a16:creationId xmlns:a16="http://schemas.microsoft.com/office/drawing/2014/main" id="{0E7EADD4-8F39-4A60-8211-62FB1AF7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162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B"/>
                </a:solidFill>
              </a:defRPr>
            </a:pPr>
            <a:r>
              <a:rPr sz="1200" b="1">
                <a:solidFill>
                  <a:srgbClr val="17243B"/>
                </a:solidFill>
              </a:rPr>
              <a:t>$593.00</a:t>
            </a:r>
          </a:p>
        </p:txBody>
      </p:sp>
      <p:sp>
        <p:nvSpPr>
          <p:cNvPr id="15" name="summary-1">
            <a:extLst xmlns:a="http://schemas.openxmlformats.org/drawingml/2006/main">
              <a:ext uri="{FF2B5EF4-FFF2-40B4-BE49-F238E27FC236}">
                <a16:creationId xmlns:a16="http://schemas.microsoft.com/office/drawing/2014/main" id="{1D75100E-ACFD-4F11-A51C-36893773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71750"/>
            <a:ext cx="1352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16" name="summary-label-1">
            <a:extLst xmlns:a="http://schemas.openxmlformats.org/drawingml/2006/main">
              <a:ext uri="{FF2B5EF4-FFF2-40B4-BE49-F238E27FC236}">
                <a16:creationId xmlns:a16="http://schemas.microsoft.com/office/drawing/2014/main" id="{AF9507A8-5A3B-4F2D-AE83-A2CB2D80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57475"/>
            <a:ext cx="1162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4"/>
                </a:solidFill>
              </a:defRPr>
            </a:pPr>
            <a:r>
              <a:rPr sz="675" b="1">
                <a:solidFill>
                  <a:srgbClr val="667084"/>
                </a:solidFill>
              </a:rPr>
              <a:t>PLAN DISCOUNTS</a:t>
            </a:r>
          </a:p>
        </p:txBody>
      </p:sp>
      <p:sp>
        <p:nvSpPr>
          <p:cNvPr id="17" name="summary-value-1">
            <a:extLst xmlns:a="http://schemas.openxmlformats.org/drawingml/2006/main">
              <a:ext uri="{FF2B5EF4-FFF2-40B4-BE49-F238E27FC236}">
                <a16:creationId xmlns:a16="http://schemas.microsoft.com/office/drawing/2014/main" id="{D82C5D95-686F-4CC0-A825-DDAA2AB1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57500"/>
            <a:ext cx="1162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B"/>
                </a:solidFill>
              </a:defRPr>
            </a:pPr>
            <a:r>
              <a:rPr sz="1200" b="1">
                <a:solidFill>
                  <a:srgbClr val="17243B"/>
                </a:solidFill>
              </a:rPr>
              <a:t>−$282.00</a:t>
            </a:r>
          </a:p>
        </p:txBody>
      </p:sp>
      <p:sp>
        <p:nvSpPr>
          <p:cNvPr id="18" name="summary-2">
            <a:extLst xmlns:a="http://schemas.openxmlformats.org/drawingml/2006/main">
              <a:ext uri="{FF2B5EF4-FFF2-40B4-BE49-F238E27FC236}">
                <a16:creationId xmlns:a16="http://schemas.microsoft.com/office/drawing/2014/main" id="{9895F02C-729F-49CD-8C9C-013F3209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1352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19" name="summary-label-2">
            <a:extLst xmlns:a="http://schemas.openxmlformats.org/drawingml/2006/main">
              <a:ext uri="{FF2B5EF4-FFF2-40B4-BE49-F238E27FC236}">
                <a16:creationId xmlns:a16="http://schemas.microsoft.com/office/drawing/2014/main" id="{EA0820C7-4AD0-4C73-B43C-1BE84C3C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57475"/>
            <a:ext cx="1162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4"/>
                </a:solidFill>
              </a:defRPr>
            </a:pPr>
            <a:r>
              <a:rPr sz="675" b="1">
                <a:solidFill>
                  <a:srgbClr val="667084"/>
                </a:solidFill>
              </a:rPr>
              <a:t>PLAN PAID</a:t>
            </a:r>
          </a:p>
        </p:txBody>
      </p:sp>
      <p:sp>
        <p:nvSpPr>
          <p:cNvPr id="20" name="summary-value-2">
            <a:extLst xmlns:a="http://schemas.openxmlformats.org/drawingml/2006/main">
              <a:ext uri="{FF2B5EF4-FFF2-40B4-BE49-F238E27FC236}">
                <a16:creationId xmlns:a16="http://schemas.microsoft.com/office/drawing/2014/main" id="{264DD625-1486-40F1-A09E-5F261BFB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1162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B"/>
                </a:solidFill>
              </a:defRPr>
            </a:pPr>
            <a:r>
              <a:rPr sz="1200" b="1">
                <a:solidFill>
                  <a:srgbClr val="17243B"/>
                </a:solidFill>
              </a:rPr>
              <a:t>−$251.00</a:t>
            </a:r>
          </a:p>
        </p:txBody>
      </p:sp>
      <p:sp>
        <p:nvSpPr>
          <p:cNvPr id="21" name="summary-3">
            <a:extLst xmlns:a="http://schemas.openxmlformats.org/drawingml/2006/main">
              <a:ext uri="{FF2B5EF4-FFF2-40B4-BE49-F238E27FC236}">
                <a16:creationId xmlns:a16="http://schemas.microsoft.com/office/drawing/2014/main" id="{E93FCED6-A772-4C89-A583-D63E60A5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71750"/>
            <a:ext cx="1352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4"/>
          </a:solidFill>
          <a:ln xmlns:a="http://schemas.openxmlformats.org/drawingml/2006/main" w="9525">
            <a:solidFill>
              <a:srgbClr val="A46900"/>
            </a:solidFill>
            <a:prstDash val="solid"/>
          </a:ln>
        </p:spPr>
      </p:sp>
      <p:sp>
        <p:nvSpPr>
          <p:cNvPr id="22" name="summary-label-3">
            <a:extLst xmlns:a="http://schemas.openxmlformats.org/drawingml/2006/main">
              <a:ext uri="{FF2B5EF4-FFF2-40B4-BE49-F238E27FC236}">
                <a16:creationId xmlns:a16="http://schemas.microsoft.com/office/drawing/2014/main" id="{DD49B338-18B6-43C7-8133-78FE2FC7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57475"/>
            <a:ext cx="1162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46900"/>
                </a:solidFill>
              </a:defRPr>
            </a:pPr>
            <a:r>
              <a:rPr sz="675" b="1">
                <a:solidFill>
                  <a:srgbClr val="A46900"/>
                </a:solidFill>
              </a:rPr>
              <a:t>YOU MAY OWE</a:t>
            </a:r>
          </a:p>
        </p:txBody>
      </p:sp>
      <p:sp>
        <p:nvSpPr>
          <p:cNvPr id="23" name="summary-value-3">
            <a:extLst xmlns:a="http://schemas.openxmlformats.org/drawingml/2006/main">
              <a:ext uri="{FF2B5EF4-FFF2-40B4-BE49-F238E27FC236}">
                <a16:creationId xmlns:a16="http://schemas.microsoft.com/office/drawing/2014/main" id="{0EAF2D6A-5DC1-4A42-B9DC-D41F6328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57500"/>
            <a:ext cx="1162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46900"/>
                </a:solidFill>
              </a:defRPr>
            </a:pPr>
            <a:r>
              <a:rPr sz="1200" b="1">
                <a:solidFill>
                  <a:srgbClr val="A46900"/>
                </a:solidFill>
              </a:rPr>
              <a:t>$60.00</a:t>
            </a:r>
          </a:p>
        </p:txBody>
      </p:sp>
      <p:sp>
        <p:nvSpPr>
          <p:cNvPr id="24" name="service-head">
            <a:extLst xmlns:a="http://schemas.openxmlformats.org/drawingml/2006/main">
              <a:ext uri="{FF2B5EF4-FFF2-40B4-BE49-F238E27FC236}">
                <a16:creationId xmlns:a16="http://schemas.microsoft.com/office/drawing/2014/main" id="{AC679C07-1C06-4343-B821-0762F1CE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4"/>
                </a:solidFill>
              </a:defRPr>
            </a:pPr>
            <a:r>
              <a:rPr sz="675" b="1">
                <a:solidFill>
                  <a:srgbClr val="667084"/>
                </a:solidFill>
              </a:rPr>
              <a:t>SERVICE</a:t>
            </a:r>
          </a:p>
        </p:txBody>
      </p:sp>
      <p:sp>
        <p:nvSpPr>
          <p:cNvPr id="25" name="billed-head">
            <a:extLst xmlns:a="http://schemas.openxmlformats.org/drawingml/2006/main">
              <a:ext uri="{FF2B5EF4-FFF2-40B4-BE49-F238E27FC236}">
                <a16:creationId xmlns:a16="http://schemas.microsoft.com/office/drawing/2014/main" id="{FD74C112-CE0B-4292-BCB2-D4082299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70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67084"/>
                </a:solidFill>
              </a:defRPr>
            </a:pPr>
            <a:r>
              <a:rPr sz="675" b="1">
                <a:solidFill>
                  <a:srgbClr val="667084"/>
                </a:solidFill>
              </a:rPr>
              <a:t>BILLED</a:t>
            </a:r>
          </a:p>
        </p:txBody>
      </p:sp>
      <p:sp>
        <p:nvSpPr>
          <p:cNvPr id="26" name="allowed-head">
            <a:extLst xmlns:a="http://schemas.openxmlformats.org/drawingml/2006/main">
              <a:ext uri="{FF2B5EF4-FFF2-40B4-BE49-F238E27FC236}">
                <a16:creationId xmlns:a16="http://schemas.microsoft.com/office/drawing/2014/main" id="{B077BE16-DC09-4471-BFAB-0F7DB79E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33750"/>
            <a:ext cx="70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67084"/>
                </a:solidFill>
              </a:defRPr>
            </a:pPr>
            <a:r>
              <a:rPr sz="675" b="1">
                <a:solidFill>
                  <a:srgbClr val="667084"/>
                </a:solidFill>
              </a:rPr>
              <a:t>ALLOWED</a:t>
            </a:r>
          </a:p>
        </p:txBody>
      </p:sp>
      <p:sp>
        <p:nvSpPr>
          <p:cNvPr id="27" name="owe-head">
            <a:extLst xmlns:a="http://schemas.openxmlformats.org/drawingml/2006/main">
              <a:ext uri="{FF2B5EF4-FFF2-40B4-BE49-F238E27FC236}">
                <a16:creationId xmlns:a16="http://schemas.microsoft.com/office/drawing/2014/main" id="{501FB121-F0AB-4F21-8CC9-73C7173C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70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67084"/>
                </a:solidFill>
              </a:defRPr>
            </a:pPr>
            <a:r>
              <a:rPr sz="675" b="1">
                <a:solidFill>
                  <a:srgbClr val="667084"/>
                </a:solidFill>
              </a:rPr>
              <a:t>YOU OWE</a:t>
            </a:r>
          </a:p>
        </p:txBody>
      </p:sp>
      <p:sp>
        <p:nvSpPr>
          <p:cNvPr id="28" name="row-bg-0">
            <a:extLst xmlns:a="http://schemas.openxmlformats.org/drawingml/2006/main">
              <a:ext uri="{FF2B5EF4-FFF2-40B4-BE49-F238E27FC236}">
                <a16:creationId xmlns:a16="http://schemas.microsoft.com/office/drawing/2014/main" id="{9817A993-C3E9-46CB-8A9B-B7FB3A88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5791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29" name="row-code-0">
            <a:extLst xmlns:a="http://schemas.openxmlformats.org/drawingml/2006/main">
              <a:ext uri="{FF2B5EF4-FFF2-40B4-BE49-F238E27FC236}">
                <a16:creationId xmlns:a16="http://schemas.microsoft.com/office/drawing/2014/main" id="{BBC9DA64-97BE-4488-A1CD-E7C9E23B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495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95AC8"/>
                </a:solidFill>
              </a:defRPr>
            </a:pPr>
            <a:r>
              <a:rPr sz="675" b="1">
                <a:solidFill>
                  <a:srgbClr val="295AC8"/>
                </a:solidFill>
              </a:rPr>
              <a:t>99214</a:t>
            </a:r>
          </a:p>
        </p:txBody>
      </p:sp>
      <p:sp>
        <p:nvSpPr>
          <p:cNvPr id="30" name="row-label-0">
            <a:extLst xmlns:a="http://schemas.openxmlformats.org/drawingml/2006/main">
              <a:ext uri="{FF2B5EF4-FFF2-40B4-BE49-F238E27FC236}">
                <a16:creationId xmlns:a16="http://schemas.microsoft.com/office/drawing/2014/main" id="{199C2B83-8AA2-4B70-A676-45BC83C5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2952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33"/>
                </a:solidFill>
              </a:defRPr>
            </a:pPr>
            <a:r>
              <a:rPr sz="825" b="1">
                <a:solidFill>
                  <a:srgbClr val="172033"/>
                </a:solidFill>
              </a:rPr>
              <a:t>Office visit, established patient</a:t>
            </a:r>
          </a:p>
        </p:txBody>
      </p:sp>
      <p:sp>
        <p:nvSpPr>
          <p:cNvPr id="31" name="row-billed-0">
            <a:extLst xmlns:a="http://schemas.openxmlformats.org/drawingml/2006/main">
              <a:ext uri="{FF2B5EF4-FFF2-40B4-BE49-F238E27FC236}">
                <a16:creationId xmlns:a16="http://schemas.microsoft.com/office/drawing/2014/main" id="{F1FC91E9-F293-4E5E-8644-32A00236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95700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$425.00</a:t>
            </a:r>
          </a:p>
        </p:txBody>
      </p:sp>
      <p:sp>
        <p:nvSpPr>
          <p:cNvPr id="32" name="row-allowed-0">
            <a:extLst xmlns:a="http://schemas.openxmlformats.org/drawingml/2006/main">
              <a:ext uri="{FF2B5EF4-FFF2-40B4-BE49-F238E27FC236}">
                <a16:creationId xmlns:a16="http://schemas.microsoft.com/office/drawing/2014/main" id="{14E73667-1B82-45D5-B597-57DE198B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95700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$235.00</a:t>
            </a:r>
          </a:p>
        </p:txBody>
      </p:sp>
      <p:sp>
        <p:nvSpPr>
          <p:cNvPr id="33" name="row-owe-0">
            <a:extLst xmlns:a="http://schemas.openxmlformats.org/drawingml/2006/main">
              <a:ext uri="{FF2B5EF4-FFF2-40B4-BE49-F238E27FC236}">
                <a16:creationId xmlns:a16="http://schemas.microsoft.com/office/drawing/2014/main" id="{737F462E-435D-493A-9713-36BD055B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95700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$40.00</a:t>
            </a:r>
          </a:p>
        </p:txBody>
      </p:sp>
      <p:sp>
        <p:nvSpPr>
          <p:cNvPr id="34" name="row-bg-1">
            <a:extLst xmlns:a="http://schemas.openxmlformats.org/drawingml/2006/main">
              <a:ext uri="{FF2B5EF4-FFF2-40B4-BE49-F238E27FC236}">
                <a16:creationId xmlns:a16="http://schemas.microsoft.com/office/drawing/2014/main" id="{2FF388A6-76DE-4519-8256-1C781665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48125"/>
            <a:ext cx="5791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C"/>
          </a:solidFill>
          <a:ln xmlns:a="http://schemas.openxmlformats.org/drawingml/2006/main" w="13335">
            <a:solidFill>
              <a:srgbClr val="295AC8"/>
            </a:solidFill>
            <a:prstDash val="solid"/>
          </a:ln>
        </p:spPr>
      </p:sp>
      <p:sp>
        <p:nvSpPr>
          <p:cNvPr id="35" name="row-code-1">
            <a:extLst xmlns:a="http://schemas.openxmlformats.org/drawingml/2006/main">
              <a:ext uri="{FF2B5EF4-FFF2-40B4-BE49-F238E27FC236}">
                <a16:creationId xmlns:a16="http://schemas.microsoft.com/office/drawing/2014/main" id="{17F51D4E-B7BB-4D06-9FAF-33C2F75F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495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95AC8"/>
                </a:solidFill>
              </a:defRPr>
            </a:pPr>
            <a:r>
              <a:rPr sz="675" b="1">
                <a:solidFill>
                  <a:srgbClr val="295AC8"/>
                </a:solidFill>
              </a:rPr>
              <a:t>80053</a:t>
            </a:r>
          </a:p>
        </p:txBody>
      </p:sp>
      <p:sp>
        <p:nvSpPr>
          <p:cNvPr id="3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15D1AB47-D3BA-47D5-B361-57C173B8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2952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33"/>
                </a:solidFill>
              </a:defRPr>
            </a:pPr>
            <a:r>
              <a:rPr sz="825" b="1">
                <a:solidFill>
                  <a:srgbClr val="172033"/>
                </a:solidFill>
              </a:rPr>
              <a:t>Comprehensive metabolic panel</a:t>
            </a:r>
          </a:p>
        </p:txBody>
      </p:sp>
      <p:sp>
        <p:nvSpPr>
          <p:cNvPr id="37" name="row-billed-1">
            <a:extLst xmlns:a="http://schemas.openxmlformats.org/drawingml/2006/main">
              <a:ext uri="{FF2B5EF4-FFF2-40B4-BE49-F238E27FC236}">
                <a16:creationId xmlns:a16="http://schemas.microsoft.com/office/drawing/2014/main" id="{E899E800-0B38-440C-AC3A-1D767BBE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91000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$168.00</a:t>
            </a:r>
          </a:p>
        </p:txBody>
      </p:sp>
      <p:sp>
        <p:nvSpPr>
          <p:cNvPr id="38" name="row-allowed-1">
            <a:extLst xmlns:a="http://schemas.openxmlformats.org/drawingml/2006/main">
              <a:ext uri="{FF2B5EF4-FFF2-40B4-BE49-F238E27FC236}">
                <a16:creationId xmlns:a16="http://schemas.microsoft.com/office/drawing/2014/main" id="{323EF1C3-9E05-4826-8D6E-D456DA51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191000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$76.00</a:t>
            </a:r>
          </a:p>
        </p:txBody>
      </p:sp>
      <p:sp>
        <p:nvSpPr>
          <p:cNvPr id="39" name="row-owe-1">
            <a:extLst xmlns:a="http://schemas.openxmlformats.org/drawingml/2006/main">
              <a:ext uri="{FF2B5EF4-FFF2-40B4-BE49-F238E27FC236}">
                <a16:creationId xmlns:a16="http://schemas.microsoft.com/office/drawing/2014/main" id="{60F34831-E9EA-4000-9F1B-B56E42D5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91000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$20.00</a:t>
            </a:r>
          </a:p>
        </p:txBody>
      </p:sp>
      <p:sp>
        <p:nvSpPr>
          <p:cNvPr id="40" name="row-bg-2">
            <a:extLst xmlns:a="http://schemas.openxmlformats.org/drawingml/2006/main">
              <a:ext uri="{FF2B5EF4-FFF2-40B4-BE49-F238E27FC236}">
                <a16:creationId xmlns:a16="http://schemas.microsoft.com/office/drawing/2014/main" id="{C642FEE9-7014-4C31-B4F6-ADCA489F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5791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8"/>
            </a:solidFill>
            <a:prstDash val="solid"/>
          </a:ln>
        </p:spPr>
      </p:sp>
      <p:sp>
        <p:nvSpPr>
          <p:cNvPr id="41" name="row-code-2">
            <a:extLst xmlns:a="http://schemas.openxmlformats.org/drawingml/2006/main">
              <a:ext uri="{FF2B5EF4-FFF2-40B4-BE49-F238E27FC236}">
                <a16:creationId xmlns:a16="http://schemas.microsoft.com/office/drawing/2014/main" id="{622F503A-26FC-4DE1-AF96-4541F2D6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495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95AC8"/>
                </a:solidFill>
              </a:defRPr>
            </a:pPr>
            <a:r>
              <a:rPr sz="675" b="1">
                <a:solidFill>
                  <a:srgbClr val="295AC8"/>
                </a:solidFill>
              </a:rPr>
              <a:t>ADJ</a:t>
            </a:r>
          </a:p>
        </p:txBody>
      </p:sp>
      <p:sp>
        <p:nvSpPr>
          <p:cNvPr id="42" name="row-label-2">
            <a:extLst xmlns:a="http://schemas.openxmlformats.org/drawingml/2006/main">
              <a:ext uri="{FF2B5EF4-FFF2-40B4-BE49-F238E27FC236}">
                <a16:creationId xmlns:a16="http://schemas.microsoft.com/office/drawing/2014/main" id="{C57C2860-CD3F-4138-A6D9-7A077CA3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2952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33"/>
                </a:solidFill>
              </a:defRPr>
            </a:pPr>
            <a:r>
              <a:rPr sz="825" b="1">
                <a:solidFill>
                  <a:srgbClr val="172033"/>
                </a:solidFill>
              </a:rPr>
              <a:t>Network discount and plan payment</a:t>
            </a:r>
          </a:p>
        </p:txBody>
      </p:sp>
      <p:sp>
        <p:nvSpPr>
          <p:cNvPr id="43" name="row-billed-2">
            <a:extLst xmlns:a="http://schemas.openxmlformats.org/drawingml/2006/main">
              <a:ext uri="{FF2B5EF4-FFF2-40B4-BE49-F238E27FC236}">
                <a16:creationId xmlns:a16="http://schemas.microsoft.com/office/drawing/2014/main" id="{53E0627F-2788-41E9-9E79-2AAFE65F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86300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−$282.00</a:t>
            </a:r>
          </a:p>
        </p:txBody>
      </p:sp>
      <p:sp>
        <p:nvSpPr>
          <p:cNvPr id="44" name="row-allowed-2">
            <a:extLst xmlns:a="http://schemas.openxmlformats.org/drawingml/2006/main">
              <a:ext uri="{FF2B5EF4-FFF2-40B4-BE49-F238E27FC236}">
                <a16:creationId xmlns:a16="http://schemas.microsoft.com/office/drawing/2014/main" id="{202E6A4B-A5D3-4B7C-88CC-86B2F427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86300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Applied</a:t>
            </a:r>
          </a:p>
        </p:txBody>
      </p:sp>
      <p:sp>
        <p:nvSpPr>
          <p:cNvPr id="45" name="row-owe-2">
            <a:extLst xmlns:a="http://schemas.openxmlformats.org/drawingml/2006/main">
              <a:ext uri="{FF2B5EF4-FFF2-40B4-BE49-F238E27FC236}">
                <a16:creationId xmlns:a16="http://schemas.microsoft.com/office/drawing/2014/main" id="{10E1DBC8-A149-4FCB-B97C-FD42AC98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86300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$0.00</a:t>
            </a:r>
          </a:p>
        </p:txBody>
      </p:sp>
      <p:sp>
        <p:nvSpPr>
          <p:cNvPr id="46" name="not-bill">
            <a:extLst xmlns:a="http://schemas.openxmlformats.org/drawingml/2006/main">
              <a:ext uri="{FF2B5EF4-FFF2-40B4-BE49-F238E27FC236}">
                <a16:creationId xmlns:a16="http://schemas.microsoft.com/office/drawing/2014/main" id="{D6251799-F7A9-4452-8411-BC5E4BE3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57912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0C4"/>
          </a:solidFill>
          <a:ln xmlns:a="http://schemas.openxmlformats.org/drawingml/2006/main" w="9525">
            <a:solidFill>
              <a:srgbClr val="A46900"/>
            </a:solidFill>
            <a:prstDash val="solid"/>
          </a:ln>
        </p:spPr>
      </p:sp>
      <p:sp>
        <p:nvSpPr>
          <p:cNvPr id="47" name="not-bill-label">
            <a:extLst xmlns:a="http://schemas.openxmlformats.org/drawingml/2006/main">
              <a:ext uri="{FF2B5EF4-FFF2-40B4-BE49-F238E27FC236}">
                <a16:creationId xmlns:a16="http://schemas.microsoft.com/office/drawing/2014/main" id="{579A4174-9B22-425D-A654-01320481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00650"/>
            <a:ext cx="781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46900"/>
                </a:solidFill>
              </a:defRPr>
            </a:pPr>
            <a:r>
              <a:rPr sz="675" b="1">
                <a:solidFill>
                  <a:srgbClr val="A46900"/>
                </a:solidFill>
              </a:rPr>
              <a:t>NOT A BILL</a:t>
            </a:r>
          </a:p>
        </p:txBody>
      </p:sp>
      <p:sp>
        <p:nvSpPr>
          <p:cNvPr id="48" name="not-bill-copy">
            <a:extLst xmlns:a="http://schemas.openxmlformats.org/drawingml/2006/main">
              <a:ext uri="{FF2B5EF4-FFF2-40B4-BE49-F238E27FC236}">
                <a16:creationId xmlns:a16="http://schemas.microsoft.com/office/drawing/2014/main" id="{77D5E807-945F-4CE9-9868-E863827A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81600"/>
            <a:ext cx="464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</a:defRPr>
            </a:pPr>
            <a:r>
              <a:rPr sz="788" b="0">
                <a:solidFill>
                  <a:srgbClr val="172033"/>
                </a:solidFill>
              </a:rPr>
              <a:t>Compare with the provider invoice before paying; every identity and amount shown is synthetic.</a:t>
            </a:r>
          </a:p>
        </p:txBody>
      </p:sp>
      <p:sp>
        <p:nvSpPr>
          <p:cNvPr id="49" name="document-to-answer">
            <a:extLst xmlns:a="http://schemas.openxmlformats.org/drawingml/2006/main">
              <a:ext uri="{FF2B5EF4-FFF2-40B4-BE49-F238E27FC236}">
                <a16:creationId xmlns:a16="http://schemas.microsoft.com/office/drawing/2014/main" id="{855ED0CE-4193-4C7B-B3D7-765FF7BF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62125"/>
            <a:ext cx="419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5AC8"/>
          </a:solidFill>
          <a:ln xmlns:a="http://schemas.openxmlformats.org/drawingml/2006/main" w="0">
            <a:solidFill>
              <a:srgbClr val="295AC8"/>
            </a:solidFill>
            <a:prstDash val="solid"/>
          </a:ln>
        </p:spPr>
      </p:sp>
      <p:sp>
        <p:nvSpPr>
          <p:cNvPr id="50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B101EDD9-C22F-45D0-841B-8C1EB793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2382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95AC8"/>
                </a:solidFill>
              </a:defRPr>
            </a:pPr>
            <a:r>
              <a:rPr sz="900" b="1">
                <a:solidFill>
                  <a:srgbClr val="295AC8"/>
                </a:solidFill>
              </a:rPr>
              <a:t>BUNDLED DEMO QUESTION</a:t>
            </a:r>
          </a:p>
        </p:txBody>
      </p:sp>
      <p:sp>
        <p:nvSpPr>
          <p:cNvPr id="51" name="question">
            <a:extLst xmlns:a="http://schemas.openxmlformats.org/drawingml/2006/main">
              <a:ext uri="{FF2B5EF4-FFF2-40B4-BE49-F238E27FC236}">
                <a16:creationId xmlns:a16="http://schemas.microsoft.com/office/drawing/2014/main" id="{E97CAE71-46FA-480C-A1E9-8DB46A35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57325"/>
            <a:ext cx="476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EEFC"/>
          </a:solidFill>
          <a:ln xmlns:a="http://schemas.openxmlformats.org/drawingml/2006/main" w="11430">
            <a:solidFill>
              <a:srgbClr val="295AC8"/>
            </a:solidFill>
            <a:prstDash val="solid"/>
          </a:ln>
        </p:spPr>
      </p:sp>
      <p:sp>
        <p:nvSpPr>
          <p:cNvPr id="52" name="question-copy">
            <a:extLst xmlns:a="http://schemas.openxmlformats.org/drawingml/2006/main">
              <a:ext uri="{FF2B5EF4-FFF2-40B4-BE49-F238E27FC236}">
                <a16:creationId xmlns:a16="http://schemas.microsoft.com/office/drawing/2014/main" id="{D97A5725-27DD-4222-B43D-02EFDE30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38300"/>
            <a:ext cx="438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43B"/>
                </a:solidFill>
              </a:defRPr>
            </a:pPr>
            <a:r>
              <a:rPr sz="1275" b="1">
                <a:solidFill>
                  <a:srgbClr val="17243B"/>
                </a:solidFill>
              </a:rPr>
              <a:t>What is an Explanation of Benefits?</a:t>
            </a:r>
          </a:p>
        </p:txBody>
      </p:sp>
      <p:sp>
        <p:nvSpPr>
          <p:cNvPr id="53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3C98DAD9-C429-441C-8FE0-0A5F4A12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098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B84"/>
                </a:solidFill>
              </a:defRPr>
            </a:pPr>
            <a:r>
              <a:rPr sz="900" b="1">
                <a:solidFill>
                  <a:srgbClr val="147B84"/>
                </a:solidFill>
              </a:rPr>
              <a:t>DETERMINISTIC EXPLANATION</a:t>
            </a:r>
          </a:p>
        </p:txBody>
      </p:sp>
      <p:sp>
        <p:nvSpPr>
          <p:cNvPr id="54" name="answer">
            <a:extLst xmlns:a="http://schemas.openxmlformats.org/drawingml/2006/main">
              <a:ext uri="{FF2B5EF4-FFF2-40B4-BE49-F238E27FC236}">
                <a16:creationId xmlns:a16="http://schemas.microsoft.com/office/drawing/2014/main" id="{EF36E505-D1EA-4D41-AA0D-969448A2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28875"/>
            <a:ext cx="4762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47B84"/>
            </a:solidFill>
            <a:prstDash val="solid"/>
          </a:ln>
        </p:spPr>
      </p:sp>
      <p:sp>
        <p:nvSpPr>
          <p:cNvPr id="55" name="answer-lead">
            <a:extLst xmlns:a="http://schemas.openxmlformats.org/drawingml/2006/main">
              <a:ext uri="{FF2B5EF4-FFF2-40B4-BE49-F238E27FC236}">
                <a16:creationId xmlns:a16="http://schemas.microsoft.com/office/drawing/2014/main" id="{14D7F157-5434-4110-B837-C0D4A041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81275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43B"/>
                </a:solidFill>
              </a:defRPr>
            </a:pPr>
            <a:r>
              <a:rPr sz="1125" b="1">
                <a:solidFill>
                  <a:srgbClr val="17243B"/>
                </a:solidFill>
              </a:rPr>
              <a:t>An EOB is the insurer’s record of how a claim was processed—not a bill.</a:t>
            </a:r>
          </a:p>
        </p:txBody>
      </p:sp>
      <p:sp>
        <p:nvSpPr>
          <p:cNvPr id="56" name="number-0">
            <a:extLst xmlns:a="http://schemas.openxmlformats.org/drawingml/2006/main">
              <a:ext uri="{FF2B5EF4-FFF2-40B4-BE49-F238E27FC236}">
                <a16:creationId xmlns:a16="http://schemas.microsoft.com/office/drawing/2014/main" id="{998CFA6E-62C9-4F8E-89BD-0F4BF356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48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F2"/>
          </a:solidFill>
          <a:ln xmlns:a="http://schemas.openxmlformats.org/drawingml/2006/main" w="9525">
            <a:solidFill>
              <a:srgbClr val="147B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47B84"/>
                </a:solidFill>
              </a:defRPr>
            </a:pPr>
            <a:r>
              <a:rPr sz="750" b="1">
                <a:solidFill>
                  <a:srgbClr val="147B84"/>
                </a:solidFill>
              </a:rPr>
              <a:t>1</a:t>
            </a:r>
          </a:p>
        </p:txBody>
      </p:sp>
      <p:sp>
        <p:nvSpPr>
          <p:cNvPr id="57" name="answer-label-0">
            <a:extLst xmlns:a="http://schemas.openxmlformats.org/drawingml/2006/main">
              <a:ext uri="{FF2B5EF4-FFF2-40B4-BE49-F238E27FC236}">
                <a16:creationId xmlns:a16="http://schemas.microsoft.com/office/drawing/2014/main" id="{4685BCD2-FD66-45A4-B348-D2AF1873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5752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33"/>
                </a:solidFill>
              </a:defRPr>
            </a:pPr>
            <a:r>
              <a:rPr sz="863" b="1">
                <a:solidFill>
                  <a:srgbClr val="172033"/>
                </a:solidFill>
              </a:rPr>
              <a:t>Amount billed</a:t>
            </a:r>
          </a:p>
        </p:txBody>
      </p:sp>
      <p:sp>
        <p:nvSpPr>
          <p:cNvPr id="58" name="answer-note-0">
            <a:extLst xmlns:a="http://schemas.openxmlformats.org/drawingml/2006/main">
              <a:ext uri="{FF2B5EF4-FFF2-40B4-BE49-F238E27FC236}">
                <a16:creationId xmlns:a16="http://schemas.microsoft.com/office/drawing/2014/main" id="{57C5B928-FCD6-4E23-AC5B-4E4CDC6E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57525"/>
            <a:ext cx="2800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4"/>
                </a:solidFill>
              </a:defRPr>
            </a:pPr>
            <a:r>
              <a:rPr sz="788" b="0">
                <a:solidFill>
                  <a:srgbClr val="667084"/>
                </a:solidFill>
              </a:rPr>
              <a:t>provider submission</a:t>
            </a:r>
          </a:p>
        </p:txBody>
      </p:sp>
      <p:sp>
        <p:nvSpPr>
          <p:cNvPr id="59" name="number-1">
            <a:extLst xmlns:a="http://schemas.openxmlformats.org/drawingml/2006/main">
              <a:ext uri="{FF2B5EF4-FFF2-40B4-BE49-F238E27FC236}">
                <a16:creationId xmlns:a16="http://schemas.microsoft.com/office/drawing/2014/main" id="{1468ABBC-6677-4A10-B015-7EA814A5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14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F2"/>
          </a:solidFill>
          <a:ln xmlns:a="http://schemas.openxmlformats.org/drawingml/2006/main" w="9525">
            <a:solidFill>
              <a:srgbClr val="147B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47B84"/>
                </a:solidFill>
              </a:defRPr>
            </a:pPr>
            <a:r>
              <a:rPr sz="750" b="1">
                <a:solidFill>
                  <a:srgbClr val="147B84"/>
                </a:solidFill>
              </a:rPr>
              <a:t>2</a:t>
            </a:r>
          </a:p>
        </p:txBody>
      </p:sp>
      <p:sp>
        <p:nvSpPr>
          <p:cNvPr id="60" name="answer-label-1">
            <a:extLst xmlns:a="http://schemas.openxmlformats.org/drawingml/2006/main">
              <a:ext uri="{FF2B5EF4-FFF2-40B4-BE49-F238E27FC236}">
                <a16:creationId xmlns:a16="http://schemas.microsoft.com/office/drawing/2014/main" id="{40C7E8D2-9BFB-4BD7-9457-35CFF759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2422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33"/>
                </a:solidFill>
              </a:defRPr>
            </a:pPr>
            <a:r>
              <a:rPr sz="863" b="1">
                <a:solidFill>
                  <a:srgbClr val="172033"/>
                </a:solidFill>
              </a:rPr>
              <a:t>Allowed amount</a:t>
            </a:r>
          </a:p>
        </p:txBody>
      </p:sp>
      <p:sp>
        <p:nvSpPr>
          <p:cNvPr id="61" name="answer-note-1">
            <a:extLst xmlns:a="http://schemas.openxmlformats.org/drawingml/2006/main">
              <a:ext uri="{FF2B5EF4-FFF2-40B4-BE49-F238E27FC236}">
                <a16:creationId xmlns:a16="http://schemas.microsoft.com/office/drawing/2014/main" id="{56267E49-9ABB-4929-A9B8-FBCF907D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24225"/>
            <a:ext cx="2800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4"/>
                </a:solidFill>
              </a:defRPr>
            </a:pPr>
            <a:r>
              <a:rPr sz="788" b="0">
                <a:solidFill>
                  <a:srgbClr val="667084"/>
                </a:solidFill>
              </a:rPr>
              <a:t>negotiated or recognized price</a:t>
            </a:r>
          </a:p>
        </p:txBody>
      </p:sp>
      <p:sp>
        <p:nvSpPr>
          <p:cNvPr id="62" name="number-2">
            <a:extLst xmlns:a="http://schemas.openxmlformats.org/drawingml/2006/main">
              <a:ext uri="{FF2B5EF4-FFF2-40B4-BE49-F238E27FC236}">
                <a16:creationId xmlns:a16="http://schemas.microsoft.com/office/drawing/2014/main" id="{D7F5EAB1-E0B8-4858-A330-AE6779A2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81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F2"/>
          </a:solidFill>
          <a:ln xmlns:a="http://schemas.openxmlformats.org/drawingml/2006/main" w="9525">
            <a:solidFill>
              <a:srgbClr val="147B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47B84"/>
                </a:solidFill>
              </a:defRPr>
            </a:pPr>
            <a:r>
              <a:rPr sz="750" b="1">
                <a:solidFill>
                  <a:srgbClr val="147B84"/>
                </a:solidFill>
              </a:rPr>
              <a:t>3</a:t>
            </a:r>
          </a:p>
        </p:txBody>
      </p:sp>
      <p:sp>
        <p:nvSpPr>
          <p:cNvPr id="63" name="answer-label-2">
            <a:extLst xmlns:a="http://schemas.openxmlformats.org/drawingml/2006/main">
              <a:ext uri="{FF2B5EF4-FFF2-40B4-BE49-F238E27FC236}">
                <a16:creationId xmlns:a16="http://schemas.microsoft.com/office/drawing/2014/main" id="{962567DC-A5FE-4E34-8111-6B3910DE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9092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33"/>
                </a:solidFill>
              </a:defRPr>
            </a:pPr>
            <a:r>
              <a:rPr sz="863" b="1">
                <a:solidFill>
                  <a:srgbClr val="172033"/>
                </a:solidFill>
              </a:rPr>
              <a:t>Plan paid</a:t>
            </a:r>
          </a:p>
        </p:txBody>
      </p:sp>
      <p:sp>
        <p:nvSpPr>
          <p:cNvPr id="64" name="answer-note-2">
            <a:extLst xmlns:a="http://schemas.openxmlformats.org/drawingml/2006/main">
              <a:ext uri="{FF2B5EF4-FFF2-40B4-BE49-F238E27FC236}">
                <a16:creationId xmlns:a16="http://schemas.microsoft.com/office/drawing/2014/main" id="{07F177F9-2F18-4EDD-8372-37BA6FC4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90925"/>
            <a:ext cx="2800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4"/>
                </a:solidFill>
              </a:defRPr>
            </a:pPr>
            <a:r>
              <a:rPr sz="788" b="0">
                <a:solidFill>
                  <a:srgbClr val="667084"/>
                </a:solidFill>
              </a:rPr>
              <a:t>insurance payment</a:t>
            </a:r>
          </a:p>
        </p:txBody>
      </p:sp>
      <p:sp>
        <p:nvSpPr>
          <p:cNvPr id="65" name="number-3">
            <a:extLst xmlns:a="http://schemas.openxmlformats.org/drawingml/2006/main">
              <a:ext uri="{FF2B5EF4-FFF2-40B4-BE49-F238E27FC236}">
                <a16:creationId xmlns:a16="http://schemas.microsoft.com/office/drawing/2014/main" id="{F1D20880-62F7-4B79-8830-6DF63063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48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F2"/>
          </a:solidFill>
          <a:ln xmlns:a="http://schemas.openxmlformats.org/drawingml/2006/main" w="9525">
            <a:solidFill>
              <a:srgbClr val="147B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47B84"/>
                </a:solidFill>
              </a:defRPr>
            </a:pPr>
            <a:r>
              <a:rPr sz="750" b="1">
                <a:solidFill>
                  <a:srgbClr val="147B84"/>
                </a:solidFill>
              </a:rPr>
              <a:t>4</a:t>
            </a:r>
          </a:p>
        </p:txBody>
      </p:sp>
      <p:sp>
        <p:nvSpPr>
          <p:cNvPr id="66" name="answer-label-3">
            <a:extLst xmlns:a="http://schemas.openxmlformats.org/drawingml/2006/main">
              <a:ext uri="{FF2B5EF4-FFF2-40B4-BE49-F238E27FC236}">
                <a16:creationId xmlns:a16="http://schemas.microsoft.com/office/drawing/2014/main" id="{BD30D216-2EAC-40E4-BB6E-FA028594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5762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33"/>
                </a:solidFill>
              </a:defRPr>
            </a:pPr>
            <a:r>
              <a:rPr sz="863" b="1">
                <a:solidFill>
                  <a:srgbClr val="172033"/>
                </a:solidFill>
              </a:rPr>
              <a:t>You may owe</a:t>
            </a:r>
          </a:p>
        </p:txBody>
      </p:sp>
      <p:sp>
        <p:nvSpPr>
          <p:cNvPr id="67" name="answer-note-3">
            <a:extLst xmlns:a="http://schemas.openxmlformats.org/drawingml/2006/main">
              <a:ext uri="{FF2B5EF4-FFF2-40B4-BE49-F238E27FC236}">
                <a16:creationId xmlns:a16="http://schemas.microsoft.com/office/drawing/2014/main" id="{9595A9E7-82F8-4D03-AE9D-518036CD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57625"/>
            <a:ext cx="2800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4"/>
                </a:solidFill>
              </a:defRPr>
            </a:pPr>
            <a:r>
              <a:rPr sz="788" b="0">
                <a:solidFill>
                  <a:srgbClr val="667084"/>
                </a:solidFill>
              </a:rPr>
              <a:t>deductible, copay, coinsurance, or non-covered amount</a:t>
            </a:r>
          </a:p>
        </p:txBody>
      </p:sp>
      <p:sp>
        <p:nvSpPr>
          <p:cNvPr id="68" name="sources-label">
            <a:extLst xmlns:a="http://schemas.openxmlformats.org/drawingml/2006/main">
              <a:ext uri="{FF2B5EF4-FFF2-40B4-BE49-F238E27FC236}">
                <a16:creationId xmlns:a16="http://schemas.microsoft.com/office/drawing/2014/main" id="{F62EBC25-3B19-434A-B37B-4CB76E92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434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95AC8"/>
                </a:solidFill>
              </a:defRPr>
            </a:pPr>
            <a:r>
              <a:rPr sz="900" b="1">
                <a:solidFill>
                  <a:srgbClr val="295AC8"/>
                </a:solidFill>
              </a:rPr>
              <a:t>PUBLIC GUIDANCE SHOWN WITH THE ANSWER</a:t>
            </a:r>
          </a:p>
        </p:txBody>
      </p:sp>
      <p:sp>
        <p:nvSpPr>
          <p:cNvPr id="69" name="source-tag-0">
            <a:extLst xmlns:a="http://schemas.openxmlformats.org/drawingml/2006/main">
              <a:ext uri="{FF2B5EF4-FFF2-40B4-BE49-F238E27FC236}">
                <a16:creationId xmlns:a16="http://schemas.microsoft.com/office/drawing/2014/main" id="{32DFBAC2-85AE-4F55-B31E-D6DC047A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72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95AC8"/>
                </a:solidFill>
              </a:defRPr>
            </a:pPr>
            <a:r>
              <a:rPr sz="788" b="1">
                <a:solidFill>
                  <a:srgbClr val="295AC8"/>
                </a:solidFill>
              </a:rPr>
              <a:t>[1]</a:t>
            </a:r>
          </a:p>
        </p:txBody>
      </p:sp>
      <p:sp>
        <p:nvSpPr>
          <p:cNvPr id="70" name="source-publisher-0">
            <a:extLst xmlns:a="http://schemas.openxmlformats.org/drawingml/2006/main">
              <a:ext uri="{FF2B5EF4-FFF2-40B4-BE49-F238E27FC236}">
                <a16:creationId xmlns:a16="http://schemas.microsoft.com/office/drawing/2014/main" id="{77C5EACF-DBFF-43A2-A576-B794A1B5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72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33"/>
                </a:solidFill>
              </a:defRPr>
            </a:pPr>
            <a:r>
              <a:rPr sz="863" b="1">
                <a:solidFill>
                  <a:srgbClr val="172033"/>
                </a:solidFill>
              </a:rPr>
              <a:t>HealthCare.gov</a:t>
            </a:r>
          </a:p>
        </p:txBody>
      </p:sp>
      <p:sp>
        <p:nvSpPr>
          <p:cNvPr id="71" name="source-topic-0">
            <a:extLst xmlns:a="http://schemas.openxmlformats.org/drawingml/2006/main">
              <a:ext uri="{FF2B5EF4-FFF2-40B4-BE49-F238E27FC236}">
                <a16:creationId xmlns:a16="http://schemas.microsoft.com/office/drawing/2014/main" id="{AE0FC075-0924-4BE8-BC4B-590EAB22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72000"/>
            <a:ext cx="3076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4"/>
                </a:solidFill>
              </a:defRPr>
            </a:pPr>
            <a:r>
              <a:rPr sz="788" b="0">
                <a:solidFill>
                  <a:srgbClr val="667084"/>
                </a:solidFill>
              </a:rPr>
              <a:t>understanding an insurance bill</a:t>
            </a:r>
          </a:p>
        </p:txBody>
      </p:sp>
      <p:sp>
        <p:nvSpPr>
          <p:cNvPr id="72" name="source-rule-0">
            <a:extLst xmlns:a="http://schemas.openxmlformats.org/drawingml/2006/main">
              <a:ext uri="{FF2B5EF4-FFF2-40B4-BE49-F238E27FC236}">
                <a16:creationId xmlns:a16="http://schemas.microsoft.com/office/drawing/2014/main" id="{01535243-A269-4D67-98E4-0D7044C7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91075"/>
            <a:ext cx="421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0D8"/>
            </a:solidFill>
            <a:prstDash val="solid"/>
          </a:ln>
        </p:spPr>
      </p:sp>
      <p:sp>
        <p:nvSpPr>
          <p:cNvPr id="73" name="source-tag-1">
            <a:extLst xmlns:a="http://schemas.openxmlformats.org/drawingml/2006/main">
              <a:ext uri="{FF2B5EF4-FFF2-40B4-BE49-F238E27FC236}">
                <a16:creationId xmlns:a16="http://schemas.microsoft.com/office/drawing/2014/main" id="{5A6E6248-51D4-438E-B904-FB2B37FE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672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95AC8"/>
                </a:solidFill>
              </a:defRPr>
            </a:pPr>
            <a:r>
              <a:rPr sz="788" b="1">
                <a:solidFill>
                  <a:srgbClr val="295AC8"/>
                </a:solidFill>
              </a:rPr>
              <a:t>[2]</a:t>
            </a:r>
          </a:p>
        </p:txBody>
      </p:sp>
      <p:sp>
        <p:nvSpPr>
          <p:cNvPr id="74" name="source-publisher-1">
            <a:extLst xmlns:a="http://schemas.openxmlformats.org/drawingml/2006/main">
              <a:ext uri="{FF2B5EF4-FFF2-40B4-BE49-F238E27FC236}">
                <a16:creationId xmlns:a16="http://schemas.microsoft.com/office/drawing/2014/main" id="{EEC163FC-BE28-41BA-B6BD-FA85A1F1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672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33"/>
                </a:solidFill>
              </a:defRPr>
            </a:pPr>
            <a:r>
              <a:rPr sz="863" b="1">
                <a:solidFill>
                  <a:srgbClr val="172033"/>
                </a:solidFill>
              </a:rPr>
              <a:t>CMS</a:t>
            </a:r>
          </a:p>
        </p:txBody>
      </p:sp>
      <p:sp>
        <p:nvSpPr>
          <p:cNvPr id="75" name="source-topic-1">
            <a:extLst xmlns:a="http://schemas.openxmlformats.org/drawingml/2006/main">
              <a:ext uri="{FF2B5EF4-FFF2-40B4-BE49-F238E27FC236}">
                <a16:creationId xmlns:a16="http://schemas.microsoft.com/office/drawing/2014/main" id="{2FCCBE6C-B739-4289-AF90-78FFB4D1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67275"/>
            <a:ext cx="3076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4"/>
                </a:solidFill>
              </a:defRPr>
            </a:pPr>
            <a:r>
              <a:rPr sz="788" b="0">
                <a:solidFill>
                  <a:srgbClr val="667084"/>
                </a:solidFill>
              </a:rPr>
              <a:t>No Surprises Act consumer rights</a:t>
            </a:r>
          </a:p>
        </p:txBody>
      </p:sp>
      <p:sp>
        <p:nvSpPr>
          <p:cNvPr id="76" name="source-rule-1">
            <a:extLst xmlns:a="http://schemas.openxmlformats.org/drawingml/2006/main">
              <a:ext uri="{FF2B5EF4-FFF2-40B4-BE49-F238E27FC236}">
                <a16:creationId xmlns:a16="http://schemas.microsoft.com/office/drawing/2014/main" id="{3CF24331-BACB-49DF-A148-9209AD7B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86350"/>
            <a:ext cx="421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0D8"/>
            </a:solidFill>
            <a:prstDash val="solid"/>
          </a:ln>
        </p:spPr>
      </p:sp>
      <p:sp>
        <p:nvSpPr>
          <p:cNvPr id="77" name="source-tag-2">
            <a:extLst xmlns:a="http://schemas.openxmlformats.org/drawingml/2006/main">
              <a:ext uri="{FF2B5EF4-FFF2-40B4-BE49-F238E27FC236}">
                <a16:creationId xmlns:a16="http://schemas.microsoft.com/office/drawing/2014/main" id="{2B60B098-5D93-409E-AD98-7D8A3E44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625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95AC8"/>
                </a:solidFill>
              </a:defRPr>
            </a:pPr>
            <a:r>
              <a:rPr sz="788" b="1">
                <a:solidFill>
                  <a:srgbClr val="295AC8"/>
                </a:solidFill>
              </a:rPr>
              <a:t>[3]</a:t>
            </a:r>
          </a:p>
        </p:txBody>
      </p:sp>
      <p:sp>
        <p:nvSpPr>
          <p:cNvPr id="78" name="source-publisher-2">
            <a:extLst xmlns:a="http://schemas.openxmlformats.org/drawingml/2006/main">
              <a:ext uri="{FF2B5EF4-FFF2-40B4-BE49-F238E27FC236}">
                <a16:creationId xmlns:a16="http://schemas.microsoft.com/office/drawing/2014/main" id="{C7FCFDDE-B55C-4541-BC7A-5274E501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625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33"/>
                </a:solidFill>
              </a:defRPr>
            </a:pPr>
            <a:r>
              <a:rPr sz="863" b="1">
                <a:solidFill>
                  <a:srgbClr val="172033"/>
                </a:solidFill>
              </a:rPr>
              <a:t>CFPB</a:t>
            </a:r>
          </a:p>
        </p:txBody>
      </p:sp>
      <p:sp>
        <p:nvSpPr>
          <p:cNvPr id="79" name="source-topic-2">
            <a:extLst xmlns:a="http://schemas.openxmlformats.org/drawingml/2006/main">
              <a:ext uri="{FF2B5EF4-FFF2-40B4-BE49-F238E27FC236}">
                <a16:creationId xmlns:a16="http://schemas.microsoft.com/office/drawing/2014/main" id="{0C8CD354-FBAD-4732-9D67-BDD1C0A5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62550"/>
            <a:ext cx="3076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4"/>
                </a:solidFill>
              </a:defRPr>
            </a:pPr>
            <a:r>
              <a:rPr sz="788" b="0">
                <a:solidFill>
                  <a:srgbClr val="667084"/>
                </a:solidFill>
              </a:rPr>
              <a:t>disputing a medical bill</a:t>
            </a:r>
          </a:p>
        </p:txBody>
      </p:sp>
      <p:sp>
        <p:nvSpPr>
          <p:cNvPr id="80" name="source-rule-2">
            <a:extLst xmlns:a="http://schemas.openxmlformats.org/drawingml/2006/main">
              <a:ext uri="{FF2B5EF4-FFF2-40B4-BE49-F238E27FC236}">
                <a16:creationId xmlns:a16="http://schemas.microsoft.com/office/drawing/2014/main" id="{B9274081-A114-4C8E-B9D2-8387F96B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81625"/>
            <a:ext cx="421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0D8"/>
            </a:solidFill>
            <a:prstDash val="solid"/>
          </a:ln>
        </p:spPr>
      </p:sp>
      <p:sp>
        <p:nvSpPr>
          <p:cNvPr id="81" name="live-contract">
            <a:extLst xmlns:a="http://schemas.openxmlformats.org/drawingml/2006/main">
              <a:ext uri="{FF2B5EF4-FFF2-40B4-BE49-F238E27FC236}">
                <a16:creationId xmlns:a16="http://schemas.microsoft.com/office/drawing/2014/main" id="{FD2863FA-14E2-4468-9435-F700A04E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534025"/>
            <a:ext cx="4762500" cy="523875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6F2F2"/>
          </a:solidFill>
          <a:ln xmlns:a="http://schemas.openxmlformats.org/drawingml/2006/main" w="9525">
            <a:solidFill>
              <a:srgbClr val="147B84"/>
            </a:solidFill>
            <a:prstDash val="solid"/>
          </a:ln>
        </p:spPr>
      </p:sp>
      <p:sp>
        <p:nvSpPr>
          <p:cNvPr id="82" name="live-title">
            <a:extLst xmlns:a="http://schemas.openxmlformats.org/drawingml/2006/main">
              <a:ext uri="{FF2B5EF4-FFF2-40B4-BE49-F238E27FC236}">
                <a16:creationId xmlns:a16="http://schemas.microsoft.com/office/drawing/2014/main" id="{4E84760D-5871-4370-9E5F-DEBA0B7B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619750"/>
            <a:ext cx="714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47B84"/>
                </a:solidFill>
              </a:defRPr>
            </a:pPr>
            <a:r>
              <a:rPr sz="750" b="1">
                <a:solidFill>
                  <a:srgbClr val="147B84"/>
                </a:solidFill>
              </a:rPr>
              <a:t>LIVE MODE</a:t>
            </a:r>
          </a:p>
        </p:txBody>
      </p:sp>
      <p:sp>
        <p:nvSpPr>
          <p:cNvPr id="83" name="live-copy">
            <a:extLst xmlns:a="http://schemas.openxmlformats.org/drawingml/2006/main">
              <a:ext uri="{FF2B5EF4-FFF2-40B4-BE49-F238E27FC236}">
                <a16:creationId xmlns:a16="http://schemas.microsoft.com/office/drawing/2014/main" id="{93A3A8F6-ACC6-494D-B241-609EA571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559117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33"/>
                </a:solidFill>
              </a:defRPr>
            </a:pPr>
            <a:r>
              <a:rPr sz="788" b="1">
                <a:solidFill>
                  <a:srgbClr val="172033"/>
                </a:solidFill>
              </a:rPr>
              <a:t>retrieve ≤6  →  usable source text  →  context-only answer</a:t>
            </a:r>
          </a:p>
        </p:txBody>
      </p:sp>
      <p:sp>
        <p:nvSpPr>
          <p:cNvPr id="84" name="live-refusal">
            <a:extLst xmlns:a="http://schemas.openxmlformats.org/drawingml/2006/main">
              <a:ext uri="{FF2B5EF4-FFF2-40B4-BE49-F238E27FC236}">
                <a16:creationId xmlns:a16="http://schemas.microsoft.com/office/drawing/2014/main" id="{F2631693-8FD9-4A3E-973B-11C19CFB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5791200"/>
            <a:ext cx="3619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B5453A"/>
                </a:solidFill>
              </a:defRPr>
            </a:pPr>
            <a:r>
              <a:rPr sz="788" b="1">
                <a:solidFill>
                  <a:srgbClr val="B5453A"/>
                </a:solidFill>
              </a:rPr>
              <a:t>no usable text  →  422 response before generation</a:t>
            </a:r>
          </a:p>
        </p:txBody>
      </p:sp>
      <p:sp>
        <p:nvSpPr>
          <p:cNvPr id="8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695A020-59AA-4EA5-A5CE-283A4D08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007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72033"/>
            </a:solidFill>
            <a:prstDash val="solid"/>
          </a:ln>
        </p:spPr>
      </p:sp>
      <p:sp>
        <p:nvSpPr>
          <p:cNvPr id="86" name="boundary">
            <a:extLst xmlns:a="http://schemas.openxmlformats.org/drawingml/2006/main">
              <a:ext uri="{FF2B5EF4-FFF2-40B4-BE49-F238E27FC236}">
                <a16:creationId xmlns:a16="http://schemas.microsoft.com/office/drawing/2014/main" id="{004D09EB-FC3D-401D-8AE8-49393908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5453A"/>
                </a:solidFill>
              </a:defRPr>
            </a:pPr>
            <a:r>
              <a:rPr sz="825" b="1">
                <a:solidFill>
                  <a:srgbClr val="B5453A"/>
                </a:solidFill>
              </a:rPr>
              <a:t>EVIDENCE BOUNDARY</a:t>
            </a:r>
          </a:p>
        </p:txBody>
      </p:sp>
      <p:sp>
        <p:nvSpPr>
          <p:cNvPr id="87" name="boundary-copy">
            <a:extLst xmlns:a="http://schemas.openxmlformats.org/drawingml/2006/main">
              <a:ext uri="{FF2B5EF4-FFF2-40B4-BE49-F238E27FC236}">
                <a16:creationId xmlns:a16="http://schemas.microsoft.com/office/drawing/2014/main" id="{85F1DDC5-B380-4BFD-89BB-DA7FE18B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6324600"/>
            <a:ext cx="9582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Fixture answer and sources are deterministic. No coverage, correctness, compliance, retrieval-quality, or financial-outcome claim.</a:t>
            </a:r>
          </a:p>
        </p:txBody>
      </p:sp>
      <p:sp>
        <p:nvSpPr>
          <p:cNvPr id="88" name="sources">
            <a:extLst xmlns:a="http://schemas.openxmlformats.org/drawingml/2006/main">
              <a:ext uri="{FF2B5EF4-FFF2-40B4-BE49-F238E27FC236}">
                <a16:creationId xmlns:a16="http://schemas.microsoft.com/office/drawing/2014/main" id="{C0EF042A-9CDC-40C0-9F06-03C95234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0"/>
            <a:ext cx="113919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67084"/>
                </a:solidFill>
              </a:defRPr>
            </a:pPr>
            <a:r>
              <a:rPr sz="713" b="0">
                <a:solidFill>
                  <a:srgbClr val="667084"/>
                </a:solidFill>
              </a:rPr>
              <a:t>Sources: app/page.tsx · app/data/demo.ts · app/lib/chat.ts · app/api/chat/route.ts</a:t>
            </a:r>
          </a:p>
        </p:txBody>
      </p:sp>
    </p:spTree>
    <p:extLst>
      <p:ext uri="{BB962C8B-B14F-4D97-AF65-F5344CB8AC3E}">
        <p14:creationId xmlns:p14="http://schemas.microsoft.com/office/powerpoint/2010/main" val="4382821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2026-07-21T06:59:01.2160000Z</dcterms:created>
  <dcterms:modified xsi:type="dcterms:W3CDTF">2026-07-21T06:59:01.2160000Z</dcterms:modified>
</coreProperties>
</file>