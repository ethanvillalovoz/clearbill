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0e9e86ddda54705" /><Relationship Type="http://schemas.openxmlformats.org/officeDocument/2006/relationships/extended-properties" Target="/docProps/app.xml" Id="R5430cd95a2f44864" /><Relationship Type="http://schemas.openxmlformats.org/officeDocument/2006/relationships/officeDocument" Target="/ppt/presentation.xml" Id="R335ce5550768498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b7cb13066a14ec3"/>
  </p:sldMasterIdLst>
  <p:notesMasterIdLst>
    <p:notesMasterId xmlns:r="http://schemas.openxmlformats.org/officeDocument/2006/relationships" r:id="R50c3a0c39377478a"/>
  </p:notesMasterIdLst>
  <p:sldIdLst>
    <p:sldId xmlns:r="http://schemas.openxmlformats.org/officeDocument/2006/relationships" id="256" r:id="R9946e955e2614fe7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477d1394aba4743" /><Relationship Type="http://schemas.openxmlformats.org/officeDocument/2006/relationships/slideMaster" Target="/ppt/slideMasters/slideMaster1.xml" Id="R4b7cb13066a14ec3" /><Relationship Type="http://schemas.openxmlformats.org/officeDocument/2006/relationships/notesMaster" Target="/ppt/notesMasters/notesMaster1.xml" Id="R50c3a0c39377478a" /><Relationship Type="http://schemas.openxmlformats.org/officeDocument/2006/relationships/presProps" Target="/ppt/presProps.xml" Id="Rc2b9a11f62d049b3" /><Relationship Type="http://schemas.openxmlformats.org/officeDocument/2006/relationships/tableStyles" Target="/ppt/tableStyles.xml" Id="R40131b520f7c46e2" /><Relationship Type="http://schemas.openxmlformats.org/officeDocument/2006/relationships/slide" Target="/ppt/slides/slide1.xml" Id="R9946e955e2614fe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13e7c911a0e429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0444d9a19e64db0" /><Relationship Type="http://schemas.openxmlformats.org/officeDocument/2006/relationships/notesMaster" Target="/ppt/notesMasters/notesMaster1.xml" Id="R80ff3c4f32294d8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b0e0fcc580a4bc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256529dfbe14e86" /><Relationship Type="http://schemas.openxmlformats.org/officeDocument/2006/relationships/slideLayout" Target="/ppt/slideLayouts/slideLayout1.xml" Id="Rc7d3f55b8bc5447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7d3f55b8bc5447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baa45b02864484" /><Relationship Type="http://schemas.openxmlformats.org/officeDocument/2006/relationships/notesSlide" Target="/ppt/notesSlides/notesSlide1.xml" Id="R1984ef878a18499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2F6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4" name="title">
            <a:extLst xmlns:a="http://schemas.openxmlformats.org/drawingml/2006/main">
              <a:ext uri="{FF2B5EF4-FFF2-40B4-BE49-F238E27FC236}">
                <a16:creationId xmlns:a16="http://schemas.microsoft.com/office/drawing/2014/main" id="{C19144F4-9D12-4AE3-A9C6-399A06C40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9550"/>
            <a:ext cx="11391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5213B"/>
                </a:solidFill>
              </a:defRPr>
            </a:pPr>
            <a:r>
              <a:rPr sz="2325" b="1">
                <a:solidFill>
                  <a:srgbClr val="15213B"/>
                </a:solidFill>
              </a:rPr>
              <a:t>ClearBill separates corpus construction from grounded question answering</a:t>
            </a:r>
          </a:p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055402AF-47A4-4E97-B4C3-3A02663E3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57225"/>
            <a:ext cx="113919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63" b="0">
                <a:solidFill>
                  <a:srgbClr val="63708A"/>
                </a:solidFill>
              </a:defRPr>
            </a:pPr>
            <a:r>
              <a:rPr sz="1163" b="0">
                <a:solidFill>
                  <a:srgbClr val="63708A"/>
                </a:solidFill>
              </a:rPr>
              <a:t>The same MiniLM embedding model connects an offline public-guidance index to an online retrieve → refuse-or-generate RAG path.</a:t>
            </a:r>
          </a:p>
        </p:txBody>
      </p:sp>
      <p:sp>
        <p:nvSpPr>
          <p:cNvPr id="3" name="header-rule">
            <a:extLst xmlns:a="http://schemas.openxmlformats.org/drawingml/2006/main">
              <a:ext uri="{FF2B5EF4-FFF2-40B4-BE49-F238E27FC236}">
                <a16:creationId xmlns:a16="http://schemas.microsoft.com/office/drawing/2014/main" id="{AD65876F-5FE1-4750-816D-04988B35B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02870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15213B"/>
            </a:solidFill>
            <a:prstDash val="solid"/>
          </a:ln>
        </p:spPr>
      </p:sp>
      <p:sp>
        <p:nvSpPr>
          <p:cNvPr id="4" name="offline-lane">
            <a:extLst xmlns:a="http://schemas.openxmlformats.org/drawingml/2006/main">
              <a:ext uri="{FF2B5EF4-FFF2-40B4-BE49-F238E27FC236}">
                <a16:creationId xmlns:a16="http://schemas.microsoft.com/office/drawing/2014/main" id="{97CE629D-5FB2-48ED-8480-7CF89F55F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76350"/>
            <a:ext cx="11391900" cy="15240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165DFF"/>
            </a:solidFill>
            <a:prstDash val="solid"/>
          </a:ln>
        </p:spPr>
      </p:sp>
      <p:sp>
        <p:nvSpPr>
          <p:cNvPr id="5" name="offline-label">
            <a:extLst xmlns:a="http://schemas.openxmlformats.org/drawingml/2006/main">
              <a:ext uri="{FF2B5EF4-FFF2-40B4-BE49-F238E27FC236}">
                <a16:creationId xmlns:a16="http://schemas.microsoft.com/office/drawing/2014/main" id="{B171F3A7-5152-4F9A-AD8C-B227B9E3C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097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165DFF"/>
                </a:solidFill>
              </a:defRPr>
            </a:pPr>
            <a:r>
              <a:rPr sz="863" b="1">
                <a:solidFill>
                  <a:srgbClr val="165DFF"/>
                </a:solidFill>
              </a:rPr>
              <a:t>OFFLINE CORPUS CONSTRUCTION · npm run seed</a:t>
            </a:r>
          </a:p>
        </p:txBody>
      </p:sp>
      <p:sp>
        <p:nvSpPr>
          <p:cNvPr id="6" name="online-lane">
            <a:extLst xmlns:a="http://schemas.openxmlformats.org/drawingml/2006/main">
              <a:ext uri="{FF2B5EF4-FFF2-40B4-BE49-F238E27FC236}">
                <a16:creationId xmlns:a16="http://schemas.microsoft.com/office/drawing/2014/main" id="{74C2572C-396A-4725-ACE2-F36DD681D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86100"/>
            <a:ext cx="11391900" cy="2247900"/>
          </a:xfrm>
          <a:prstGeom xmlns:a="http://schemas.openxmlformats.org/drawingml/2006/main" prst="roundRect">
            <a:avLst>
              <a:gd name="adj" fmla="val 423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7137A8"/>
            </a:solidFill>
            <a:prstDash val="solid"/>
          </a:ln>
        </p:spPr>
      </p:sp>
      <p:sp>
        <p:nvSpPr>
          <p:cNvPr id="7" name="online-label">
            <a:extLst xmlns:a="http://schemas.openxmlformats.org/drawingml/2006/main">
              <a:ext uri="{FF2B5EF4-FFF2-40B4-BE49-F238E27FC236}">
                <a16:creationId xmlns:a16="http://schemas.microsoft.com/office/drawing/2014/main" id="{2258D680-A1E8-4267-93AE-F7A9028CD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19450"/>
            <a:ext cx="361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7137A8"/>
                </a:solidFill>
              </a:defRPr>
            </a:pPr>
            <a:r>
              <a:rPr sz="863" b="1">
                <a:solidFill>
                  <a:srgbClr val="7137A8"/>
                </a:solidFill>
              </a:rPr>
              <a:t>ONLINE QUESTION ANSWERING · POST /api/chat</a:t>
            </a:r>
          </a:p>
        </p:txBody>
      </p:sp>
      <p:sp>
        <p:nvSpPr>
          <p:cNvPr id="8" name="urls-frame">
            <a:extLst xmlns:a="http://schemas.openxmlformats.org/drawingml/2006/main">
              <a:ext uri="{FF2B5EF4-FFF2-40B4-BE49-F238E27FC236}">
                <a16:creationId xmlns:a16="http://schemas.microsoft.com/office/drawing/2014/main" id="{28B9EB55-EA69-4CA3-BA2E-C8DBD12AB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95450"/>
            <a:ext cx="1009650" cy="781050"/>
          </a:xfrm>
          <a:prstGeom xmlns:a="http://schemas.openxmlformats.org/drawingml/2006/main" prst="roundRect">
            <a:avLst>
              <a:gd name="adj" fmla="val 8537"/>
            </a:avLst>
          </a:prstGeom>
          <a:solidFill xmlns:a="http://schemas.openxmlformats.org/drawingml/2006/main">
            <a:srgbClr val="E6EEFF"/>
          </a:solidFill>
          <a:ln xmlns:a="http://schemas.openxmlformats.org/drawingml/2006/main" w="10478">
            <a:solidFill>
              <a:srgbClr val="165DFF"/>
            </a:solidFill>
            <a:prstDash val="solid"/>
          </a:ln>
        </p:spPr>
      </p:sp>
      <p:sp>
        <p:nvSpPr>
          <p:cNvPr id="9" name="urls-eyebrow">
            <a:extLst xmlns:a="http://schemas.openxmlformats.org/drawingml/2006/main">
              <a:ext uri="{FF2B5EF4-FFF2-40B4-BE49-F238E27FC236}">
                <a16:creationId xmlns:a16="http://schemas.microsoft.com/office/drawing/2014/main" id="{37FD4C77-2D85-4071-B3CD-23D045698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90700"/>
            <a:ext cx="7810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90" b="1">
                <a:solidFill>
                  <a:srgbClr val="165DFF"/>
                </a:solidFill>
              </a:defRPr>
            </a:pPr>
            <a:r>
              <a:rPr sz="690" b="1">
                <a:solidFill>
                  <a:srgbClr val="165DFF"/>
                </a:solidFill>
              </a:rPr>
              <a:t>INPUT</a:t>
            </a:r>
          </a:p>
        </p:txBody>
      </p:sp>
      <p:sp>
        <p:nvSpPr>
          <p:cNvPr id="10" name="urls-title">
            <a:extLst xmlns:a="http://schemas.openxmlformats.org/drawingml/2006/main">
              <a:ext uri="{FF2B5EF4-FFF2-40B4-BE49-F238E27FC236}">
                <a16:creationId xmlns:a16="http://schemas.microsoft.com/office/drawing/2014/main" id="{B2B30B11-8F16-4B46-A7F1-FF6EC1B2C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990725"/>
            <a:ext cx="8191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63" b="1">
                <a:solidFill>
                  <a:srgbClr val="15213B"/>
                </a:solidFill>
              </a:defRPr>
            </a:pPr>
            <a:r>
              <a:rPr sz="863" b="1">
                <a:solidFill>
                  <a:srgbClr val="15213B"/>
                </a:solidFill>
              </a:rPr>
              <a:t>18 public</a:t>
            </a:r>
          </a:p>
          <a:p xmlns:a="http://schemas.openxmlformats.org/drawingml/2006/main">
            <a:pPr algn="ctr">
              <a:defRPr sz="863" b="1">
                <a:solidFill>
                  <a:srgbClr val="15213B"/>
                </a:solidFill>
              </a:defRPr>
            </a:pPr>
            <a:r>
              <a:rPr sz="863" b="1">
                <a:solidFill>
                  <a:srgbClr val="15213B"/>
                </a:solidFill>
              </a:rPr>
              <a:t>guidance URLs</a:t>
            </a:r>
          </a:p>
        </p:txBody>
      </p:sp>
      <p:sp>
        <p:nvSpPr>
          <p:cNvPr id="11" name="browser-frame">
            <a:extLst xmlns:a="http://schemas.openxmlformats.org/drawingml/2006/main">
              <a:ext uri="{FF2B5EF4-FFF2-40B4-BE49-F238E27FC236}">
                <a16:creationId xmlns:a16="http://schemas.microsoft.com/office/drawing/2014/main" id="{DD3BB224-0A6A-4AB0-8C4A-963E9DD63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1695450"/>
            <a:ext cx="1200150" cy="781050"/>
          </a:xfrm>
          <a:prstGeom xmlns:a="http://schemas.openxmlformats.org/drawingml/2006/main" prst="roundRect">
            <a:avLst>
              <a:gd name="adj" fmla="val 853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102A56"/>
            </a:solidFill>
            <a:prstDash val="solid"/>
          </a:ln>
        </p:spPr>
      </p:sp>
      <p:sp>
        <p:nvSpPr>
          <p:cNvPr id="12" name="browser-eyebrow">
            <a:extLst xmlns:a="http://schemas.openxmlformats.org/drawingml/2006/main">
              <a:ext uri="{FF2B5EF4-FFF2-40B4-BE49-F238E27FC236}">
                <a16:creationId xmlns:a16="http://schemas.microsoft.com/office/drawing/2014/main" id="{8685A099-6C5F-4902-99CB-72FD699A0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1790700"/>
            <a:ext cx="9715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90" b="1">
                <a:solidFill>
                  <a:srgbClr val="102A56"/>
                </a:solidFill>
              </a:defRPr>
            </a:pPr>
            <a:r>
              <a:rPr sz="690" b="1">
                <a:solidFill>
                  <a:srgbClr val="102A56"/>
                </a:solidFill>
              </a:rPr>
              <a:t>EXTRACT</a:t>
            </a:r>
          </a:p>
        </p:txBody>
      </p:sp>
      <p:sp>
        <p:nvSpPr>
          <p:cNvPr id="13" name="browser-title">
            <a:extLst xmlns:a="http://schemas.openxmlformats.org/drawingml/2006/main">
              <a:ext uri="{FF2B5EF4-FFF2-40B4-BE49-F238E27FC236}">
                <a16:creationId xmlns:a16="http://schemas.microsoft.com/office/drawing/2014/main" id="{C0437CBE-A56C-45B3-B9FB-537F80C54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1990725"/>
            <a:ext cx="10096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63" b="1">
                <a:solidFill>
                  <a:srgbClr val="15213B"/>
                </a:solidFill>
              </a:defRPr>
            </a:pPr>
            <a:r>
              <a:rPr sz="863" b="1">
                <a:solidFill>
                  <a:srgbClr val="15213B"/>
                </a:solidFill>
              </a:rPr>
              <a:t>Puppeteer</a:t>
            </a:r>
          </a:p>
        </p:txBody>
      </p:sp>
      <p:sp>
        <p:nvSpPr>
          <p:cNvPr id="14" name="browser-note">
            <a:extLst xmlns:a="http://schemas.openxmlformats.org/drawingml/2006/main">
              <a:ext uri="{FF2B5EF4-FFF2-40B4-BE49-F238E27FC236}">
                <a16:creationId xmlns:a16="http://schemas.microsoft.com/office/drawing/2014/main" id="{E0665230-0F91-4BE4-AF4D-813A3F661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4525" y="2247900"/>
            <a:ext cx="10287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60" b="0">
                <a:solidFill>
                  <a:srgbClr val="63708A"/>
                </a:solidFill>
              </a:defRPr>
            </a:pPr>
            <a:r>
              <a:rPr sz="660" b="0">
                <a:solidFill>
                  <a:srgbClr val="63708A"/>
                </a:solidFill>
              </a:rPr>
              <a:t>one browser session</a:t>
            </a:r>
          </a:p>
        </p:txBody>
      </p:sp>
      <p:sp>
        <p:nvSpPr>
          <p:cNvPr id="15" name="chunk-frame">
            <a:extLst xmlns:a="http://schemas.openxmlformats.org/drawingml/2006/main">
              <a:ext uri="{FF2B5EF4-FFF2-40B4-BE49-F238E27FC236}">
                <a16:creationId xmlns:a16="http://schemas.microsoft.com/office/drawing/2014/main" id="{A812C75F-831C-4583-80B5-A9AB690B7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1695450"/>
            <a:ext cx="1257300" cy="781050"/>
          </a:xfrm>
          <a:prstGeom xmlns:a="http://schemas.openxmlformats.org/drawingml/2006/main" prst="roundRect">
            <a:avLst>
              <a:gd name="adj" fmla="val 853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102A56"/>
            </a:solidFill>
            <a:prstDash val="solid"/>
          </a:ln>
        </p:spPr>
      </p:sp>
      <p:sp>
        <p:nvSpPr>
          <p:cNvPr id="16" name="chunk-eyebrow">
            <a:extLst xmlns:a="http://schemas.openxmlformats.org/drawingml/2006/main">
              <a:ext uri="{FF2B5EF4-FFF2-40B4-BE49-F238E27FC236}">
                <a16:creationId xmlns:a16="http://schemas.microsoft.com/office/drawing/2014/main" id="{DB8C3752-CF8A-441F-AD55-F0EAA4E9F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1790700"/>
            <a:ext cx="10287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90" b="1">
                <a:solidFill>
                  <a:srgbClr val="102A56"/>
                </a:solidFill>
              </a:defRPr>
            </a:pPr>
            <a:r>
              <a:rPr sz="690" b="1">
                <a:solidFill>
                  <a:srgbClr val="102A56"/>
                </a:solidFill>
              </a:rPr>
              <a:t>TRANSFORM</a:t>
            </a:r>
          </a:p>
        </p:txBody>
      </p:sp>
      <p:sp>
        <p:nvSpPr>
          <p:cNvPr id="17" name="chunk-title">
            <a:extLst xmlns:a="http://schemas.openxmlformats.org/drawingml/2006/main">
              <a:ext uri="{FF2B5EF4-FFF2-40B4-BE49-F238E27FC236}">
                <a16:creationId xmlns:a16="http://schemas.microsoft.com/office/drawing/2014/main" id="{D58D8FC5-51D9-438F-A298-F219CF239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1990725"/>
            <a:ext cx="1066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63" b="1">
                <a:solidFill>
                  <a:srgbClr val="15213B"/>
                </a:solidFill>
              </a:defRPr>
            </a:pPr>
            <a:r>
              <a:rPr sz="863" b="1">
                <a:solidFill>
                  <a:srgbClr val="15213B"/>
                </a:solidFill>
              </a:rPr>
              <a:t>normalize +</a:t>
            </a:r>
          </a:p>
          <a:p xmlns:a="http://schemas.openxmlformats.org/drawingml/2006/main">
            <a:pPr algn="ctr">
              <a:defRPr sz="863" b="1">
                <a:solidFill>
                  <a:srgbClr val="15213B"/>
                </a:solidFill>
              </a:defRPr>
            </a:pPr>
            <a:r>
              <a:rPr sz="863" b="1">
                <a:solidFill>
                  <a:srgbClr val="15213B"/>
                </a:solidFill>
              </a:rPr>
              <a:t>chunk</a:t>
            </a:r>
          </a:p>
        </p:txBody>
      </p:sp>
      <p:sp>
        <p:nvSpPr>
          <p:cNvPr id="18" name="chunk-note">
            <a:extLst xmlns:a="http://schemas.openxmlformats.org/drawingml/2006/main">
              <a:ext uri="{FF2B5EF4-FFF2-40B4-BE49-F238E27FC236}">
                <a16:creationId xmlns:a16="http://schemas.microsoft.com/office/drawing/2014/main" id="{8291BB1E-CA10-4D6E-8872-1D4BF3972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2247900"/>
            <a:ext cx="10858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60" b="0">
                <a:solidFill>
                  <a:srgbClr val="63708A"/>
                </a:solidFill>
              </a:defRPr>
            </a:pPr>
            <a:r>
              <a:rPr sz="660" b="0">
                <a:solidFill>
                  <a:srgbClr val="63708A"/>
                </a:solidFill>
              </a:rPr>
              <a:t>512 · overlap 100</a:t>
            </a:r>
          </a:p>
        </p:txBody>
      </p:sp>
      <p:sp>
        <p:nvSpPr>
          <p:cNvPr id="19" name="corpus-embed-frame">
            <a:extLst xmlns:a="http://schemas.openxmlformats.org/drawingml/2006/main">
              <a:ext uri="{FF2B5EF4-FFF2-40B4-BE49-F238E27FC236}">
                <a16:creationId xmlns:a16="http://schemas.microsoft.com/office/drawing/2014/main" id="{25D0D21D-0AF3-4CA5-9278-74362324B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695450"/>
            <a:ext cx="1276350" cy="781050"/>
          </a:xfrm>
          <a:prstGeom xmlns:a="http://schemas.openxmlformats.org/drawingml/2006/main" prst="roundRect">
            <a:avLst>
              <a:gd name="adj" fmla="val 8537"/>
            </a:avLst>
          </a:prstGeom>
          <a:solidFill xmlns:a="http://schemas.openxmlformats.org/drawingml/2006/main">
            <a:srgbClr val="E3F1F4"/>
          </a:solidFill>
          <a:ln xmlns:a="http://schemas.openxmlformats.org/drawingml/2006/main" w="10478">
            <a:solidFill>
              <a:srgbClr val="267C91"/>
            </a:solidFill>
            <a:prstDash val="solid"/>
          </a:ln>
        </p:spPr>
      </p:sp>
      <p:sp>
        <p:nvSpPr>
          <p:cNvPr id="20" name="corpus-embed-eyebrow">
            <a:extLst xmlns:a="http://schemas.openxmlformats.org/drawingml/2006/main">
              <a:ext uri="{FF2B5EF4-FFF2-40B4-BE49-F238E27FC236}">
                <a16:creationId xmlns:a16="http://schemas.microsoft.com/office/drawing/2014/main" id="{69991B3E-4B49-45AD-A09D-DCF87858A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1790700"/>
            <a:ext cx="10477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90" b="1">
                <a:solidFill>
                  <a:srgbClr val="267C91"/>
                </a:solidFill>
              </a:defRPr>
            </a:pPr>
            <a:r>
              <a:rPr sz="690" b="1">
                <a:solidFill>
                  <a:srgbClr val="267C91"/>
                </a:solidFill>
              </a:rPr>
              <a:t>ENCODE</a:t>
            </a:r>
          </a:p>
        </p:txBody>
      </p:sp>
      <p:sp>
        <p:nvSpPr>
          <p:cNvPr id="21" name="corpus-embed-title">
            <a:extLst xmlns:a="http://schemas.openxmlformats.org/drawingml/2006/main">
              <a:ext uri="{FF2B5EF4-FFF2-40B4-BE49-F238E27FC236}">
                <a16:creationId xmlns:a16="http://schemas.microsoft.com/office/drawing/2014/main" id="{779A090B-6FA7-46A2-BA1D-89E7E6664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1990725"/>
            <a:ext cx="10858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63" b="1">
                <a:solidFill>
                  <a:srgbClr val="15213B"/>
                </a:solidFill>
              </a:defRPr>
            </a:pPr>
            <a:r>
              <a:rPr sz="863" b="1">
                <a:solidFill>
                  <a:srgbClr val="15213B"/>
                </a:solidFill>
              </a:rPr>
              <a:t>MiniLM-L6-v2</a:t>
            </a:r>
          </a:p>
        </p:txBody>
      </p:sp>
      <p:sp>
        <p:nvSpPr>
          <p:cNvPr id="22" name="corpus-embed-note">
            <a:extLst xmlns:a="http://schemas.openxmlformats.org/drawingml/2006/main">
              <a:ext uri="{FF2B5EF4-FFF2-40B4-BE49-F238E27FC236}">
                <a16:creationId xmlns:a16="http://schemas.microsoft.com/office/drawing/2014/main" id="{74004574-0BB0-4B7B-8719-19528CA22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2247900"/>
            <a:ext cx="11049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60" b="0">
                <a:solidFill>
                  <a:srgbClr val="63708A"/>
                </a:solidFill>
              </a:defRPr>
            </a:pPr>
            <a:r>
              <a:rPr sz="660" b="0">
                <a:solidFill>
                  <a:srgbClr val="63708A"/>
                </a:solidFill>
              </a:rPr>
              <a:t>384-D normalized</a:t>
            </a:r>
          </a:p>
        </p:txBody>
      </p:sp>
      <p:sp>
        <p:nvSpPr>
          <p:cNvPr id="23" name="astra-frame">
            <a:extLst xmlns:a="http://schemas.openxmlformats.org/drawingml/2006/main">
              <a:ext uri="{FF2B5EF4-FFF2-40B4-BE49-F238E27FC236}">
                <a16:creationId xmlns:a16="http://schemas.microsoft.com/office/drawing/2014/main" id="{E51B6E2F-3ABD-41EA-AC9F-700C91D22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581150"/>
            <a:ext cx="1466850" cy="3009900"/>
          </a:xfrm>
          <a:prstGeom xmlns:a="http://schemas.openxmlformats.org/drawingml/2006/main" prst="roundRect">
            <a:avLst>
              <a:gd name="adj" fmla="val 6494"/>
            </a:avLst>
          </a:prstGeom>
          <a:solidFill xmlns:a="http://schemas.openxmlformats.org/drawingml/2006/main">
            <a:srgbClr val="FFF0A8"/>
          </a:solidFill>
          <a:ln xmlns:a="http://schemas.openxmlformats.org/drawingml/2006/main" w="13335">
            <a:solidFill>
              <a:srgbClr val="9B6200"/>
            </a:solidFill>
            <a:prstDash val="solid"/>
          </a:ln>
        </p:spPr>
      </p:sp>
      <p:sp>
        <p:nvSpPr>
          <p:cNvPr id="24" name="astra-eyebrow">
            <a:extLst xmlns:a="http://schemas.openxmlformats.org/drawingml/2006/main">
              <a:ext uri="{FF2B5EF4-FFF2-40B4-BE49-F238E27FC236}">
                <a16:creationId xmlns:a16="http://schemas.microsoft.com/office/drawing/2014/main" id="{6AAC4201-2F90-40C9-A7BD-9D0480F2D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724025"/>
            <a:ext cx="1200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13" b="1">
                <a:solidFill>
                  <a:srgbClr val="9B6200"/>
                </a:solidFill>
              </a:defRPr>
            </a:pPr>
            <a:r>
              <a:rPr sz="713" b="1">
                <a:solidFill>
                  <a:srgbClr val="9B6200"/>
                </a:solidFill>
              </a:rPr>
              <a:t>SHARED RETRIEVAL STATE</a:t>
            </a:r>
          </a:p>
        </p:txBody>
      </p:sp>
      <p:sp>
        <p:nvSpPr>
          <p:cNvPr id="25" name="astra-title">
            <a:extLst xmlns:a="http://schemas.openxmlformats.org/drawingml/2006/main">
              <a:ext uri="{FF2B5EF4-FFF2-40B4-BE49-F238E27FC236}">
                <a16:creationId xmlns:a16="http://schemas.microsoft.com/office/drawing/2014/main" id="{DC96B5BD-3579-4BD1-8EDC-50EEBF400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171700"/>
            <a:ext cx="1200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02A56"/>
                </a:solidFill>
              </a:defRPr>
            </a:pPr>
            <a:r>
              <a:rPr sz="1350" b="1">
                <a:solidFill>
                  <a:srgbClr val="102A56"/>
                </a:solidFill>
              </a:rPr>
              <a:t>Astra DB</a:t>
            </a:r>
          </a:p>
        </p:txBody>
      </p:sp>
      <p:sp>
        <p:nvSpPr>
          <p:cNvPr id="26" name="astra-collection">
            <a:extLst xmlns:a="http://schemas.openxmlformats.org/drawingml/2006/main">
              <a:ext uri="{FF2B5EF4-FFF2-40B4-BE49-F238E27FC236}">
                <a16:creationId xmlns:a16="http://schemas.microsoft.com/office/drawing/2014/main" id="{B6BC129A-C857-4D8C-9767-36A63CF94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476500"/>
            <a:ext cx="120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63" b="1">
                <a:solidFill>
                  <a:srgbClr val="15213B"/>
                </a:solidFill>
              </a:defRPr>
            </a:pPr>
            <a:r>
              <a:rPr sz="863" b="1">
                <a:solidFill>
                  <a:srgbClr val="15213B"/>
                </a:solidFill>
              </a:rPr>
              <a:t>vector collection</a:t>
            </a:r>
          </a:p>
        </p:txBody>
      </p:sp>
      <p:sp>
        <p:nvSpPr>
          <p:cNvPr id="27" name="astra-rule">
            <a:extLst xmlns:a="http://schemas.openxmlformats.org/drawingml/2006/main">
              <a:ext uri="{FF2B5EF4-FFF2-40B4-BE49-F238E27FC236}">
                <a16:creationId xmlns:a16="http://schemas.microsoft.com/office/drawing/2014/main" id="{07F1CA92-6325-40CB-B947-5C59CDAFF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876550"/>
            <a:ext cx="1085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B6200"/>
            </a:solidFill>
            <a:prstDash val="solid"/>
          </a:ln>
        </p:spPr>
      </p:sp>
      <p:sp>
        <p:nvSpPr>
          <p:cNvPr id="28" name="astra-offline">
            <a:extLst xmlns:a="http://schemas.openxmlformats.org/drawingml/2006/main">
              <a:ext uri="{FF2B5EF4-FFF2-40B4-BE49-F238E27FC236}">
                <a16:creationId xmlns:a16="http://schemas.microsoft.com/office/drawing/2014/main" id="{D987E7FA-DA07-4CAC-A1E7-4A499D5CF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067050"/>
            <a:ext cx="1200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88" b="0">
                <a:solidFill>
                  <a:srgbClr val="15213B"/>
                </a:solidFill>
              </a:defRPr>
            </a:pPr>
            <a:r>
              <a:rPr sz="788" b="0">
                <a:solidFill>
                  <a:srgbClr val="15213B"/>
                </a:solidFill>
              </a:rPr>
              <a:t>insert chunks</a:t>
            </a:r>
          </a:p>
          <a:p xmlns:a="http://schemas.openxmlformats.org/drawingml/2006/main">
            <a:pPr algn="ctr">
              <a:defRPr sz="788" b="0">
                <a:solidFill>
                  <a:srgbClr val="15213B"/>
                </a:solidFill>
              </a:defRPr>
            </a:pPr>
            <a:r>
              <a:rPr sz="788" b="0">
                <a:solidFill>
                  <a:srgbClr val="15213B"/>
                </a:solidFill>
              </a:rPr>
              <a:t>+ source metadata</a:t>
            </a:r>
          </a:p>
        </p:txBody>
      </p:sp>
      <p:sp>
        <p:nvSpPr>
          <p:cNvPr id="29" name="astra-online">
            <a:extLst xmlns:a="http://schemas.openxmlformats.org/drawingml/2006/main">
              <a:ext uri="{FF2B5EF4-FFF2-40B4-BE49-F238E27FC236}">
                <a16:creationId xmlns:a16="http://schemas.microsoft.com/office/drawing/2014/main" id="{E8CEF1B8-1D3E-4E7D-9E3D-06536FF48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790950"/>
            <a:ext cx="1200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88" b="0">
                <a:solidFill>
                  <a:srgbClr val="15213B"/>
                </a:solidFill>
              </a:defRPr>
            </a:pPr>
            <a:r>
              <a:rPr sz="788" b="0">
                <a:solidFill>
                  <a:srgbClr val="15213B"/>
                </a:solidFill>
              </a:rPr>
              <a:t>$vector query</a:t>
            </a:r>
          </a:p>
          <a:p xmlns:a="http://schemas.openxmlformats.org/drawingml/2006/main">
            <a:pPr algn="ctr">
              <a:defRPr sz="788" b="0">
                <a:solidFill>
                  <a:srgbClr val="15213B"/>
                </a:solidFill>
              </a:defRPr>
            </a:pPr>
            <a:r>
              <a:rPr sz="788" b="0">
                <a:solidFill>
                  <a:srgbClr val="15213B"/>
                </a:solidFill>
              </a:rPr>
              <a:t>dot-product top-k</a:t>
            </a:r>
          </a:p>
        </p:txBody>
      </p:sp>
      <p:sp>
        <p:nvSpPr>
          <p:cNvPr id="30" name="astra-cred">
            <a:extLst xmlns:a="http://schemas.openxmlformats.org/drawingml/2006/main">
              <a:ext uri="{FF2B5EF4-FFF2-40B4-BE49-F238E27FC236}">
                <a16:creationId xmlns:a16="http://schemas.microsoft.com/office/drawing/2014/main" id="{015A9924-8B5C-4A84-936B-C0374856B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314825"/>
            <a:ext cx="1200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13" b="0">
                <a:solidFill>
                  <a:srgbClr val="63708A"/>
                </a:solidFill>
              </a:defRPr>
            </a:pPr>
            <a:r>
              <a:rPr sz="713" b="0">
                <a:solidFill>
                  <a:srgbClr val="63708A"/>
                </a:solidFill>
              </a:rPr>
              <a:t>server-side token</a:t>
            </a:r>
          </a:p>
        </p:txBody>
      </p:sp>
      <p:sp>
        <p:nvSpPr>
          <p:cNvPr id="31" name="question-frame">
            <a:extLst xmlns:a="http://schemas.openxmlformats.org/drawingml/2006/main">
              <a:ext uri="{FF2B5EF4-FFF2-40B4-BE49-F238E27FC236}">
                <a16:creationId xmlns:a16="http://schemas.microsoft.com/office/drawing/2014/main" id="{CAE279AF-E4EA-414A-AC32-DB276B87B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590925"/>
            <a:ext cx="904875" cy="781050"/>
          </a:xfrm>
          <a:prstGeom xmlns:a="http://schemas.openxmlformats.org/drawingml/2006/main" prst="roundRect">
            <a:avLst>
              <a:gd name="adj" fmla="val 8537"/>
            </a:avLst>
          </a:prstGeom>
          <a:solidFill xmlns:a="http://schemas.openxmlformats.org/drawingml/2006/main">
            <a:srgbClr val="F0E8F7"/>
          </a:solidFill>
          <a:ln xmlns:a="http://schemas.openxmlformats.org/drawingml/2006/main" w="10478">
            <a:solidFill>
              <a:srgbClr val="7137A8"/>
            </a:solidFill>
            <a:prstDash val="solid"/>
          </a:ln>
        </p:spPr>
      </p:sp>
      <p:sp>
        <p:nvSpPr>
          <p:cNvPr id="32" name="question-eyebrow">
            <a:extLst xmlns:a="http://schemas.openxmlformats.org/drawingml/2006/main">
              <a:ext uri="{FF2B5EF4-FFF2-40B4-BE49-F238E27FC236}">
                <a16:creationId xmlns:a16="http://schemas.microsoft.com/office/drawing/2014/main" id="{E7CD159B-8229-4DB5-A569-D71D78081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86175"/>
            <a:ext cx="676275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90" b="1">
                <a:solidFill>
                  <a:srgbClr val="7137A8"/>
                </a:solidFill>
              </a:defRPr>
            </a:pPr>
            <a:r>
              <a:rPr sz="690" b="1">
                <a:solidFill>
                  <a:srgbClr val="7137A8"/>
                </a:solidFill>
              </a:rPr>
              <a:t>BROWSER</a:t>
            </a:r>
          </a:p>
        </p:txBody>
      </p:sp>
      <p:sp>
        <p:nvSpPr>
          <p:cNvPr id="33" name="question-title">
            <a:extLst xmlns:a="http://schemas.openxmlformats.org/drawingml/2006/main">
              <a:ext uri="{FF2B5EF4-FFF2-40B4-BE49-F238E27FC236}">
                <a16:creationId xmlns:a16="http://schemas.microsoft.com/office/drawing/2014/main" id="{A0C7B077-4416-4C36-9F32-6EF46723B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886200"/>
            <a:ext cx="714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63" b="1">
                <a:solidFill>
                  <a:srgbClr val="15213B"/>
                </a:solidFill>
              </a:defRPr>
            </a:pPr>
            <a:r>
              <a:rPr sz="863" b="1">
                <a:solidFill>
                  <a:srgbClr val="15213B"/>
                </a:solidFill>
              </a:rPr>
              <a:t>question</a:t>
            </a:r>
          </a:p>
        </p:txBody>
      </p:sp>
      <p:sp>
        <p:nvSpPr>
          <p:cNvPr id="34" name="question-note">
            <a:extLst xmlns:a="http://schemas.openxmlformats.org/drawingml/2006/main">
              <a:ext uri="{FF2B5EF4-FFF2-40B4-BE49-F238E27FC236}">
                <a16:creationId xmlns:a16="http://schemas.microsoft.com/office/drawing/2014/main" id="{3FC4B427-BC8C-41CD-8763-8EDFB4EF7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143375"/>
            <a:ext cx="733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60" b="0">
                <a:solidFill>
                  <a:srgbClr val="63708A"/>
                </a:solidFill>
              </a:defRPr>
            </a:pPr>
            <a:r>
              <a:rPr sz="660" b="0">
                <a:solidFill>
                  <a:srgbClr val="63708A"/>
                </a:solidFill>
              </a:rPr>
              <a:t>latest turn</a:t>
            </a:r>
          </a:p>
        </p:txBody>
      </p:sp>
      <p:sp>
        <p:nvSpPr>
          <p:cNvPr id="35" name="route-frame">
            <a:extLst xmlns:a="http://schemas.openxmlformats.org/drawingml/2006/main">
              <a:ext uri="{FF2B5EF4-FFF2-40B4-BE49-F238E27FC236}">
                <a16:creationId xmlns:a16="http://schemas.microsoft.com/office/drawing/2014/main" id="{B719F804-A321-40D9-9DA5-FD1D1A605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5925" y="3590925"/>
            <a:ext cx="1200150" cy="781050"/>
          </a:xfrm>
          <a:prstGeom xmlns:a="http://schemas.openxmlformats.org/drawingml/2006/main" prst="roundRect">
            <a:avLst>
              <a:gd name="adj" fmla="val 853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102A56"/>
            </a:solidFill>
            <a:prstDash val="solid"/>
          </a:ln>
        </p:spPr>
      </p:sp>
      <p:sp>
        <p:nvSpPr>
          <p:cNvPr id="36" name="route-eyebrow">
            <a:extLst xmlns:a="http://schemas.openxmlformats.org/drawingml/2006/main">
              <a:ext uri="{FF2B5EF4-FFF2-40B4-BE49-F238E27FC236}">
                <a16:creationId xmlns:a16="http://schemas.microsoft.com/office/drawing/2014/main" id="{21BFE419-34B9-42E1-977F-374EA1168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3686175"/>
            <a:ext cx="9715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90" b="1">
                <a:solidFill>
                  <a:srgbClr val="102A56"/>
                </a:solidFill>
              </a:defRPr>
            </a:pPr>
            <a:r>
              <a:rPr sz="690" b="1">
                <a:solidFill>
                  <a:srgbClr val="102A56"/>
                </a:solidFill>
              </a:rPr>
              <a:t>NEXT.JS</a:t>
            </a:r>
          </a:p>
        </p:txBody>
      </p:sp>
      <p:sp>
        <p:nvSpPr>
          <p:cNvPr id="37" name="route-title">
            <a:extLst xmlns:a="http://schemas.openxmlformats.org/drawingml/2006/main">
              <a:ext uri="{FF2B5EF4-FFF2-40B4-BE49-F238E27FC236}">
                <a16:creationId xmlns:a16="http://schemas.microsoft.com/office/drawing/2014/main" id="{5BF6B1BC-9113-4096-87A7-24244A755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1175" y="3886200"/>
            <a:ext cx="10096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63" b="1">
                <a:solidFill>
                  <a:srgbClr val="15213B"/>
                </a:solidFill>
              </a:defRPr>
            </a:pPr>
            <a:r>
              <a:rPr sz="863" b="1">
                <a:solidFill>
                  <a:srgbClr val="15213B"/>
                </a:solidFill>
              </a:rPr>
              <a:t>route handler</a:t>
            </a:r>
          </a:p>
        </p:txBody>
      </p:sp>
      <p:sp>
        <p:nvSpPr>
          <p:cNvPr id="38" name="route-note">
            <a:extLst xmlns:a="http://schemas.openxmlformats.org/drawingml/2006/main">
              <a:ext uri="{FF2B5EF4-FFF2-40B4-BE49-F238E27FC236}">
                <a16:creationId xmlns:a16="http://schemas.microsoft.com/office/drawing/2014/main" id="{78EEEBFD-A7DA-46DB-B340-F0E302A57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43375"/>
            <a:ext cx="10287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60" b="0">
                <a:solidFill>
                  <a:srgbClr val="63708A"/>
                </a:solidFill>
              </a:defRPr>
            </a:pPr>
            <a:r>
              <a:rPr sz="660" b="0">
                <a:solidFill>
                  <a:srgbClr val="63708A"/>
                </a:solidFill>
              </a:rPr>
              <a:t>server-only creds</a:t>
            </a:r>
          </a:p>
        </p:txBody>
      </p:sp>
      <p:sp>
        <p:nvSpPr>
          <p:cNvPr id="39" name="validate-frame">
            <a:extLst xmlns:a="http://schemas.openxmlformats.org/drawingml/2006/main">
              <a:ext uri="{FF2B5EF4-FFF2-40B4-BE49-F238E27FC236}">
                <a16:creationId xmlns:a16="http://schemas.microsoft.com/office/drawing/2014/main" id="{51EBD46F-50DC-46A1-BB8C-75B91561B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3590925"/>
            <a:ext cx="1162050" cy="781050"/>
          </a:xfrm>
          <a:prstGeom xmlns:a="http://schemas.openxmlformats.org/drawingml/2006/main" prst="roundRect">
            <a:avLst>
              <a:gd name="adj" fmla="val 853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102A56"/>
            </a:solidFill>
            <a:prstDash val="solid"/>
          </a:ln>
        </p:spPr>
      </p:sp>
      <p:sp>
        <p:nvSpPr>
          <p:cNvPr id="40" name="validate-eyebrow">
            <a:extLst xmlns:a="http://schemas.openxmlformats.org/drawingml/2006/main">
              <a:ext uri="{FF2B5EF4-FFF2-40B4-BE49-F238E27FC236}">
                <a16:creationId xmlns:a16="http://schemas.microsoft.com/office/drawing/2014/main" id="{35FF8FB1-7168-4F0A-9C8D-E54D1310A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8975" y="3686175"/>
            <a:ext cx="9334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90" b="1">
                <a:solidFill>
                  <a:srgbClr val="102A56"/>
                </a:solidFill>
              </a:defRPr>
            </a:pPr>
            <a:r>
              <a:rPr sz="690" b="1">
                <a:solidFill>
                  <a:srgbClr val="102A56"/>
                </a:solidFill>
              </a:rPr>
              <a:t>BOUND INPUT</a:t>
            </a:r>
          </a:p>
        </p:txBody>
      </p:sp>
      <p:sp>
        <p:nvSpPr>
          <p:cNvPr id="41" name="validate-title">
            <a:extLst xmlns:a="http://schemas.openxmlformats.org/drawingml/2006/main">
              <a:ext uri="{FF2B5EF4-FFF2-40B4-BE49-F238E27FC236}">
                <a16:creationId xmlns:a16="http://schemas.microsoft.com/office/drawing/2014/main" id="{2B3919CC-823E-462A-BF2C-0CCDBD3A8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3886200"/>
            <a:ext cx="971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63" b="1">
                <a:solidFill>
                  <a:srgbClr val="15213B"/>
                </a:solidFill>
              </a:defRPr>
            </a:pPr>
            <a:r>
              <a:rPr sz="863" b="1">
                <a:solidFill>
                  <a:srgbClr val="15213B"/>
                </a:solidFill>
              </a:rPr>
              <a:t>parse</a:t>
            </a:r>
          </a:p>
          <a:p xmlns:a="http://schemas.openxmlformats.org/drawingml/2006/main">
            <a:pPr algn="ctr">
              <a:defRPr sz="863" b="1">
                <a:solidFill>
                  <a:srgbClr val="15213B"/>
                </a:solidFill>
              </a:defRPr>
            </a:pPr>
            <a:r>
              <a:rPr sz="863" b="1">
                <a:solidFill>
                  <a:srgbClr val="15213B"/>
                </a:solidFill>
              </a:rPr>
              <a:t>messages</a:t>
            </a:r>
          </a:p>
        </p:txBody>
      </p:sp>
      <p:sp>
        <p:nvSpPr>
          <p:cNvPr id="42" name="validate-note">
            <a:extLst xmlns:a="http://schemas.openxmlformats.org/drawingml/2006/main">
              <a:ext uri="{FF2B5EF4-FFF2-40B4-BE49-F238E27FC236}">
                <a16:creationId xmlns:a16="http://schemas.microsoft.com/office/drawing/2014/main" id="{EB236BDA-0D23-43C6-BEEE-A21F7446B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143375"/>
            <a:ext cx="9906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60" b="0">
                <a:solidFill>
                  <a:srgbClr val="63708A"/>
                </a:solidFill>
              </a:defRPr>
            </a:pPr>
            <a:r>
              <a:rPr sz="660" b="0">
                <a:solidFill>
                  <a:srgbClr val="63708A"/>
                </a:solidFill>
              </a:rPr>
              <a:t>1–20 · ≤2,000 chars</a:t>
            </a:r>
          </a:p>
        </p:txBody>
      </p:sp>
      <p:sp>
        <p:nvSpPr>
          <p:cNvPr id="43" name="query-embed-frame">
            <a:extLst xmlns:a="http://schemas.openxmlformats.org/drawingml/2006/main">
              <a:ext uri="{FF2B5EF4-FFF2-40B4-BE49-F238E27FC236}">
                <a16:creationId xmlns:a16="http://schemas.microsoft.com/office/drawing/2014/main" id="{7A82431B-AAC8-461D-906C-33110914B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590925"/>
            <a:ext cx="1285875" cy="781050"/>
          </a:xfrm>
          <a:prstGeom xmlns:a="http://schemas.openxmlformats.org/drawingml/2006/main" prst="roundRect">
            <a:avLst>
              <a:gd name="adj" fmla="val 8537"/>
            </a:avLst>
          </a:prstGeom>
          <a:solidFill xmlns:a="http://schemas.openxmlformats.org/drawingml/2006/main">
            <a:srgbClr val="E3F1F4"/>
          </a:solidFill>
          <a:ln xmlns:a="http://schemas.openxmlformats.org/drawingml/2006/main" w="10478">
            <a:solidFill>
              <a:srgbClr val="267C91"/>
            </a:solidFill>
            <a:prstDash val="solid"/>
          </a:ln>
        </p:spPr>
      </p:sp>
      <p:sp>
        <p:nvSpPr>
          <p:cNvPr id="44" name="query-embed-eyebrow">
            <a:extLst xmlns:a="http://schemas.openxmlformats.org/drawingml/2006/main">
              <a:ext uri="{FF2B5EF4-FFF2-40B4-BE49-F238E27FC236}">
                <a16:creationId xmlns:a16="http://schemas.microsoft.com/office/drawing/2014/main" id="{5C3C8099-8A3D-4824-89CE-2A35EA4AF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686175"/>
            <a:ext cx="1057275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90" b="1">
                <a:solidFill>
                  <a:srgbClr val="267C91"/>
                </a:solidFill>
              </a:defRPr>
            </a:pPr>
            <a:r>
              <a:rPr sz="690" b="1">
                <a:solidFill>
                  <a:srgbClr val="267C91"/>
                </a:solidFill>
              </a:rPr>
              <a:t>ENCODE</a:t>
            </a:r>
          </a:p>
        </p:txBody>
      </p:sp>
      <p:sp>
        <p:nvSpPr>
          <p:cNvPr id="45" name="query-embed-title">
            <a:extLst xmlns:a="http://schemas.openxmlformats.org/drawingml/2006/main">
              <a:ext uri="{FF2B5EF4-FFF2-40B4-BE49-F238E27FC236}">
                <a16:creationId xmlns:a16="http://schemas.microsoft.com/office/drawing/2014/main" id="{9D6FFEF2-13EA-4A36-9521-F91A22221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3886200"/>
            <a:ext cx="1095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63" b="1">
                <a:solidFill>
                  <a:srgbClr val="15213B"/>
                </a:solidFill>
              </a:defRPr>
            </a:pPr>
            <a:r>
              <a:rPr sz="863" b="1">
                <a:solidFill>
                  <a:srgbClr val="15213B"/>
                </a:solidFill>
              </a:rPr>
              <a:t>MiniLM-L6-v2</a:t>
            </a:r>
          </a:p>
        </p:txBody>
      </p:sp>
      <p:sp>
        <p:nvSpPr>
          <p:cNvPr id="46" name="query-embed-note">
            <a:extLst xmlns:a="http://schemas.openxmlformats.org/drawingml/2006/main">
              <a:ext uri="{FF2B5EF4-FFF2-40B4-BE49-F238E27FC236}">
                <a16:creationId xmlns:a16="http://schemas.microsoft.com/office/drawing/2014/main" id="{55EFD94B-99B1-47E4-B241-82E050669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143375"/>
            <a:ext cx="11144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60" b="0">
                <a:solidFill>
                  <a:srgbClr val="63708A"/>
                </a:solidFill>
              </a:defRPr>
            </a:pPr>
            <a:r>
              <a:rPr sz="660" b="0">
                <a:solidFill>
                  <a:srgbClr val="63708A"/>
                </a:solidFill>
              </a:rPr>
              <a:t>same vector space</a:t>
            </a:r>
          </a:p>
        </p:txBody>
      </p:sp>
      <p:sp>
        <p:nvSpPr>
          <p:cNvPr id="47" name="retrieve-frame">
            <a:extLst xmlns:a="http://schemas.openxmlformats.org/drawingml/2006/main">
              <a:ext uri="{FF2B5EF4-FFF2-40B4-BE49-F238E27FC236}">
                <a16:creationId xmlns:a16="http://schemas.microsoft.com/office/drawing/2014/main" id="{0E2B09CF-B67A-4AC7-9839-4D1FB441B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590925"/>
            <a:ext cx="914400" cy="781050"/>
          </a:xfrm>
          <a:prstGeom xmlns:a="http://schemas.openxmlformats.org/drawingml/2006/main" prst="roundRect">
            <a:avLst>
              <a:gd name="adj" fmla="val 8537"/>
            </a:avLst>
          </a:prstGeom>
          <a:solidFill xmlns:a="http://schemas.openxmlformats.org/drawingml/2006/main">
            <a:srgbClr val="F0E8F7"/>
          </a:solidFill>
          <a:ln xmlns:a="http://schemas.openxmlformats.org/drawingml/2006/main" w="10478">
            <a:solidFill>
              <a:srgbClr val="7137A8"/>
            </a:solidFill>
            <a:prstDash val="solid"/>
          </a:ln>
        </p:spPr>
      </p:sp>
      <p:sp>
        <p:nvSpPr>
          <p:cNvPr id="48" name="retrieve-eyebrow">
            <a:extLst xmlns:a="http://schemas.openxmlformats.org/drawingml/2006/main">
              <a:ext uri="{FF2B5EF4-FFF2-40B4-BE49-F238E27FC236}">
                <a16:creationId xmlns:a16="http://schemas.microsoft.com/office/drawing/2014/main" id="{559BBB9C-F433-4800-951A-2088287BF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686175"/>
            <a:ext cx="6858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90" b="1">
                <a:solidFill>
                  <a:srgbClr val="7137A8"/>
                </a:solidFill>
              </a:defRPr>
            </a:pPr>
            <a:r>
              <a:rPr sz="690" b="1">
                <a:solidFill>
                  <a:srgbClr val="7137A8"/>
                </a:solidFill>
              </a:rPr>
              <a:t>RETRIEVE</a:t>
            </a:r>
          </a:p>
        </p:txBody>
      </p:sp>
      <p:sp>
        <p:nvSpPr>
          <p:cNvPr id="49" name="retrieve-title">
            <a:extLst xmlns:a="http://schemas.openxmlformats.org/drawingml/2006/main">
              <a:ext uri="{FF2B5EF4-FFF2-40B4-BE49-F238E27FC236}">
                <a16:creationId xmlns:a16="http://schemas.microsoft.com/office/drawing/2014/main" id="{2A46F8B4-720F-4966-AF24-CAEA3C83F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886200"/>
            <a:ext cx="723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63" b="1">
                <a:solidFill>
                  <a:srgbClr val="15213B"/>
                </a:solidFill>
              </a:defRPr>
            </a:pPr>
            <a:r>
              <a:rPr sz="863" b="1">
                <a:solidFill>
                  <a:srgbClr val="15213B"/>
                </a:solidFill>
              </a:rPr>
              <a:t>top 6</a:t>
            </a:r>
          </a:p>
        </p:txBody>
      </p:sp>
      <p:sp>
        <p:nvSpPr>
          <p:cNvPr id="50" name="retrieve-note">
            <a:extLst xmlns:a="http://schemas.openxmlformats.org/drawingml/2006/main">
              <a:ext uri="{FF2B5EF4-FFF2-40B4-BE49-F238E27FC236}">
                <a16:creationId xmlns:a16="http://schemas.microsoft.com/office/drawing/2014/main" id="{E19564C0-22B1-4EFC-9DF8-B27DF8694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6725" y="4143375"/>
            <a:ext cx="7429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60" b="0">
                <a:solidFill>
                  <a:srgbClr val="63708A"/>
                </a:solidFill>
              </a:defRPr>
            </a:pPr>
            <a:r>
              <a:rPr sz="660" b="0">
                <a:solidFill>
                  <a:srgbClr val="63708A"/>
                </a:solidFill>
              </a:rPr>
              <a:t>usable text</a:t>
            </a:r>
          </a:p>
        </p:txBody>
      </p:sp>
      <p:sp>
        <p:nvSpPr>
          <p:cNvPr id="51" name="usable-decision">
            <a:extLst xmlns:a="http://schemas.openxmlformats.org/drawingml/2006/main">
              <a:ext uri="{FF2B5EF4-FFF2-40B4-BE49-F238E27FC236}">
                <a16:creationId xmlns:a16="http://schemas.microsoft.com/office/drawing/2014/main" id="{E363F0C0-2BC7-4132-B150-3F440F765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533775"/>
            <a:ext cx="704850" cy="8382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7137A8"/>
            </a:solidFill>
            <a:prstDash val="solid"/>
          </a:ln>
        </p:spPr>
      </p:sp>
      <p:sp>
        <p:nvSpPr>
          <p:cNvPr id="52" name="decision-text">
            <a:extLst xmlns:a="http://schemas.openxmlformats.org/drawingml/2006/main">
              <a:ext uri="{FF2B5EF4-FFF2-40B4-BE49-F238E27FC236}">
                <a16:creationId xmlns:a16="http://schemas.microsoft.com/office/drawing/2014/main" id="{84CCF3C1-9435-4D44-A688-11217B707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771900"/>
            <a:ext cx="51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7137A8"/>
                </a:solidFill>
              </a:defRPr>
            </a:pPr>
            <a:r>
              <a:rPr sz="788" b="1">
                <a:solidFill>
                  <a:srgbClr val="7137A8"/>
                </a:solidFill>
              </a:rPr>
              <a:t>usable</a:t>
            </a:r>
          </a:p>
          <a:p xmlns:a="http://schemas.openxmlformats.org/drawingml/2006/main">
            <a:pPr algn="ctr">
              <a:defRPr sz="788" b="1">
                <a:solidFill>
                  <a:srgbClr val="7137A8"/>
                </a:solidFill>
              </a:defRPr>
            </a:pPr>
            <a:r>
              <a:rPr sz="788" b="1">
                <a:solidFill>
                  <a:srgbClr val="7137A8"/>
                </a:solidFill>
              </a:rPr>
              <a:t>text?</a:t>
            </a:r>
          </a:p>
        </p:txBody>
      </p:sp>
      <p:sp>
        <p:nvSpPr>
          <p:cNvPr id="53" name="prompt-frame">
            <a:extLst xmlns:a="http://schemas.openxmlformats.org/drawingml/2006/main">
              <a:ext uri="{FF2B5EF4-FFF2-40B4-BE49-F238E27FC236}">
                <a16:creationId xmlns:a16="http://schemas.microsoft.com/office/drawing/2014/main" id="{E467BEF9-30B5-4C92-9F6D-B6CB98BC7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3276600"/>
            <a:ext cx="952500" cy="819150"/>
          </a:xfrm>
          <a:prstGeom xmlns:a="http://schemas.openxmlformats.org/drawingml/2006/main" prst="roundRect">
            <a:avLst>
              <a:gd name="adj" fmla="val 8140"/>
            </a:avLst>
          </a:prstGeom>
          <a:solidFill xmlns:a="http://schemas.openxmlformats.org/drawingml/2006/main">
            <a:srgbClr val="F0E8F7"/>
          </a:solidFill>
          <a:ln xmlns:a="http://schemas.openxmlformats.org/drawingml/2006/main" w="10478">
            <a:solidFill>
              <a:srgbClr val="7137A8"/>
            </a:solidFill>
            <a:prstDash val="solid"/>
          </a:ln>
        </p:spPr>
      </p:sp>
      <p:sp>
        <p:nvSpPr>
          <p:cNvPr id="54" name="prompt-eyebrow">
            <a:extLst xmlns:a="http://schemas.openxmlformats.org/drawingml/2006/main">
              <a:ext uri="{FF2B5EF4-FFF2-40B4-BE49-F238E27FC236}">
                <a16:creationId xmlns:a16="http://schemas.microsoft.com/office/drawing/2014/main" id="{27BEA226-35E5-477D-984E-17025B6BE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3371850"/>
            <a:ext cx="7239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90" b="1">
                <a:solidFill>
                  <a:srgbClr val="7137A8"/>
                </a:solidFill>
              </a:defRPr>
            </a:pPr>
            <a:r>
              <a:rPr sz="690" b="1">
                <a:solidFill>
                  <a:srgbClr val="7137A8"/>
                </a:solidFill>
              </a:rPr>
              <a:t>GROUND</a:t>
            </a:r>
          </a:p>
        </p:txBody>
      </p:sp>
      <p:sp>
        <p:nvSpPr>
          <p:cNvPr id="55" name="prompt-title">
            <a:extLst xmlns:a="http://schemas.openxmlformats.org/drawingml/2006/main">
              <a:ext uri="{FF2B5EF4-FFF2-40B4-BE49-F238E27FC236}">
                <a16:creationId xmlns:a16="http://schemas.microsoft.com/office/drawing/2014/main" id="{14E03469-58F7-48AA-85D3-99A29D4E3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4575" y="3571875"/>
            <a:ext cx="76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63" b="1">
                <a:solidFill>
                  <a:srgbClr val="15213B"/>
                </a:solidFill>
              </a:defRPr>
            </a:pPr>
            <a:r>
              <a:rPr sz="863" b="1">
                <a:solidFill>
                  <a:srgbClr val="15213B"/>
                </a:solidFill>
              </a:rPr>
              <a:t>grounded</a:t>
            </a:r>
          </a:p>
          <a:p xmlns:a="http://schemas.openxmlformats.org/drawingml/2006/main">
            <a:pPr algn="ctr">
              <a:defRPr sz="863" b="1">
                <a:solidFill>
                  <a:srgbClr val="15213B"/>
                </a:solidFill>
              </a:defRPr>
            </a:pPr>
            <a:r>
              <a:rPr sz="863" b="1">
                <a:solidFill>
                  <a:srgbClr val="15213B"/>
                </a:solidFill>
              </a:rPr>
              <a:t>prompt</a:t>
            </a:r>
          </a:p>
        </p:txBody>
      </p:sp>
      <p:sp>
        <p:nvSpPr>
          <p:cNvPr id="56" name="prompt-note">
            <a:extLst xmlns:a="http://schemas.openxmlformats.org/drawingml/2006/main">
              <a:ext uri="{FF2B5EF4-FFF2-40B4-BE49-F238E27FC236}">
                <a16:creationId xmlns:a16="http://schemas.microsoft.com/office/drawing/2014/main" id="{C1FBEC32-D924-4F1B-893D-B7052E94D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3867150"/>
            <a:ext cx="781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60" b="0">
                <a:solidFill>
                  <a:srgbClr val="63708A"/>
                </a:solidFill>
              </a:defRPr>
            </a:pPr>
            <a:r>
              <a:rPr sz="660" b="0">
                <a:solidFill>
                  <a:srgbClr val="63708A"/>
                </a:solidFill>
              </a:rPr>
              <a:t>context only</a:t>
            </a:r>
          </a:p>
        </p:txBody>
      </p:sp>
      <p:sp>
        <p:nvSpPr>
          <p:cNvPr id="57" name="model-frame">
            <a:extLst xmlns:a="http://schemas.openxmlformats.org/drawingml/2006/main">
              <a:ext uri="{FF2B5EF4-FFF2-40B4-BE49-F238E27FC236}">
                <a16:creationId xmlns:a16="http://schemas.microsoft.com/office/drawing/2014/main" id="{3B7C985C-7BA1-4990-82F4-38A95822D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3276600"/>
            <a:ext cx="857250" cy="819150"/>
          </a:xfrm>
          <a:prstGeom xmlns:a="http://schemas.openxmlformats.org/drawingml/2006/main" prst="roundRect">
            <a:avLst>
              <a:gd name="adj" fmla="val 8140"/>
            </a:avLst>
          </a:prstGeom>
          <a:solidFill xmlns:a="http://schemas.openxmlformats.org/drawingml/2006/main">
            <a:srgbClr val="E6EEFF"/>
          </a:solidFill>
          <a:ln xmlns:a="http://schemas.openxmlformats.org/drawingml/2006/main" w="10478">
            <a:solidFill>
              <a:srgbClr val="165DFF"/>
            </a:solidFill>
            <a:prstDash val="solid"/>
          </a:ln>
        </p:spPr>
      </p:sp>
      <p:sp>
        <p:nvSpPr>
          <p:cNvPr id="58" name="model-eyebrow">
            <a:extLst xmlns:a="http://schemas.openxmlformats.org/drawingml/2006/main">
              <a:ext uri="{FF2B5EF4-FFF2-40B4-BE49-F238E27FC236}">
                <a16:creationId xmlns:a16="http://schemas.microsoft.com/office/drawing/2014/main" id="{679C6A0C-1D9A-4460-A826-18E949E82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3371850"/>
            <a:ext cx="6286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90" b="1">
                <a:solidFill>
                  <a:srgbClr val="165DFF"/>
                </a:solidFill>
              </a:defRPr>
            </a:pPr>
            <a:r>
              <a:rPr sz="690" b="1">
                <a:solidFill>
                  <a:srgbClr val="165DFF"/>
                </a:solidFill>
              </a:rPr>
              <a:t>MODEL</a:t>
            </a:r>
          </a:p>
        </p:txBody>
      </p:sp>
      <p:sp>
        <p:nvSpPr>
          <p:cNvPr id="59" name="model-title">
            <a:extLst xmlns:a="http://schemas.openxmlformats.org/drawingml/2006/main">
              <a:ext uri="{FF2B5EF4-FFF2-40B4-BE49-F238E27FC236}">
                <a16:creationId xmlns:a16="http://schemas.microsoft.com/office/drawing/2014/main" id="{69A2E43E-BBEC-4CC3-96F1-8FD22E4A0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3571875"/>
            <a:ext cx="66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63" b="1">
                <a:solidFill>
                  <a:srgbClr val="15213B"/>
                </a:solidFill>
              </a:defRPr>
            </a:pPr>
            <a:r>
              <a:rPr sz="863" b="1">
                <a:solidFill>
                  <a:srgbClr val="15213B"/>
                </a:solidFill>
              </a:rPr>
              <a:t>HF router</a:t>
            </a:r>
          </a:p>
        </p:txBody>
      </p:sp>
      <p:sp>
        <p:nvSpPr>
          <p:cNvPr id="60" name="model-note">
            <a:extLst xmlns:a="http://schemas.openxmlformats.org/drawingml/2006/main">
              <a:ext uri="{FF2B5EF4-FFF2-40B4-BE49-F238E27FC236}">
                <a16:creationId xmlns:a16="http://schemas.microsoft.com/office/drawing/2014/main" id="{BB612F78-B866-4D94-8741-E0D61C598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0425" y="3867150"/>
            <a:ext cx="6858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60" b="0">
                <a:solidFill>
                  <a:srgbClr val="63708A"/>
                </a:solidFill>
              </a:defRPr>
            </a:pPr>
            <a:r>
              <a:rPr sz="660" b="0">
                <a:solidFill>
                  <a:srgbClr val="63708A"/>
                </a:solidFill>
              </a:rPr>
              <a:t>temp 0.2</a:t>
            </a:r>
          </a:p>
        </p:txBody>
      </p:sp>
      <p:sp>
        <p:nvSpPr>
          <p:cNvPr id="61" name="refusal">
            <a:extLst xmlns:a="http://schemas.openxmlformats.org/drawingml/2006/main">
              <a:ext uri="{FF2B5EF4-FFF2-40B4-BE49-F238E27FC236}">
                <a16:creationId xmlns:a16="http://schemas.microsoft.com/office/drawing/2014/main" id="{1CFD4150-519E-460F-909D-FC1ECE747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4667250"/>
            <a:ext cx="1352550" cy="457200"/>
          </a:xfrm>
          <a:prstGeom xmlns:a="http://schemas.openxmlformats.org/drawingml/2006/main" prst="roundRect">
            <a:avLst>
              <a:gd name="adj" fmla="val 14583"/>
            </a:avLst>
          </a:prstGeom>
          <a:solidFill xmlns:a="http://schemas.openxmlformats.org/drawingml/2006/main">
            <a:srgbClr val="FBE8E3"/>
          </a:solidFill>
          <a:ln xmlns:a="http://schemas.openxmlformats.org/drawingml/2006/main" w="10478">
            <a:solidFill>
              <a:srgbClr val="C64B38"/>
            </a:solidFill>
            <a:prstDash val="solid"/>
          </a:ln>
        </p:spPr>
      </p:sp>
      <p:sp>
        <p:nvSpPr>
          <p:cNvPr id="62" name="refusal-text">
            <a:extLst xmlns:a="http://schemas.openxmlformats.org/drawingml/2006/main">
              <a:ext uri="{FF2B5EF4-FFF2-40B4-BE49-F238E27FC236}">
                <a16:creationId xmlns:a16="http://schemas.microsoft.com/office/drawing/2014/main" id="{37A4962C-3E14-4A0B-93F9-BF525EB6B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4772025"/>
            <a:ext cx="1162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C64B38"/>
                </a:solidFill>
              </a:defRPr>
            </a:pPr>
            <a:r>
              <a:rPr sz="788" b="1">
                <a:solidFill>
                  <a:srgbClr val="C64B38"/>
                </a:solidFill>
              </a:rPr>
              <a:t>422 · refuse</a:t>
            </a:r>
          </a:p>
          <a:p xmlns:a="http://schemas.openxmlformats.org/drawingml/2006/main">
            <a:pPr algn="ctr">
              <a:defRPr sz="788" b="1">
                <a:solidFill>
                  <a:srgbClr val="C64B38"/>
                </a:solidFill>
              </a:defRPr>
            </a:pPr>
            <a:r>
              <a:rPr sz="788" b="1">
                <a:solidFill>
                  <a:srgbClr val="C64B38"/>
                </a:solidFill>
              </a:rPr>
              <a:t>no generation</a:t>
            </a:r>
          </a:p>
        </p:txBody>
      </p:sp>
      <p:sp>
        <p:nvSpPr>
          <p:cNvPr id="63" name="response">
            <a:extLst xmlns:a="http://schemas.openxmlformats.org/drawingml/2006/main">
              <a:ext uri="{FF2B5EF4-FFF2-40B4-BE49-F238E27FC236}">
                <a16:creationId xmlns:a16="http://schemas.microsoft.com/office/drawing/2014/main" id="{B6259F2F-533B-4B62-BE32-38FC6B29E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4648200"/>
            <a:ext cx="1409700" cy="495300"/>
          </a:xfrm>
          <a:prstGeom xmlns:a="http://schemas.openxmlformats.org/drawingml/2006/main" prst="roundRect">
            <a:avLst>
              <a:gd name="adj" fmla="val 13462"/>
            </a:avLst>
          </a:prstGeom>
          <a:solidFill xmlns:a="http://schemas.openxmlformats.org/drawingml/2006/main">
            <a:srgbClr val="E6EEFF"/>
          </a:solidFill>
          <a:ln xmlns:a="http://schemas.openxmlformats.org/drawingml/2006/main" w="10478">
            <a:solidFill>
              <a:srgbClr val="165DFF"/>
            </a:solidFill>
            <a:prstDash val="solid"/>
          </a:ln>
        </p:spPr>
      </p:sp>
      <p:sp>
        <p:nvSpPr>
          <p:cNvPr id="64" name="response-text">
            <a:extLst xmlns:a="http://schemas.openxmlformats.org/drawingml/2006/main">
              <a:ext uri="{FF2B5EF4-FFF2-40B4-BE49-F238E27FC236}">
                <a16:creationId xmlns:a16="http://schemas.microsoft.com/office/drawing/2014/main" id="{995302A4-70B8-40E0-8CDE-B1DB79384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4762500"/>
            <a:ext cx="1219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65DFF"/>
                </a:solidFill>
              </a:defRPr>
            </a:pPr>
            <a:r>
              <a:rPr sz="788" b="1">
                <a:solidFill>
                  <a:srgbClr val="165DFF"/>
                </a:solidFill>
              </a:rPr>
              <a:t>answer + ≤4</a:t>
            </a:r>
          </a:p>
          <a:p xmlns:a="http://schemas.openxmlformats.org/drawingml/2006/main">
            <a:pPr algn="ctr">
              <a:defRPr sz="788" b="1">
                <a:solidFill>
                  <a:srgbClr val="165DFF"/>
                </a:solidFill>
              </a:defRPr>
            </a:pPr>
            <a:r>
              <a:rPr sz="788" b="1">
                <a:solidFill>
                  <a:srgbClr val="165DFF"/>
                </a:solidFill>
              </a:rPr>
              <a:t>deduped sources</a:t>
            </a:r>
          </a:p>
        </p:txBody>
      </p:sp>
      <p:sp>
        <p:nvSpPr>
          <p:cNvPr id="65" name="urls-to-browser">
            <a:extLst xmlns:a="http://schemas.openxmlformats.org/drawingml/2006/main">
              <a:ext uri="{FF2B5EF4-FFF2-40B4-BE49-F238E27FC236}">
                <a16:creationId xmlns:a16="http://schemas.microsoft.com/office/drawing/2014/main" id="{F20BA79C-FE9B-4B5C-9FB7-FA68BF56B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1971675"/>
            <a:ext cx="26670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65DFF"/>
          </a:solidFill>
          <a:ln xmlns:a="http://schemas.openxmlformats.org/drawingml/2006/main" w="0">
            <a:solidFill>
              <a:srgbClr val="165DFF"/>
            </a:solidFill>
            <a:prstDash val="solid"/>
          </a:ln>
        </p:spPr>
      </p:sp>
      <p:sp>
        <p:nvSpPr>
          <p:cNvPr id="66" name="browser-to-chunk">
            <a:extLst xmlns:a="http://schemas.openxmlformats.org/drawingml/2006/main">
              <a:ext uri="{FF2B5EF4-FFF2-40B4-BE49-F238E27FC236}">
                <a16:creationId xmlns:a16="http://schemas.microsoft.com/office/drawing/2014/main" id="{7A0287A4-DEC6-4CCA-9FBE-44F4F8CC1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971675"/>
            <a:ext cx="26670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65DFF"/>
          </a:solidFill>
          <a:ln xmlns:a="http://schemas.openxmlformats.org/drawingml/2006/main" w="0">
            <a:solidFill>
              <a:srgbClr val="165DFF"/>
            </a:solidFill>
            <a:prstDash val="solid"/>
          </a:ln>
        </p:spPr>
      </p:sp>
      <p:sp>
        <p:nvSpPr>
          <p:cNvPr id="67" name="chunk-to-embed">
            <a:extLst xmlns:a="http://schemas.openxmlformats.org/drawingml/2006/main">
              <a:ext uri="{FF2B5EF4-FFF2-40B4-BE49-F238E27FC236}">
                <a16:creationId xmlns:a16="http://schemas.microsoft.com/office/drawing/2014/main" id="{C1757CD0-3DCD-4E6C-A114-11AEC6458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1971675"/>
            <a:ext cx="26670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65DFF"/>
          </a:solidFill>
          <a:ln xmlns:a="http://schemas.openxmlformats.org/drawingml/2006/main" w="0">
            <a:solidFill>
              <a:srgbClr val="165DFF"/>
            </a:solidFill>
            <a:prstDash val="solid"/>
          </a:ln>
        </p:spPr>
      </p:sp>
      <p:sp>
        <p:nvSpPr>
          <p:cNvPr id="68" name="embed-to-astra">
            <a:extLst xmlns:a="http://schemas.openxmlformats.org/drawingml/2006/main">
              <a:ext uri="{FF2B5EF4-FFF2-40B4-BE49-F238E27FC236}">
                <a16:creationId xmlns:a16="http://schemas.microsoft.com/office/drawing/2014/main" id="{A07B849C-BC9C-4E41-AE1C-1222A3B19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971675"/>
            <a:ext cx="30480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65DFF"/>
          </a:solidFill>
          <a:ln xmlns:a="http://schemas.openxmlformats.org/drawingml/2006/main" w="0">
            <a:solidFill>
              <a:srgbClr val="165DFF"/>
            </a:solidFill>
            <a:prstDash val="solid"/>
          </a:ln>
        </p:spPr>
      </p:sp>
      <p:sp>
        <p:nvSpPr>
          <p:cNvPr id="69" name="question-to-route">
            <a:extLst xmlns:a="http://schemas.openxmlformats.org/drawingml/2006/main">
              <a:ext uri="{FF2B5EF4-FFF2-40B4-BE49-F238E27FC236}">
                <a16:creationId xmlns:a16="http://schemas.microsoft.com/office/drawing/2014/main" id="{A405DE87-771A-4421-B5F9-D1FD7A412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" y="3914775"/>
            <a:ext cx="22860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137A8"/>
          </a:solidFill>
          <a:ln xmlns:a="http://schemas.openxmlformats.org/drawingml/2006/main" w="0">
            <a:solidFill>
              <a:srgbClr val="7137A8"/>
            </a:solidFill>
            <a:prstDash val="solid"/>
          </a:ln>
        </p:spPr>
      </p:sp>
      <p:sp>
        <p:nvSpPr>
          <p:cNvPr id="70" name="route-to-validate">
            <a:extLst xmlns:a="http://schemas.openxmlformats.org/drawingml/2006/main">
              <a:ext uri="{FF2B5EF4-FFF2-40B4-BE49-F238E27FC236}">
                <a16:creationId xmlns:a16="http://schemas.microsoft.com/office/drawing/2014/main" id="{5E9489ED-B29B-4486-9A70-898DCB96A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6075" y="3914775"/>
            <a:ext cx="22860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137A8"/>
          </a:solidFill>
          <a:ln xmlns:a="http://schemas.openxmlformats.org/drawingml/2006/main" w="0">
            <a:solidFill>
              <a:srgbClr val="7137A8"/>
            </a:solidFill>
            <a:prstDash val="solid"/>
          </a:ln>
        </p:spPr>
      </p:sp>
      <p:sp>
        <p:nvSpPr>
          <p:cNvPr id="71" name="validate-to-embed">
            <a:extLst xmlns:a="http://schemas.openxmlformats.org/drawingml/2006/main">
              <a:ext uri="{FF2B5EF4-FFF2-40B4-BE49-F238E27FC236}">
                <a16:creationId xmlns:a16="http://schemas.microsoft.com/office/drawing/2014/main" id="{5ECBC431-3D51-452F-A6A7-F07AF2BCD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3914775"/>
            <a:ext cx="22860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137A8"/>
          </a:solidFill>
          <a:ln xmlns:a="http://schemas.openxmlformats.org/drawingml/2006/main" w="0">
            <a:solidFill>
              <a:srgbClr val="7137A8"/>
            </a:solidFill>
            <a:prstDash val="solid"/>
          </a:ln>
        </p:spPr>
      </p:sp>
      <p:sp>
        <p:nvSpPr>
          <p:cNvPr id="72" name="query-embed-to-astra">
            <a:extLst xmlns:a="http://schemas.openxmlformats.org/drawingml/2006/main">
              <a:ext uri="{FF2B5EF4-FFF2-40B4-BE49-F238E27FC236}">
                <a16:creationId xmlns:a16="http://schemas.microsoft.com/office/drawing/2014/main" id="{C66FB88C-CB7B-4295-969E-200D77730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3914775"/>
            <a:ext cx="60960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137A8"/>
          </a:solidFill>
          <a:ln xmlns:a="http://schemas.openxmlformats.org/drawingml/2006/main" w="0">
            <a:solidFill>
              <a:srgbClr val="7137A8"/>
            </a:solidFill>
            <a:prstDash val="solid"/>
          </a:ln>
        </p:spPr>
      </p:sp>
      <p:sp>
        <p:nvSpPr>
          <p:cNvPr id="73" name="astra-to-retrieve">
            <a:extLst xmlns:a="http://schemas.openxmlformats.org/drawingml/2006/main">
              <a:ext uri="{FF2B5EF4-FFF2-40B4-BE49-F238E27FC236}">
                <a16:creationId xmlns:a16="http://schemas.microsoft.com/office/drawing/2014/main" id="{A927847C-11B0-4ABF-9191-D34E45F52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914775"/>
            <a:ext cx="1333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137A8"/>
          </a:solidFill>
          <a:ln xmlns:a="http://schemas.openxmlformats.org/drawingml/2006/main" w="0">
            <a:solidFill>
              <a:srgbClr val="7137A8"/>
            </a:solidFill>
            <a:prstDash val="solid"/>
          </a:ln>
        </p:spPr>
      </p:sp>
      <p:sp>
        <p:nvSpPr>
          <p:cNvPr id="74" name="retrieve-to-decision">
            <a:extLst xmlns:a="http://schemas.openxmlformats.org/drawingml/2006/main">
              <a:ext uri="{FF2B5EF4-FFF2-40B4-BE49-F238E27FC236}">
                <a16:creationId xmlns:a16="http://schemas.microsoft.com/office/drawing/2014/main" id="{20FA62A0-528D-4BA9-80BE-A0FDA35BD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3914775"/>
            <a:ext cx="11430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137A8"/>
          </a:solidFill>
          <a:ln xmlns:a="http://schemas.openxmlformats.org/drawingml/2006/main" w="0">
            <a:solidFill>
              <a:srgbClr val="7137A8"/>
            </a:solidFill>
            <a:prstDash val="solid"/>
          </a:ln>
        </p:spPr>
      </p:sp>
      <p:sp>
        <p:nvSpPr>
          <p:cNvPr id="75" name="decision-to-prompt">
            <a:extLst xmlns:a="http://schemas.openxmlformats.org/drawingml/2006/main">
              <a:ext uri="{FF2B5EF4-FFF2-40B4-BE49-F238E27FC236}">
                <a16:creationId xmlns:a16="http://schemas.microsoft.com/office/drawing/2014/main" id="{C373BA52-EAA8-4480-A7BA-C4E4C44D8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3600450"/>
            <a:ext cx="104775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137A8"/>
          </a:solidFill>
          <a:ln xmlns:a="http://schemas.openxmlformats.org/drawingml/2006/main" w="0">
            <a:solidFill>
              <a:srgbClr val="7137A8"/>
            </a:solidFill>
            <a:prstDash val="solid"/>
          </a:ln>
        </p:spPr>
      </p:sp>
      <p:sp>
        <p:nvSpPr>
          <p:cNvPr id="76" name="prompt-to-model">
            <a:extLst xmlns:a="http://schemas.openxmlformats.org/drawingml/2006/main">
              <a:ext uri="{FF2B5EF4-FFF2-40B4-BE49-F238E27FC236}">
                <a16:creationId xmlns:a16="http://schemas.microsoft.com/office/drawing/2014/main" id="{33DF3C60-95FB-485F-A1B6-09B714D6D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91825" y="3600450"/>
            <a:ext cx="142875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7137A8"/>
          </a:solidFill>
          <a:ln xmlns:a="http://schemas.openxmlformats.org/drawingml/2006/main" w="0">
            <a:solidFill>
              <a:srgbClr val="7137A8"/>
            </a:solidFill>
            <a:prstDash val="solid"/>
          </a:ln>
        </p:spPr>
      </p:sp>
      <p:sp>
        <p:nvSpPr>
          <p:cNvPr id="77" name="decision-to-refusal">
            <a:extLst xmlns:a="http://schemas.openxmlformats.org/drawingml/2006/main">
              <a:ext uri="{FF2B5EF4-FFF2-40B4-BE49-F238E27FC236}">
                <a16:creationId xmlns:a16="http://schemas.microsoft.com/office/drawing/2014/main" id="{68A524BC-F31C-4768-9FE1-EEFB608DC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305300"/>
            <a:ext cx="114300" cy="352425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C64B38"/>
          </a:solidFill>
          <a:ln xmlns:a="http://schemas.openxmlformats.org/drawingml/2006/main" w="0">
            <a:solidFill>
              <a:srgbClr val="C64B38"/>
            </a:solidFill>
            <a:prstDash val="solid"/>
          </a:ln>
        </p:spPr>
      </p:sp>
      <p:sp>
        <p:nvSpPr>
          <p:cNvPr id="78" name="model-to-response">
            <a:extLst xmlns:a="http://schemas.openxmlformats.org/drawingml/2006/main">
              <a:ext uri="{FF2B5EF4-FFF2-40B4-BE49-F238E27FC236}">
                <a16:creationId xmlns:a16="http://schemas.microsoft.com/office/drawing/2014/main" id="{11EBF6CB-15FA-469E-B842-9A0BAA029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4143375"/>
            <a:ext cx="114300" cy="447675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165DFF"/>
          </a:solidFill>
          <a:ln xmlns:a="http://schemas.openxmlformats.org/drawingml/2006/main" w="0">
            <a:solidFill>
              <a:srgbClr val="165DFF"/>
            </a:solidFill>
            <a:prstDash val="solid"/>
          </a:ln>
        </p:spPr>
      </p:sp>
      <p:sp>
        <p:nvSpPr>
          <p:cNvPr id="79" name="boundary-rule">
            <a:extLst xmlns:a="http://schemas.openxmlformats.org/drawingml/2006/main">
              <a:ext uri="{FF2B5EF4-FFF2-40B4-BE49-F238E27FC236}">
                <a16:creationId xmlns:a16="http://schemas.microsoft.com/office/drawing/2014/main" id="{D8869B49-2CED-4933-BE37-B9367EBFA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0070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15213B"/>
            </a:solidFill>
            <a:prstDash val="solid"/>
          </a:ln>
        </p:spPr>
      </p:sp>
      <p:sp>
        <p:nvSpPr>
          <p:cNvPr id="80" name="boundary-label">
            <a:extLst xmlns:a="http://schemas.openxmlformats.org/drawingml/2006/main">
              <a:ext uri="{FF2B5EF4-FFF2-40B4-BE49-F238E27FC236}">
                <a16:creationId xmlns:a16="http://schemas.microsoft.com/office/drawing/2014/main" id="{F4A1F754-7A46-46F3-9937-5098D9A8B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72150"/>
            <a:ext cx="2190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C64B38"/>
                </a:solidFill>
              </a:defRPr>
            </a:pPr>
            <a:r>
              <a:rPr sz="900" b="1">
                <a:solidFill>
                  <a:srgbClr val="C64B38"/>
                </a:solidFill>
              </a:rPr>
              <a:t>TRUST + EVIDENCE BOUNDARY</a:t>
            </a:r>
          </a:p>
        </p:txBody>
      </p:sp>
      <p:sp>
        <p:nvSpPr>
          <p:cNvPr id="81" name="boundary-0">
            <a:extLst xmlns:a="http://schemas.openxmlformats.org/drawingml/2006/main">
              <a:ext uri="{FF2B5EF4-FFF2-40B4-BE49-F238E27FC236}">
                <a16:creationId xmlns:a16="http://schemas.microsoft.com/office/drawing/2014/main" id="{ECA81D52-4D08-417F-82A8-986819750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57900"/>
            <a:ext cx="2619375" cy="47625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9EEF5"/>
          </a:solidFill>
          <a:ln xmlns:a="http://schemas.openxmlformats.org/drawingml/2006/main" w="9525">
            <a:solidFill>
              <a:srgbClr val="BCC9DA"/>
            </a:solidFill>
            <a:prstDash val="solid"/>
          </a:ln>
        </p:spPr>
      </p:sp>
      <p:sp>
        <p:nvSpPr>
          <p:cNvPr id="82" name="boundary-head-0">
            <a:extLst xmlns:a="http://schemas.openxmlformats.org/drawingml/2006/main">
              <a:ext uri="{FF2B5EF4-FFF2-40B4-BE49-F238E27FC236}">
                <a16:creationId xmlns:a16="http://schemas.microsoft.com/office/drawing/2014/main" id="{9819BAA2-52E3-44AF-A2F0-AB5C635C3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6153150"/>
            <a:ext cx="6858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102A56"/>
                </a:solidFill>
              </a:defRPr>
            </a:pPr>
            <a:r>
              <a:rPr sz="713" b="1">
                <a:solidFill>
                  <a:srgbClr val="102A56"/>
                </a:solidFill>
              </a:rPr>
              <a:t>BROWSER</a:t>
            </a:r>
          </a:p>
        </p:txBody>
      </p:sp>
      <p:sp>
        <p:nvSpPr>
          <p:cNvPr id="83" name="boundary-body-0">
            <a:extLst xmlns:a="http://schemas.openxmlformats.org/drawingml/2006/main">
              <a:ext uri="{FF2B5EF4-FFF2-40B4-BE49-F238E27FC236}">
                <a16:creationId xmlns:a16="http://schemas.microsoft.com/office/drawing/2014/main" id="{30DDAA60-EE6C-4776-BD0A-325983FEA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611505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90" b="0">
                <a:solidFill>
                  <a:srgbClr val="63708A"/>
                </a:solidFill>
              </a:defRPr>
            </a:pPr>
            <a:r>
              <a:rPr sz="690" b="0">
                <a:solidFill>
                  <a:srgbClr val="63708A"/>
                </a:solidFill>
              </a:rPr>
              <a:t>only mode is public; Astra and HF credentials stay server-side</a:t>
            </a:r>
          </a:p>
        </p:txBody>
      </p:sp>
      <p:sp>
        <p:nvSpPr>
          <p:cNvPr id="84" name="boundary-1">
            <a:extLst xmlns:a="http://schemas.openxmlformats.org/drawingml/2006/main">
              <a:ext uri="{FF2B5EF4-FFF2-40B4-BE49-F238E27FC236}">
                <a16:creationId xmlns:a16="http://schemas.microsoft.com/office/drawing/2014/main" id="{9FE062F6-B211-4769-B9A1-5D6C39D0A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8025" y="6057900"/>
            <a:ext cx="2619375" cy="47625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9EEF5"/>
          </a:solidFill>
          <a:ln xmlns:a="http://schemas.openxmlformats.org/drawingml/2006/main" w="9525">
            <a:solidFill>
              <a:srgbClr val="BCC9DA"/>
            </a:solidFill>
            <a:prstDash val="solid"/>
          </a:ln>
        </p:spPr>
      </p:sp>
      <p:sp>
        <p:nvSpPr>
          <p:cNvPr id="85" name="boundary-head-1">
            <a:extLst xmlns:a="http://schemas.openxmlformats.org/drawingml/2006/main">
              <a:ext uri="{FF2B5EF4-FFF2-40B4-BE49-F238E27FC236}">
                <a16:creationId xmlns:a16="http://schemas.microsoft.com/office/drawing/2014/main" id="{292120E8-94EF-4F27-A4F5-B8E596927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6153150"/>
            <a:ext cx="6858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102A56"/>
                </a:solidFill>
              </a:defRPr>
            </a:pPr>
            <a:r>
              <a:rPr sz="713" b="1">
                <a:solidFill>
                  <a:srgbClr val="102A56"/>
                </a:solidFill>
              </a:rPr>
              <a:t>MODEL</a:t>
            </a:r>
          </a:p>
        </p:txBody>
      </p:sp>
      <p:sp>
        <p:nvSpPr>
          <p:cNvPr id="86" name="boundary-body-1">
            <a:extLst xmlns:a="http://schemas.openxmlformats.org/drawingml/2006/main">
              <a:ext uri="{FF2B5EF4-FFF2-40B4-BE49-F238E27FC236}">
                <a16:creationId xmlns:a16="http://schemas.microsoft.com/office/drawing/2014/main" id="{A01F6A73-E2C0-42A1-A4B1-40A546717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611505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90" b="0">
                <a:solidFill>
                  <a:srgbClr val="63708A"/>
                </a:solidFill>
              </a:defRPr>
            </a:pPr>
            <a:r>
              <a:rPr sz="690" b="0">
                <a:solidFill>
                  <a:srgbClr val="63708A"/>
                </a:solidFill>
              </a:rPr>
              <a:t>25 s timeout; answer must use supplied context only</a:t>
            </a:r>
          </a:p>
        </p:txBody>
      </p:sp>
      <p:sp>
        <p:nvSpPr>
          <p:cNvPr id="87" name="boundary-2">
            <a:extLst xmlns:a="http://schemas.openxmlformats.org/drawingml/2006/main">
              <a:ext uri="{FF2B5EF4-FFF2-40B4-BE49-F238E27FC236}">
                <a16:creationId xmlns:a16="http://schemas.microsoft.com/office/drawing/2014/main" id="{9379A5C7-7F05-4379-9E16-173B0CE8F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6057900"/>
            <a:ext cx="2619375" cy="47625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BE8E3"/>
          </a:solidFill>
          <a:ln xmlns:a="http://schemas.openxmlformats.org/drawingml/2006/main" w="9525">
            <a:solidFill>
              <a:srgbClr val="BCC9DA"/>
            </a:solidFill>
            <a:prstDash val="solid"/>
          </a:ln>
        </p:spPr>
      </p:sp>
      <p:sp>
        <p:nvSpPr>
          <p:cNvPr id="88" name="boundary-head-2">
            <a:extLst xmlns:a="http://schemas.openxmlformats.org/drawingml/2006/main">
              <a:ext uri="{FF2B5EF4-FFF2-40B4-BE49-F238E27FC236}">
                <a16:creationId xmlns:a16="http://schemas.microsoft.com/office/drawing/2014/main" id="{F45178DD-037D-4035-8512-5C52497A7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6153150"/>
            <a:ext cx="6858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C64B38"/>
                </a:solidFill>
              </a:defRPr>
            </a:pPr>
            <a:r>
              <a:rPr sz="713" b="1">
                <a:solidFill>
                  <a:srgbClr val="C64B38"/>
                </a:solidFill>
              </a:rPr>
              <a:t>EMPTY RETRIEVAL</a:t>
            </a:r>
          </a:p>
        </p:txBody>
      </p:sp>
      <p:sp>
        <p:nvSpPr>
          <p:cNvPr id="89" name="boundary-body-2">
            <a:extLst xmlns:a="http://schemas.openxmlformats.org/drawingml/2006/main">
              <a:ext uri="{FF2B5EF4-FFF2-40B4-BE49-F238E27FC236}">
                <a16:creationId xmlns:a16="http://schemas.microsoft.com/office/drawing/2014/main" id="{83EE3C61-C298-4061-AB7A-3411C2DCB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611505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90" b="0">
                <a:solidFill>
                  <a:srgbClr val="63708A"/>
                </a:solidFill>
              </a:defRPr>
            </a:pPr>
            <a:r>
              <a:rPr sz="690" b="0">
                <a:solidFill>
                  <a:srgbClr val="63708A"/>
                </a:solidFill>
              </a:rPr>
              <a:t>422 before generation—no general-knowledge fallback</a:t>
            </a:r>
          </a:p>
        </p:txBody>
      </p:sp>
      <p:sp>
        <p:nvSpPr>
          <p:cNvPr id="90" name="boundary-3">
            <a:extLst xmlns:a="http://schemas.openxmlformats.org/drawingml/2006/main">
              <a:ext uri="{FF2B5EF4-FFF2-40B4-BE49-F238E27FC236}">
                <a16:creationId xmlns:a16="http://schemas.microsoft.com/office/drawing/2014/main" id="{A01E1BF3-1BC7-496E-BB2A-4594F5C5D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6057900"/>
            <a:ext cx="2619375" cy="47625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9EEF5"/>
          </a:solidFill>
          <a:ln xmlns:a="http://schemas.openxmlformats.org/drawingml/2006/main" w="9525">
            <a:solidFill>
              <a:srgbClr val="BCC9DA"/>
            </a:solidFill>
            <a:prstDash val="solid"/>
          </a:ln>
        </p:spPr>
      </p:sp>
      <p:sp>
        <p:nvSpPr>
          <p:cNvPr id="91" name="boundary-head-3">
            <a:extLst xmlns:a="http://schemas.openxmlformats.org/drawingml/2006/main">
              <a:ext uri="{FF2B5EF4-FFF2-40B4-BE49-F238E27FC236}">
                <a16:creationId xmlns:a16="http://schemas.microsoft.com/office/drawing/2014/main" id="{DF0B39D9-C82E-4DC5-B605-92AA9A9DF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6153150"/>
            <a:ext cx="6858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102A56"/>
                </a:solidFill>
              </a:defRPr>
            </a:pPr>
            <a:r>
              <a:rPr sz="713" b="1">
                <a:solidFill>
                  <a:srgbClr val="102A56"/>
                </a:solidFill>
              </a:rPr>
              <a:t>SCOPE</a:t>
            </a:r>
          </a:p>
        </p:txBody>
      </p:sp>
      <p:sp>
        <p:nvSpPr>
          <p:cNvPr id="92" name="boundary-body-3">
            <a:extLst xmlns:a="http://schemas.openxmlformats.org/drawingml/2006/main">
              <a:ext uri="{FF2B5EF4-FFF2-40B4-BE49-F238E27FC236}">
                <a16:creationId xmlns:a16="http://schemas.microsoft.com/office/drawing/2014/main" id="{311992FF-67B7-46A2-BD5E-B5BE2270D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4075" y="611505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90" b="0">
                <a:solidFill>
                  <a:srgbClr val="63708A"/>
                </a:solidFill>
              </a:defRPr>
            </a:pPr>
            <a:r>
              <a:rPr sz="690" b="0">
                <a:solidFill>
                  <a:srgbClr val="63708A"/>
                </a:solidFill>
              </a:rPr>
              <a:t>educational guidance; no PHI, coverage, or amount-owed decision</a:t>
            </a:r>
          </a:p>
        </p:txBody>
      </p:sp>
      <p:sp>
        <p:nvSpPr>
          <p:cNvPr id="93" name="sources">
            <a:extLst xmlns:a="http://schemas.openxmlformats.org/drawingml/2006/main">
              <a:ext uri="{FF2B5EF4-FFF2-40B4-BE49-F238E27FC236}">
                <a16:creationId xmlns:a16="http://schemas.microsoft.com/office/drawing/2014/main" id="{31263F7D-D568-4908-986B-5643FA3DF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6638925"/>
            <a:ext cx="57150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13" b="0">
                <a:solidFill>
                  <a:srgbClr val="63708A"/>
                </a:solidFill>
              </a:defRPr>
            </a:pPr>
            <a:r>
              <a:rPr sz="713" b="0">
                <a:solidFill>
                  <a:srgbClr val="63708A"/>
                </a:solidFill>
              </a:rPr>
              <a:t>Sources: scripts/loadDB.ts · app/api/chat/route.ts · app/lib/chat.ts · app/types.ts</a:t>
            </a:r>
          </a:p>
        </p:txBody>
      </p:sp>
    </p:spTree>
    <p:extLst>
      <p:ext uri="{BB962C8B-B14F-4D97-AF65-F5344CB8AC3E}">
        <p14:creationId xmlns:p14="http://schemas.microsoft.com/office/powerpoint/2010/main" val="4841305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2026-07-21T07:47:21.0100000Z</dcterms:created>
  <dcterms:modified xsi:type="dcterms:W3CDTF">2026-07-21T07:47:21.0100000Z</dcterms:modified>
</coreProperties>
</file>