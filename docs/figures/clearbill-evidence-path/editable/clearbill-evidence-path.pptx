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a1ea4936844a94" /><Relationship Type="http://schemas.openxmlformats.org/officeDocument/2006/relationships/extended-properties" Target="/docProps/app.xml" Id="Rd4c9ab92b670435d" /><Relationship Type="http://schemas.openxmlformats.org/officeDocument/2006/relationships/officeDocument" Target="/ppt/presentation.xml" Id="R3d9a8736c00042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5e4c50e99a42d4"/>
  </p:sldMasterIdLst>
  <p:notesMasterIdLst>
    <p:notesMasterId xmlns:r="http://schemas.openxmlformats.org/officeDocument/2006/relationships" r:id="R763a299058a3481f"/>
  </p:notesMasterIdLst>
  <p:sldIdLst>
    <p:sldId xmlns:r="http://schemas.openxmlformats.org/officeDocument/2006/relationships" id="256" r:id="Rbea5f6fc9c0c4ed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b14862de0242f1" /><Relationship Type="http://schemas.openxmlformats.org/officeDocument/2006/relationships/slideMaster" Target="/ppt/slideMasters/slideMaster1.xml" Id="R525e4c50e99a42d4" /><Relationship Type="http://schemas.openxmlformats.org/officeDocument/2006/relationships/notesMaster" Target="/ppt/notesMasters/notesMaster1.xml" Id="R763a299058a3481f" /><Relationship Type="http://schemas.openxmlformats.org/officeDocument/2006/relationships/presProps" Target="/ppt/presProps.xml" Id="R9e4d597bbbda4551" /><Relationship Type="http://schemas.openxmlformats.org/officeDocument/2006/relationships/tableStyles" Target="/ppt/tableStyles.xml" Id="R367d1c9f680c41e6" /><Relationship Type="http://schemas.openxmlformats.org/officeDocument/2006/relationships/slide" Target="/ppt/slides/slide1.xml" Id="Rbea5f6fc9c0c4e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be5a6a6e1749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fbaf1e6ea44e68" /><Relationship Type="http://schemas.openxmlformats.org/officeDocument/2006/relationships/notesMaster" Target="/ppt/notesMasters/notesMaster1.xml" Id="R8da062baffdf41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bf776fb56149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a3a9d5336a4d70" /><Relationship Type="http://schemas.openxmlformats.org/officeDocument/2006/relationships/slideLayout" Target="/ppt/slideLayouts/slideLayout1.xml" Id="Rb7c72c4b7fb641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c72c4b7fb641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69de4bb414619" /><Relationship Type="http://schemas.openxmlformats.org/officeDocument/2006/relationships/notesSlide" Target="/ppt/notesSlides/notesSlide1.xml" Id="R5361f33be9854e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title">
            <a:extLst xmlns:a="http://schemas.openxmlformats.org/drawingml/2006/main">
              <a:ext uri="{FF2B5EF4-FFF2-40B4-BE49-F238E27FC236}">
                <a16:creationId xmlns:a16="http://schemas.microsoft.com/office/drawing/2014/main" id="{7EE3C346-8437-40E8-B17B-21F7B871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033"/>
                </a:solidFill>
              </a:defRPr>
            </a:pPr>
            <a:r>
              <a:rPr sz="2175" b="1">
                <a:solidFill>
                  <a:srgbClr val="172033"/>
                </a:solidFill>
              </a:rPr>
              <a:t>ClearBill has one shared evidence plane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C52249E-99C1-40D7-9C71-15233463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858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67085"/>
                </a:solidFill>
              </a:defRPr>
            </a:pPr>
            <a:r>
              <a:rPr sz="1088" b="0">
                <a:solidFill>
                  <a:srgbClr val="667085"/>
                </a:solidFill>
              </a:rPr>
              <a:t>Public guidance enters from the corpus path; questions leave through a guarded answer path.</a:t>
            </a:r>
          </a:p>
        </p:txBody>
      </p:sp>
      <p:sp>
        <p:nvSpPr>
          <p:cNvPr id="3" name="route">
            <a:extLst xmlns:a="http://schemas.openxmlformats.org/drawingml/2006/main">
              <a:ext uri="{FF2B5EF4-FFF2-40B4-BE49-F238E27FC236}">
                <a16:creationId xmlns:a16="http://schemas.microsoft.com/office/drawing/2014/main" id="{C4FE0E0D-1FCF-4849-89F5-7FE373FF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000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205BE5"/>
                </a:solidFill>
              </a:defRPr>
            </a:pPr>
            <a:r>
              <a:rPr sz="863" b="1">
                <a:solidFill>
                  <a:srgbClr val="205BE5"/>
                </a:solidFill>
              </a:rPr>
              <a:t>POST /api/chat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430BCFD-CD47-4415-85FA-5E2254AA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72033"/>
            </a:solidFill>
            <a:prstDash val="solid"/>
          </a:ln>
        </p:spPr>
      </p:sp>
      <p:sp>
        <p:nvSpPr>
          <p:cNvPr id="5" name="docs-browser">
            <a:extLst xmlns:a="http://schemas.openxmlformats.org/drawingml/2006/main">
              <a:ext uri="{FF2B5EF4-FFF2-40B4-BE49-F238E27FC236}">
                <a16:creationId xmlns:a16="http://schemas.microsoft.com/office/drawing/2014/main" id="{9807CB1E-C780-476E-B4F5-13B14DEA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76450"/>
            <a:ext cx="6286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05BE5"/>
          </a:solidFill>
          <a:ln xmlns:a="http://schemas.openxmlformats.org/drawingml/2006/main" w="0">
            <a:solidFill>
              <a:srgbClr val="205BE5"/>
            </a:solidFill>
            <a:prstDash val="solid"/>
          </a:ln>
        </p:spPr>
      </p:sp>
      <p:sp>
        <p:nvSpPr>
          <p:cNvPr id="6" name="browser-chunk">
            <a:extLst xmlns:a="http://schemas.openxmlformats.org/drawingml/2006/main">
              <a:ext uri="{FF2B5EF4-FFF2-40B4-BE49-F238E27FC236}">
                <a16:creationId xmlns:a16="http://schemas.microsoft.com/office/drawing/2014/main" id="{97BDC3DE-AB38-4869-85A3-605E42E5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76450"/>
            <a:ext cx="552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05BE5"/>
          </a:solidFill>
          <a:ln xmlns:a="http://schemas.openxmlformats.org/drawingml/2006/main" w="0">
            <a:solidFill>
              <a:srgbClr val="205BE5"/>
            </a:solidFill>
            <a:prstDash val="solid"/>
          </a:ln>
        </p:spPr>
      </p:sp>
      <p:sp>
        <p:nvSpPr>
          <p:cNvPr id="7" name="chunk-embed">
            <a:extLst xmlns:a="http://schemas.openxmlformats.org/drawingml/2006/main">
              <a:ext uri="{FF2B5EF4-FFF2-40B4-BE49-F238E27FC236}">
                <a16:creationId xmlns:a16="http://schemas.microsoft.com/office/drawing/2014/main" id="{1F313AC8-F491-4071-9572-9D3E52E4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5715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05BE5"/>
          </a:solidFill>
          <a:ln xmlns:a="http://schemas.openxmlformats.org/drawingml/2006/main" w="0">
            <a:solidFill>
              <a:srgbClr val="205BE5"/>
            </a:solidFill>
            <a:prstDash val="solid"/>
          </a:ln>
        </p:spPr>
      </p:sp>
      <p:sp>
        <p:nvSpPr>
          <p:cNvPr id="8" name="embed-store">
            <a:extLst xmlns:a="http://schemas.openxmlformats.org/drawingml/2006/main">
              <a:ext uri="{FF2B5EF4-FFF2-40B4-BE49-F238E27FC236}">
                <a16:creationId xmlns:a16="http://schemas.microsoft.com/office/drawing/2014/main" id="{4BAF83E7-79D9-4B1A-B9C4-F63EB968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5334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27B78"/>
          </a:solidFill>
          <a:ln xmlns:a="http://schemas.openxmlformats.org/drawingml/2006/main" w="0">
            <a:solidFill>
              <a:srgbClr val="127B78"/>
            </a:solidFill>
            <a:prstDash val="solid"/>
          </a:ln>
        </p:spPr>
      </p:sp>
      <p:sp>
        <p:nvSpPr>
          <p:cNvPr id="9" name="question-validate">
            <a:extLst xmlns:a="http://schemas.openxmlformats.org/drawingml/2006/main">
              <a:ext uri="{FF2B5EF4-FFF2-40B4-BE49-F238E27FC236}">
                <a16:creationId xmlns:a16="http://schemas.microsoft.com/office/drawing/2014/main" id="{5AEEA287-1C81-45F8-8751-9C2C35AD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581525"/>
            <a:ext cx="5905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3A6"/>
          </a:solidFill>
          <a:ln xmlns:a="http://schemas.openxmlformats.org/drawingml/2006/main" w="0">
            <a:solidFill>
              <a:srgbClr val="1743A6"/>
            </a:solidFill>
            <a:prstDash val="solid"/>
          </a:ln>
        </p:spPr>
      </p:sp>
      <p:sp>
        <p:nvSpPr>
          <p:cNvPr id="10" name="validate-embed">
            <a:extLst xmlns:a="http://schemas.openxmlformats.org/drawingml/2006/main">
              <a:ext uri="{FF2B5EF4-FFF2-40B4-BE49-F238E27FC236}">
                <a16:creationId xmlns:a16="http://schemas.microsoft.com/office/drawing/2014/main" id="{5907E15B-1888-4C56-B178-EB9ACE9C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581525"/>
            <a:ext cx="552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3A6"/>
          </a:solidFill>
          <a:ln xmlns:a="http://schemas.openxmlformats.org/drawingml/2006/main" w="0">
            <a:solidFill>
              <a:srgbClr val="1743A6"/>
            </a:solidFill>
            <a:prstDash val="solid"/>
          </a:ln>
        </p:spPr>
      </p:sp>
      <p:sp>
        <p:nvSpPr>
          <p:cNvPr id="11" name="query-store">
            <a:extLst xmlns:a="http://schemas.openxmlformats.org/drawingml/2006/main">
              <a:ext uri="{FF2B5EF4-FFF2-40B4-BE49-F238E27FC236}">
                <a16:creationId xmlns:a16="http://schemas.microsoft.com/office/drawing/2014/main" id="{74E20F1D-1668-4C04-AECA-37F81592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81525"/>
            <a:ext cx="20955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3A6"/>
          </a:solidFill>
          <a:ln xmlns:a="http://schemas.openxmlformats.org/drawingml/2006/main" w="0">
            <a:solidFill>
              <a:srgbClr val="1743A6"/>
            </a:solidFill>
            <a:prstDash val="solid"/>
          </a:ln>
        </p:spPr>
      </p:sp>
      <p:sp>
        <p:nvSpPr>
          <p:cNvPr id="12" name="store-retrieve">
            <a:extLst xmlns:a="http://schemas.openxmlformats.org/drawingml/2006/main">
              <a:ext uri="{FF2B5EF4-FFF2-40B4-BE49-F238E27FC236}">
                <a16:creationId xmlns:a16="http://schemas.microsoft.com/office/drawing/2014/main" id="{441FCC58-5E2B-4C2E-BB7E-9BF52AA6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95650"/>
            <a:ext cx="5905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3A6"/>
          </a:solidFill>
          <a:ln xmlns:a="http://schemas.openxmlformats.org/drawingml/2006/main" w="0">
            <a:solidFill>
              <a:srgbClr val="1743A6"/>
            </a:solidFill>
            <a:prstDash val="solid"/>
          </a:ln>
        </p:spPr>
      </p:sp>
      <p:sp>
        <p:nvSpPr>
          <p:cNvPr id="13" name="retrieve-decision">
            <a:extLst xmlns:a="http://schemas.openxmlformats.org/drawingml/2006/main">
              <a:ext uri="{FF2B5EF4-FFF2-40B4-BE49-F238E27FC236}">
                <a16:creationId xmlns:a16="http://schemas.microsoft.com/office/drawing/2014/main" id="{A7FB2E51-8A32-4000-8F95-3071E733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95650"/>
            <a:ext cx="333375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3A6"/>
          </a:solidFill>
          <a:ln xmlns:a="http://schemas.openxmlformats.org/drawingml/2006/main" w="0">
            <a:solidFill>
              <a:srgbClr val="1743A6"/>
            </a:solidFill>
            <a:prstDash val="solid"/>
          </a:ln>
        </p:spPr>
      </p:sp>
      <p:sp>
        <p:nvSpPr>
          <p:cNvPr id="14" name="decision-refuse">
            <a:extLst xmlns:a="http://schemas.openxmlformats.org/drawingml/2006/main">
              <a:ext uri="{FF2B5EF4-FFF2-40B4-BE49-F238E27FC236}">
                <a16:creationId xmlns:a16="http://schemas.microsoft.com/office/drawing/2014/main" id="{F5E5215B-0BF1-4A6A-89F7-AC97434D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038600"/>
            <a:ext cx="95250" cy="6572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85440"/>
          </a:solidFill>
          <a:ln xmlns:a="http://schemas.openxmlformats.org/drawingml/2006/main" w="0">
            <a:solidFill>
              <a:srgbClr val="C85440"/>
            </a:solidFill>
            <a:prstDash val="solid"/>
          </a:ln>
        </p:spPr>
      </p:sp>
      <p:sp>
        <p:nvSpPr>
          <p:cNvPr id="15" name="decision-prompt-a">
            <a:extLst xmlns:a="http://schemas.openxmlformats.org/drawingml/2006/main">
              <a:ext uri="{FF2B5EF4-FFF2-40B4-BE49-F238E27FC236}">
                <a16:creationId xmlns:a16="http://schemas.microsoft.com/office/drawing/2014/main" id="{69726E3F-B9B2-42A9-BF7C-8D6DB5E2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0"/>
            <a:ext cx="9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43A6"/>
            </a:solidFill>
            <a:prstDash val="solid"/>
          </a:ln>
        </p:spPr>
      </p:sp>
      <p:sp>
        <p:nvSpPr>
          <p:cNvPr id="16" name="decision-prompt-b">
            <a:extLst xmlns:a="http://schemas.openxmlformats.org/drawingml/2006/main">
              <a:ext uri="{FF2B5EF4-FFF2-40B4-BE49-F238E27FC236}">
                <a16:creationId xmlns:a16="http://schemas.microsoft.com/office/drawing/2014/main" id="{364E1FC9-354C-4DFA-8C55-86F8D167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200275"/>
            <a:ext cx="0" cy="1133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43A6"/>
            </a:solidFill>
            <a:prstDash val="solid"/>
          </a:ln>
        </p:spPr>
      </p:sp>
      <p:sp>
        <p:nvSpPr>
          <p:cNvPr id="17" name="decision-prompt-c">
            <a:extLst xmlns:a="http://schemas.openxmlformats.org/drawingml/2006/main">
              <a:ext uri="{FF2B5EF4-FFF2-40B4-BE49-F238E27FC236}">
                <a16:creationId xmlns:a16="http://schemas.microsoft.com/office/drawing/2014/main" id="{66888487-43C6-4221-A0A2-137C5367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152650"/>
            <a:ext cx="1143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3A6"/>
          </a:solidFill>
          <a:ln xmlns:a="http://schemas.openxmlformats.org/drawingml/2006/main" w="0">
            <a:solidFill>
              <a:srgbClr val="1743A6"/>
            </a:solidFill>
            <a:prstDash val="solid"/>
          </a:ln>
        </p:spPr>
      </p:sp>
      <p:sp>
        <p:nvSpPr>
          <p:cNvPr id="18" name="prompt-model">
            <a:extLst xmlns:a="http://schemas.openxmlformats.org/drawingml/2006/main">
              <a:ext uri="{FF2B5EF4-FFF2-40B4-BE49-F238E27FC236}">
                <a16:creationId xmlns:a16="http://schemas.microsoft.com/office/drawing/2014/main" id="{1407D16F-C5BE-461F-9AE5-248984BB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600325"/>
            <a:ext cx="95250" cy="4286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743A6"/>
          </a:solidFill>
          <a:ln xmlns:a="http://schemas.openxmlformats.org/drawingml/2006/main" w="0">
            <a:solidFill>
              <a:srgbClr val="1743A6"/>
            </a:solidFill>
            <a:prstDash val="solid"/>
          </a:ln>
        </p:spPr>
      </p:sp>
      <p:sp>
        <p:nvSpPr>
          <p:cNvPr id="19" name="model-response">
            <a:extLst xmlns:a="http://schemas.openxmlformats.org/drawingml/2006/main">
              <a:ext uri="{FF2B5EF4-FFF2-40B4-BE49-F238E27FC236}">
                <a16:creationId xmlns:a16="http://schemas.microsoft.com/office/drawing/2014/main" id="{B3D5B2F3-2EDE-483C-A9C5-0BE9B3A2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038600"/>
            <a:ext cx="95250" cy="6572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05BE5"/>
          </a:solidFill>
          <a:ln xmlns:a="http://schemas.openxmlformats.org/drawingml/2006/main" w="0">
            <a:solidFill>
              <a:srgbClr val="205BE5"/>
            </a:solidFill>
            <a:prstDash val="solid"/>
          </a:ln>
        </p:spPr>
      </p:sp>
      <p:sp>
        <p:nvSpPr>
          <p:cNvPr id="20" name="corpus-label">
            <a:extLst xmlns:a="http://schemas.openxmlformats.org/drawingml/2006/main">
              <a:ext uri="{FF2B5EF4-FFF2-40B4-BE49-F238E27FC236}">
                <a16:creationId xmlns:a16="http://schemas.microsoft.com/office/drawing/2014/main" id="{C022BC14-4252-425C-932F-5A67DFB2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05BE5"/>
                </a:solidFill>
              </a:defRPr>
            </a:pPr>
            <a:r>
              <a:rPr sz="900" b="1">
                <a:solidFill>
                  <a:srgbClr val="205BE5"/>
                </a:solidFill>
              </a:rPr>
              <a:t>01 · BUILD THE CORPUS</a:t>
            </a:r>
          </a:p>
        </p:txBody>
      </p:sp>
      <p:sp>
        <p:nvSpPr>
          <p:cNvPr id="21" name="corpus-copy">
            <a:extLst xmlns:a="http://schemas.openxmlformats.org/drawingml/2006/main">
              <a:ext uri="{FF2B5EF4-FFF2-40B4-BE49-F238E27FC236}">
                <a16:creationId xmlns:a16="http://schemas.microsoft.com/office/drawing/2014/main" id="{AFB233D2-7E23-4BF4-80AD-800F65D6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67085"/>
                </a:solidFill>
              </a:defRPr>
            </a:pPr>
            <a:r>
              <a:rPr sz="863" b="0">
                <a:solidFill>
                  <a:srgbClr val="667085"/>
                </a:solidFill>
              </a:rPr>
              <a:t>18 maintained public guidance URLs</a:t>
            </a:r>
          </a:p>
        </p:txBody>
      </p:sp>
      <p:sp>
        <p:nvSpPr>
          <p:cNvPr id="22" name="doc-back-2">
            <a:extLst xmlns:a="http://schemas.openxmlformats.org/drawingml/2006/main">
              <a:ext uri="{FF2B5EF4-FFF2-40B4-BE49-F238E27FC236}">
                <a16:creationId xmlns:a16="http://schemas.microsoft.com/office/drawing/2014/main" id="{E7F7E3E3-391A-47D5-BD3A-A9D40476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914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05BE5"/>
            </a:solidFill>
            <a:prstDash val="solid"/>
          </a:ln>
        </p:spPr>
      </p:sp>
      <p:sp>
        <p:nvSpPr>
          <p:cNvPr id="23" name="doc-back-1">
            <a:extLst xmlns:a="http://schemas.openxmlformats.org/drawingml/2006/main">
              <a:ext uri="{FF2B5EF4-FFF2-40B4-BE49-F238E27FC236}">
                <a16:creationId xmlns:a16="http://schemas.microsoft.com/office/drawing/2014/main" id="{C71F22D6-5423-43F4-80EA-ABFC8CC1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914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205BE5"/>
            </a:solidFill>
            <a:prstDash val="solid"/>
          </a:ln>
        </p:spPr>
      </p:sp>
      <p:sp>
        <p:nvSpPr>
          <p:cNvPr id="24" name="doc-front">
            <a:extLst xmlns:a="http://schemas.openxmlformats.org/drawingml/2006/main">
              <a:ext uri="{FF2B5EF4-FFF2-40B4-BE49-F238E27FC236}">
                <a16:creationId xmlns:a16="http://schemas.microsoft.com/office/drawing/2014/main" id="{4A0FE6EA-2B0F-42CD-8273-E6FD1191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914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05BE5"/>
            </a:solidFill>
            <a:prstDash val="solid"/>
          </a:ln>
        </p:spPr>
      </p:sp>
      <p:sp>
        <p:nvSpPr>
          <p:cNvPr id="25" name="doc-count">
            <a:extLst xmlns:a="http://schemas.openxmlformats.org/drawingml/2006/main">
              <a:ext uri="{FF2B5EF4-FFF2-40B4-BE49-F238E27FC236}">
                <a16:creationId xmlns:a16="http://schemas.microsoft.com/office/drawing/2014/main" id="{B74B195E-2E86-42EF-888D-2E582A5A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526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05BE5"/>
                </a:solidFill>
              </a:defRPr>
            </a:pPr>
            <a:r>
              <a:rPr sz="1800" b="1">
                <a:solidFill>
                  <a:srgbClr val="205BE5"/>
                </a:solidFill>
              </a:rPr>
              <a:t>18</a:t>
            </a:r>
          </a:p>
        </p:txBody>
      </p:sp>
      <p:sp>
        <p:nvSpPr>
          <p:cNvPr id="26" name="doc-label">
            <a:extLst xmlns:a="http://schemas.openxmlformats.org/drawingml/2006/main">
              <a:ext uri="{FF2B5EF4-FFF2-40B4-BE49-F238E27FC236}">
                <a16:creationId xmlns:a16="http://schemas.microsoft.com/office/drawing/2014/main" id="{61447E3A-3824-4D35-97CD-DBC35452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72033"/>
                </a:solidFill>
              </a:defRPr>
            </a:pPr>
            <a:r>
              <a:rPr sz="825" b="1">
                <a:solidFill>
                  <a:srgbClr val="172033"/>
                </a:solidFill>
              </a:rPr>
              <a:t>public</a:t>
            </a:r>
          </a:p>
          <a:p xmlns:a="http://schemas.openxmlformats.org/drawingml/2006/main">
            <a:pPr algn="ctr">
              <a:defRPr sz="825" b="1">
                <a:solidFill>
                  <a:srgbClr val="172033"/>
                </a:solidFill>
              </a:defRPr>
            </a:pPr>
            <a:r>
              <a:rPr sz="825" b="1">
                <a:solidFill>
                  <a:srgbClr val="172033"/>
                </a:solidFill>
              </a:rPr>
              <a:t>guides</a:t>
            </a:r>
          </a:p>
        </p:txBody>
      </p:sp>
      <p:sp>
        <p:nvSpPr>
          <p:cNvPr id="27" name="browser-circle">
            <a:extLst xmlns:a="http://schemas.openxmlformats.org/drawingml/2006/main">
              <a:ext uri="{FF2B5EF4-FFF2-40B4-BE49-F238E27FC236}">
                <a16:creationId xmlns:a16="http://schemas.microsoft.com/office/drawing/2014/main" id="{D5C42CEB-B671-44FA-BFD7-7C335445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145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14288">
            <a:solidFill>
              <a:srgbClr val="205BE5"/>
            </a:solidFill>
            <a:prstDash val="solid"/>
          </a:ln>
        </p:spPr>
      </p:sp>
      <p:sp>
        <p:nvSpPr>
          <p:cNvPr id="28" name="browser-label">
            <a:extLst xmlns:a="http://schemas.openxmlformats.org/drawingml/2006/main">
              <a:ext uri="{FF2B5EF4-FFF2-40B4-BE49-F238E27FC236}">
                <a16:creationId xmlns:a16="http://schemas.microsoft.com/office/drawing/2014/main" id="{C21E813F-BE5B-456F-895B-426B505D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81200"/>
            <a:ext cx="819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205BE5"/>
                </a:solidFill>
              </a:defRPr>
            </a:pPr>
            <a:r>
              <a:rPr sz="938" b="1">
                <a:solidFill>
                  <a:srgbClr val="205BE5"/>
                </a:solidFill>
              </a:rPr>
              <a:t>Extract</a:t>
            </a:r>
          </a:p>
        </p:txBody>
      </p:sp>
      <p:sp>
        <p:nvSpPr>
          <p:cNvPr id="29" name="browser-detail">
            <a:extLst xmlns:a="http://schemas.openxmlformats.org/drawingml/2006/main">
              <a:ext uri="{FF2B5EF4-FFF2-40B4-BE49-F238E27FC236}">
                <a16:creationId xmlns:a16="http://schemas.microsoft.com/office/drawing/2014/main" id="{4FB7D413-D341-4702-BCB5-B93C55A4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Puppeteer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one browser</a:t>
            </a:r>
          </a:p>
        </p:txBody>
      </p:sp>
      <p:sp>
        <p:nvSpPr>
          <p:cNvPr id="30" name="chunk-circle">
            <a:extLst xmlns:a="http://schemas.openxmlformats.org/drawingml/2006/main">
              <a:ext uri="{FF2B5EF4-FFF2-40B4-BE49-F238E27FC236}">
                <a16:creationId xmlns:a16="http://schemas.microsoft.com/office/drawing/2014/main" id="{7F4E8BA4-81C9-4FCB-96A3-57372041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7145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033"/>
            </a:solidFill>
            <a:prstDash val="solid"/>
          </a:ln>
        </p:spPr>
      </p:sp>
      <p:sp>
        <p:nvSpPr>
          <p:cNvPr id="31" name="chunk-label">
            <a:extLst xmlns:a="http://schemas.openxmlformats.org/drawingml/2006/main">
              <a:ext uri="{FF2B5EF4-FFF2-40B4-BE49-F238E27FC236}">
                <a16:creationId xmlns:a16="http://schemas.microsoft.com/office/drawing/2014/main" id="{C8A56533-2625-44C6-BEEA-821FEAFB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98120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72033"/>
                </a:solidFill>
              </a:defRPr>
            </a:pPr>
            <a:r>
              <a:rPr sz="938" b="1">
                <a:solidFill>
                  <a:srgbClr val="172033"/>
                </a:solidFill>
              </a:rPr>
              <a:t>Chunk</a:t>
            </a:r>
          </a:p>
        </p:txBody>
      </p:sp>
      <p:sp>
        <p:nvSpPr>
          <p:cNvPr id="32" name="chunk-detail">
            <a:extLst xmlns:a="http://schemas.openxmlformats.org/drawingml/2006/main">
              <a:ext uri="{FF2B5EF4-FFF2-40B4-BE49-F238E27FC236}">
                <a16:creationId xmlns:a16="http://schemas.microsoft.com/office/drawing/2014/main" id="{92CD90A1-B8EE-4EC6-826B-0E39CCF0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194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normalize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512 / overlap 100</a:t>
            </a:r>
          </a:p>
        </p:txBody>
      </p:sp>
      <p:sp>
        <p:nvSpPr>
          <p:cNvPr id="33" name="corpus-embed-circle">
            <a:extLst xmlns:a="http://schemas.openxmlformats.org/drawingml/2006/main">
              <a:ext uri="{FF2B5EF4-FFF2-40B4-BE49-F238E27FC236}">
                <a16:creationId xmlns:a16="http://schemas.microsoft.com/office/drawing/2014/main" id="{3A49DD60-8B2B-4580-8976-64D95858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145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3F2"/>
          </a:solidFill>
          <a:ln xmlns:a="http://schemas.openxmlformats.org/drawingml/2006/main" w="14288">
            <a:solidFill>
              <a:srgbClr val="127B78"/>
            </a:solidFill>
            <a:prstDash val="solid"/>
          </a:ln>
        </p:spPr>
      </p:sp>
      <p:sp>
        <p:nvSpPr>
          <p:cNvPr id="34" name="corpus-embed-label">
            <a:extLst xmlns:a="http://schemas.openxmlformats.org/drawingml/2006/main">
              <a:ext uri="{FF2B5EF4-FFF2-40B4-BE49-F238E27FC236}">
                <a16:creationId xmlns:a16="http://schemas.microsoft.com/office/drawing/2014/main" id="{E4395439-FAED-462E-A32F-60E64F57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98120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27B78"/>
                </a:solidFill>
              </a:defRPr>
            </a:pPr>
            <a:r>
              <a:rPr sz="938" b="1">
                <a:solidFill>
                  <a:srgbClr val="127B78"/>
                </a:solidFill>
              </a:rPr>
              <a:t>Embed</a:t>
            </a:r>
          </a:p>
        </p:txBody>
      </p:sp>
      <p:sp>
        <p:nvSpPr>
          <p:cNvPr id="35" name="corpus-embed-detail">
            <a:extLst xmlns:a="http://schemas.openxmlformats.org/drawingml/2006/main">
              <a:ext uri="{FF2B5EF4-FFF2-40B4-BE49-F238E27FC236}">
                <a16:creationId xmlns:a16="http://schemas.microsoft.com/office/drawing/2014/main" id="{6A9185DE-A436-4B8D-B261-79B1C594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813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MiniLM-L6-v2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384-D normalized</a:t>
            </a:r>
          </a:p>
        </p:txBody>
      </p:sp>
      <p:sp>
        <p:nvSpPr>
          <p:cNvPr id="36" name="astra-outer">
            <a:extLst xmlns:a="http://schemas.openxmlformats.org/drawingml/2006/main">
              <a:ext uri="{FF2B5EF4-FFF2-40B4-BE49-F238E27FC236}">
                <a16:creationId xmlns:a16="http://schemas.microsoft.com/office/drawing/2014/main" id="{844B8957-1736-483D-BEC0-FDC1B993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590675"/>
            <a:ext cx="1238250" cy="3638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AE"/>
          </a:solidFill>
          <a:ln xmlns:a="http://schemas.openxmlformats.org/drawingml/2006/main" w="17145">
            <a:solidFill>
              <a:srgbClr val="9A6A00"/>
            </a:solidFill>
            <a:prstDash val="solid"/>
          </a:ln>
        </p:spPr>
      </p:sp>
      <p:sp>
        <p:nvSpPr>
          <p:cNvPr id="37" name="astra-top">
            <a:extLst xmlns:a="http://schemas.openxmlformats.org/drawingml/2006/main">
              <a:ext uri="{FF2B5EF4-FFF2-40B4-BE49-F238E27FC236}">
                <a16:creationId xmlns:a16="http://schemas.microsoft.com/office/drawing/2014/main" id="{F035988A-62CB-463F-AEC2-3DDD49EA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590675"/>
            <a:ext cx="12382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790"/>
          </a:solidFill>
          <a:ln xmlns:a="http://schemas.openxmlformats.org/drawingml/2006/main" w="17145">
            <a:solidFill>
              <a:srgbClr val="9A6A00"/>
            </a:solidFill>
            <a:prstDash val="solid"/>
          </a:ln>
        </p:spPr>
      </p:sp>
      <p:sp>
        <p:nvSpPr>
          <p:cNvPr id="38" name="astra-bottom">
            <a:extLst xmlns:a="http://schemas.openxmlformats.org/drawingml/2006/main">
              <a:ext uri="{FF2B5EF4-FFF2-40B4-BE49-F238E27FC236}">
                <a16:creationId xmlns:a16="http://schemas.microsoft.com/office/drawing/2014/main" id="{39598258-A47F-4AB5-8429-73CE1CEE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791075"/>
            <a:ext cx="12382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D872"/>
          </a:solidFill>
          <a:ln xmlns:a="http://schemas.openxmlformats.org/drawingml/2006/main" w="17145">
            <a:solidFill>
              <a:srgbClr val="9A6A00"/>
            </a:solidFill>
            <a:prstDash val="solid"/>
          </a:ln>
        </p:spPr>
      </p:sp>
      <p:sp>
        <p:nvSpPr>
          <p:cNvPr id="39" name="astra-kicker">
            <a:extLst xmlns:a="http://schemas.openxmlformats.org/drawingml/2006/main">
              <a:ext uri="{FF2B5EF4-FFF2-40B4-BE49-F238E27FC236}">
                <a16:creationId xmlns:a16="http://schemas.microsoft.com/office/drawing/2014/main" id="{FDAD84BC-EF98-45A9-91E0-7BCB67DD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907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9A6A00"/>
                </a:solidFill>
              </a:defRPr>
            </a:pPr>
            <a:r>
              <a:rPr sz="750" b="1">
                <a:solidFill>
                  <a:srgbClr val="9A6A00"/>
                </a:solidFill>
              </a:rPr>
              <a:t>SHARED STATE</a:t>
            </a:r>
          </a:p>
        </p:txBody>
      </p:sp>
      <p:sp>
        <p:nvSpPr>
          <p:cNvPr id="40" name="astra-title">
            <a:extLst xmlns:a="http://schemas.openxmlformats.org/drawingml/2006/main">
              <a:ext uri="{FF2B5EF4-FFF2-40B4-BE49-F238E27FC236}">
                <a16:creationId xmlns:a16="http://schemas.microsoft.com/office/drawing/2014/main" id="{3F73DF59-9C7B-4D4B-A754-91576E32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00325"/>
            <a:ext cx="971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Astra DB</a:t>
            </a:r>
          </a:p>
        </p:txBody>
      </p:sp>
      <p:sp>
        <p:nvSpPr>
          <p:cNvPr id="41" name="astra-copy">
            <a:extLst xmlns:a="http://schemas.openxmlformats.org/drawingml/2006/main">
              <a:ext uri="{FF2B5EF4-FFF2-40B4-BE49-F238E27FC236}">
                <a16:creationId xmlns:a16="http://schemas.microsoft.com/office/drawing/2014/main" id="{44ED77ED-9BD4-4EDF-918A-A31766A5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86100"/>
            <a:ext cx="971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72033"/>
                </a:solidFill>
              </a:defRPr>
            </a:pPr>
            <a:r>
              <a:rPr sz="825" b="0">
                <a:solidFill>
                  <a:srgbClr val="172033"/>
                </a:solidFill>
              </a:rPr>
              <a:t>vector collection</a:t>
            </a:r>
          </a:p>
          <a:p xmlns:a="http://schemas.openxmlformats.org/drawingml/2006/main">
            <a:pPr algn="ctr">
              <a:defRPr sz="825" b="0">
                <a:solidFill>
                  <a:srgbClr val="172033"/>
                </a:solidFill>
              </a:defRPr>
            </a:pPr>
            <a:r>
              <a:rPr sz="825" b="0">
                <a:solidFill>
                  <a:srgbClr val="172033"/>
                </a:solidFill>
              </a:rPr>
              <a:t>source metadata</a:t>
            </a:r>
          </a:p>
          <a:p xmlns:a="http://schemas.openxmlformats.org/drawingml/2006/main">
            <a:pPr algn="ctr">
              <a:defRPr sz="825" b="0">
                <a:solidFill>
                  <a:srgbClr val="172033"/>
                </a:solidFill>
              </a:defRPr>
            </a:pPr>
            <a:r>
              <a:rPr sz="825" b="0">
                <a:solidFill>
                  <a:srgbClr val="172033"/>
                </a:solidFill>
              </a:rPr>
              <a:t>dot-product search</a:t>
            </a:r>
          </a:p>
        </p:txBody>
      </p:sp>
      <p:sp>
        <p:nvSpPr>
          <p:cNvPr id="42" name="astra-divider">
            <a:extLst xmlns:a="http://schemas.openxmlformats.org/drawingml/2006/main">
              <a:ext uri="{FF2B5EF4-FFF2-40B4-BE49-F238E27FC236}">
                <a16:creationId xmlns:a16="http://schemas.microsoft.com/office/drawing/2014/main" id="{91FFD754-F126-4ED4-B256-4725A570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90975"/>
            <a:ext cx="85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9A6A00"/>
            </a:solidFill>
            <a:prstDash val="solid"/>
          </a:ln>
        </p:spPr>
      </p:sp>
      <p:sp>
        <p:nvSpPr>
          <p:cNvPr id="43" name="astra-secret">
            <a:extLst xmlns:a="http://schemas.openxmlformats.org/drawingml/2006/main">
              <a:ext uri="{FF2B5EF4-FFF2-40B4-BE49-F238E27FC236}">
                <a16:creationId xmlns:a16="http://schemas.microsoft.com/office/drawing/2014/main" id="{5257BA0B-191B-4EB1-A366-308F6D0E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38625"/>
            <a:ext cx="1009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server-side token</a:t>
            </a:r>
          </a:p>
        </p:txBody>
      </p:sp>
      <p:sp>
        <p:nvSpPr>
          <p:cNvPr id="44" name="query-label">
            <a:extLst xmlns:a="http://schemas.openxmlformats.org/drawingml/2006/main">
              <a:ext uri="{FF2B5EF4-FFF2-40B4-BE49-F238E27FC236}">
                <a16:creationId xmlns:a16="http://schemas.microsoft.com/office/drawing/2014/main" id="{8097A3EC-15E4-4E43-A89A-B05C67ED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43A6"/>
                </a:solidFill>
              </a:defRPr>
            </a:pPr>
            <a:r>
              <a:rPr sz="900" b="1">
                <a:solidFill>
                  <a:srgbClr val="1743A6"/>
                </a:solidFill>
              </a:rPr>
              <a:t>02 · ANSWER A QUESTION</a:t>
            </a:r>
          </a:p>
        </p:txBody>
      </p:sp>
      <p:sp>
        <p:nvSpPr>
          <p:cNvPr id="45" name="query-copy">
            <a:extLst xmlns:a="http://schemas.openxmlformats.org/drawingml/2006/main">
              <a:ext uri="{FF2B5EF4-FFF2-40B4-BE49-F238E27FC236}">
                <a16:creationId xmlns:a16="http://schemas.microsoft.com/office/drawing/2014/main" id="{C6150592-AECC-40EA-BB3D-1B3E79E7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9097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67085"/>
                </a:solidFill>
              </a:defRPr>
            </a:pPr>
            <a:r>
              <a:rPr sz="863" b="0">
                <a:solidFill>
                  <a:srgbClr val="667085"/>
                </a:solidFill>
              </a:rPr>
              <a:t>The latest user message enters the same vector space.</a:t>
            </a:r>
          </a:p>
        </p:txBody>
      </p:sp>
      <p:sp>
        <p:nvSpPr>
          <p:cNvPr id="46" name="question">
            <a:extLst xmlns:a="http://schemas.openxmlformats.org/drawingml/2006/main">
              <a:ext uri="{FF2B5EF4-FFF2-40B4-BE49-F238E27FC236}">
                <a16:creationId xmlns:a16="http://schemas.microsoft.com/office/drawing/2014/main" id="{A7B59697-5B79-4883-83F7-1E206BF4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57675"/>
            <a:ext cx="10572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12383">
            <a:solidFill>
              <a:srgbClr val="1743A6"/>
            </a:solidFill>
            <a:prstDash val="solid"/>
          </a:ln>
        </p:spPr>
      </p:sp>
      <p:sp>
        <p:nvSpPr>
          <p:cNvPr id="47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61C4B6C4-4772-432B-A995-BFD814C4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391025"/>
            <a:ext cx="7715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43A6"/>
                </a:solidFill>
              </a:defRPr>
            </a:pPr>
            <a:r>
              <a:rPr sz="975" b="1">
                <a:solidFill>
                  <a:srgbClr val="1743A6"/>
                </a:solidFill>
              </a:rPr>
              <a:t>Question</a:t>
            </a:r>
          </a:p>
        </p:txBody>
      </p:sp>
      <p:sp>
        <p:nvSpPr>
          <p:cNvPr id="48" name="question-copy">
            <a:extLst xmlns:a="http://schemas.openxmlformats.org/drawingml/2006/main">
              <a:ext uri="{FF2B5EF4-FFF2-40B4-BE49-F238E27FC236}">
                <a16:creationId xmlns:a16="http://schemas.microsoft.com/office/drawing/2014/main" id="{1C4C6838-8B59-4C86-AA66-1CBAF23F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6775"/>
            <a:ext cx="771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latest turn</a:t>
            </a:r>
          </a:p>
        </p:txBody>
      </p:sp>
      <p:sp>
        <p:nvSpPr>
          <p:cNvPr id="49" name="validate-circle">
            <a:extLst xmlns:a="http://schemas.openxmlformats.org/drawingml/2006/main">
              <a:ext uri="{FF2B5EF4-FFF2-40B4-BE49-F238E27FC236}">
                <a16:creationId xmlns:a16="http://schemas.microsoft.com/office/drawing/2014/main" id="{14A64111-00EB-498D-9050-80A032DE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81475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033"/>
            </a:solidFill>
            <a:prstDash val="solid"/>
          </a:ln>
        </p:spPr>
      </p:sp>
      <p:sp>
        <p:nvSpPr>
          <p:cNvPr id="50" name="validate-label">
            <a:extLst xmlns:a="http://schemas.openxmlformats.org/drawingml/2006/main">
              <a:ext uri="{FF2B5EF4-FFF2-40B4-BE49-F238E27FC236}">
                <a16:creationId xmlns:a16="http://schemas.microsoft.com/office/drawing/2014/main" id="{65B46CAF-1F88-451B-9BE8-0A7F367D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448175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72033"/>
                </a:solidFill>
              </a:defRPr>
            </a:pPr>
            <a:r>
              <a:rPr sz="938" b="1">
                <a:solidFill>
                  <a:srgbClr val="172033"/>
                </a:solidFill>
              </a:rPr>
              <a:t>Validate</a:t>
            </a:r>
          </a:p>
        </p:txBody>
      </p:sp>
      <p:sp>
        <p:nvSpPr>
          <p:cNvPr id="51" name="validate-detail">
            <a:extLst xmlns:a="http://schemas.openxmlformats.org/drawingml/2006/main">
              <a:ext uri="{FF2B5EF4-FFF2-40B4-BE49-F238E27FC236}">
                <a16:creationId xmlns:a16="http://schemas.microsoft.com/office/drawing/2014/main" id="{F3E9E68A-723C-4A0B-BA7E-AD322899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5286375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1–20 messages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≤2,000 chars</a:t>
            </a:r>
          </a:p>
        </p:txBody>
      </p:sp>
      <p:sp>
        <p:nvSpPr>
          <p:cNvPr id="52" name="query-embed-circle">
            <a:extLst xmlns:a="http://schemas.openxmlformats.org/drawingml/2006/main">
              <a:ext uri="{FF2B5EF4-FFF2-40B4-BE49-F238E27FC236}">
                <a16:creationId xmlns:a16="http://schemas.microsoft.com/office/drawing/2014/main" id="{24D8B786-43BB-4FAF-8302-C83DAE98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181475"/>
            <a:ext cx="1019175" cy="1019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3F2"/>
          </a:solidFill>
          <a:ln xmlns:a="http://schemas.openxmlformats.org/drawingml/2006/main" w="14288">
            <a:solidFill>
              <a:srgbClr val="127B78"/>
            </a:solidFill>
            <a:prstDash val="solid"/>
          </a:ln>
        </p:spPr>
      </p:sp>
      <p:sp>
        <p:nvSpPr>
          <p:cNvPr id="53" name="query-embed-label">
            <a:extLst xmlns:a="http://schemas.openxmlformats.org/drawingml/2006/main">
              <a:ext uri="{FF2B5EF4-FFF2-40B4-BE49-F238E27FC236}">
                <a16:creationId xmlns:a16="http://schemas.microsoft.com/office/drawing/2014/main" id="{E4EE4067-0B3A-4474-813E-B2D27292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448175"/>
            <a:ext cx="8286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27B78"/>
                </a:solidFill>
              </a:defRPr>
            </a:pPr>
            <a:r>
              <a:rPr sz="938" b="1">
                <a:solidFill>
                  <a:srgbClr val="127B78"/>
                </a:solidFill>
              </a:rPr>
              <a:t>Embed</a:t>
            </a:r>
          </a:p>
        </p:txBody>
      </p:sp>
      <p:sp>
        <p:nvSpPr>
          <p:cNvPr id="54" name="query-embed-detail">
            <a:extLst xmlns:a="http://schemas.openxmlformats.org/drawingml/2006/main">
              <a:ext uri="{FF2B5EF4-FFF2-40B4-BE49-F238E27FC236}">
                <a16:creationId xmlns:a16="http://schemas.microsoft.com/office/drawing/2014/main" id="{3D1B7711-87E6-48FC-A56D-33FA62CF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276850"/>
            <a:ext cx="1209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same MiniLM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vector space</a:t>
            </a:r>
          </a:p>
        </p:txBody>
      </p:sp>
      <p:sp>
        <p:nvSpPr>
          <p:cNvPr id="55" name="retrieve-circle">
            <a:extLst xmlns:a="http://schemas.openxmlformats.org/drawingml/2006/main">
              <a:ext uri="{FF2B5EF4-FFF2-40B4-BE49-F238E27FC236}">
                <a16:creationId xmlns:a16="http://schemas.microsoft.com/office/drawing/2014/main" id="{8B01347F-4981-4015-ACDC-D7FBDE5B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765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14288">
            <a:solidFill>
              <a:srgbClr val="1743A6"/>
            </a:solidFill>
            <a:prstDash val="solid"/>
          </a:ln>
        </p:spPr>
      </p:sp>
      <p:sp>
        <p:nvSpPr>
          <p:cNvPr id="56" name="retrieve-label">
            <a:extLst xmlns:a="http://schemas.openxmlformats.org/drawingml/2006/main">
              <a:ext uri="{FF2B5EF4-FFF2-40B4-BE49-F238E27FC236}">
                <a16:creationId xmlns:a16="http://schemas.microsoft.com/office/drawing/2014/main" id="{298DD323-4956-435B-B818-92923956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432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743A6"/>
                </a:solidFill>
              </a:defRPr>
            </a:pPr>
            <a:r>
              <a:rPr sz="938" b="1">
                <a:solidFill>
                  <a:srgbClr val="1743A6"/>
                </a:solidFill>
              </a:rPr>
              <a:t>Top 6</a:t>
            </a:r>
          </a:p>
        </p:txBody>
      </p:sp>
      <p:sp>
        <p:nvSpPr>
          <p:cNvPr id="57" name="retrieve-detail">
            <a:extLst xmlns:a="http://schemas.openxmlformats.org/drawingml/2006/main">
              <a:ext uri="{FF2B5EF4-FFF2-40B4-BE49-F238E27FC236}">
                <a16:creationId xmlns:a16="http://schemas.microsoft.com/office/drawing/2014/main" id="{B2B0D33D-C1FA-440B-AB5D-F5B6981F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6715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usable text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only</a:t>
            </a:r>
          </a:p>
        </p:txBody>
      </p:sp>
      <p:sp>
        <p:nvSpPr>
          <p:cNvPr id="58" name="evidence-gate">
            <a:extLst xmlns:a="http://schemas.openxmlformats.org/drawingml/2006/main">
              <a:ext uri="{FF2B5EF4-FFF2-40B4-BE49-F238E27FC236}">
                <a16:creationId xmlns:a16="http://schemas.microsoft.com/office/drawing/2014/main" id="{868E0AE6-4EFD-4077-B73A-2F6671F4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76550"/>
            <a:ext cx="685800" cy="914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1AE"/>
          </a:solidFill>
          <a:ln xmlns:a="http://schemas.openxmlformats.org/drawingml/2006/main" w="14288">
            <a:solidFill>
              <a:srgbClr val="9A6A00"/>
            </a:solidFill>
            <a:prstDash val="solid"/>
          </a:ln>
        </p:spPr>
      </p:sp>
      <p:sp>
        <p:nvSpPr>
          <p:cNvPr id="59" name="gate-text">
            <a:extLst xmlns:a="http://schemas.openxmlformats.org/drawingml/2006/main">
              <a:ext uri="{FF2B5EF4-FFF2-40B4-BE49-F238E27FC236}">
                <a16:creationId xmlns:a16="http://schemas.microsoft.com/office/drawing/2014/main" id="{6AFAA394-A57F-4A01-B217-F4BC7AD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289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9A6A00"/>
                </a:solidFill>
              </a:defRPr>
            </a:pPr>
            <a:r>
              <a:rPr sz="788" b="1">
                <a:solidFill>
                  <a:srgbClr val="9A6A00"/>
                </a:solidFill>
              </a:rPr>
              <a:t>text?</a:t>
            </a:r>
          </a:p>
        </p:txBody>
      </p:sp>
      <p:sp>
        <p:nvSpPr>
          <p:cNvPr id="60" name="prompt">
            <a:extLst xmlns:a="http://schemas.openxmlformats.org/drawingml/2006/main">
              <a:ext uri="{FF2B5EF4-FFF2-40B4-BE49-F238E27FC236}">
                <a16:creationId xmlns:a16="http://schemas.microsoft.com/office/drawing/2014/main" id="{5F5E6A4A-FCA4-4A11-BA31-C1347C7B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1809750"/>
            <a:ext cx="99060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E6F3F2"/>
          </a:solidFill>
          <a:ln xmlns:a="http://schemas.openxmlformats.org/drawingml/2006/main" w="12383">
            <a:solidFill>
              <a:srgbClr val="127B78"/>
            </a:solidFill>
            <a:prstDash val="solid"/>
          </a:ln>
        </p:spPr>
      </p:sp>
      <p:sp>
        <p:nvSpPr>
          <p:cNvPr id="61" name="prompt-title">
            <a:extLst xmlns:a="http://schemas.openxmlformats.org/drawingml/2006/main">
              <a:ext uri="{FF2B5EF4-FFF2-40B4-BE49-F238E27FC236}">
                <a16:creationId xmlns:a16="http://schemas.microsoft.com/office/drawing/2014/main" id="{08636C55-5AD2-4615-BCA5-A08A8CF8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99072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27B78"/>
                </a:solidFill>
              </a:defRPr>
            </a:pPr>
            <a:r>
              <a:rPr sz="863" b="1">
                <a:solidFill>
                  <a:srgbClr val="127B78"/>
                </a:solidFill>
              </a:rPr>
              <a:t>Grounded prompt</a:t>
            </a:r>
          </a:p>
        </p:txBody>
      </p:sp>
      <p:sp>
        <p:nvSpPr>
          <p:cNvPr id="62" name="prompt-note">
            <a:extLst xmlns:a="http://schemas.openxmlformats.org/drawingml/2006/main">
              <a:ext uri="{FF2B5EF4-FFF2-40B4-BE49-F238E27FC236}">
                <a16:creationId xmlns:a16="http://schemas.microsoft.com/office/drawing/2014/main" id="{57248EAA-DA18-4ACA-B398-022CA1E0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2324100"/>
            <a:ext cx="8001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67085"/>
                </a:solidFill>
              </a:defRPr>
            </a:pPr>
            <a:r>
              <a:rPr sz="660" b="0">
                <a:solidFill>
                  <a:srgbClr val="667085"/>
                </a:solidFill>
              </a:rPr>
              <a:t>context only</a:t>
            </a:r>
          </a:p>
        </p:txBody>
      </p:sp>
      <p:sp>
        <p:nvSpPr>
          <p:cNvPr id="63" name="model">
            <a:extLst xmlns:a="http://schemas.openxmlformats.org/drawingml/2006/main">
              <a:ext uri="{FF2B5EF4-FFF2-40B4-BE49-F238E27FC236}">
                <a16:creationId xmlns:a16="http://schemas.microsoft.com/office/drawing/2014/main" id="{DE0A77B6-28B0-45FF-99CF-DFDA4DB2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028950"/>
            <a:ext cx="95250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14288">
            <a:solidFill>
              <a:srgbClr val="205BE5"/>
            </a:solidFill>
            <a:prstDash val="solid"/>
          </a:ln>
        </p:spPr>
      </p:sp>
      <p:sp>
        <p:nvSpPr>
          <p:cNvPr id="64" name="model-title">
            <a:extLst xmlns:a="http://schemas.openxmlformats.org/drawingml/2006/main">
              <a:ext uri="{FF2B5EF4-FFF2-40B4-BE49-F238E27FC236}">
                <a16:creationId xmlns:a16="http://schemas.microsoft.com/office/drawing/2014/main" id="{F8876177-04BB-496C-85F2-57FB2BCF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295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5BE5"/>
                </a:solidFill>
              </a:defRPr>
            </a:pPr>
            <a:r>
              <a:rPr sz="900" b="1">
                <a:solidFill>
                  <a:srgbClr val="205BE5"/>
                </a:solidFill>
              </a:rPr>
              <a:t>HF router</a:t>
            </a:r>
          </a:p>
        </p:txBody>
      </p:sp>
      <p:sp>
        <p:nvSpPr>
          <p:cNvPr id="65" name="model-note">
            <a:extLst xmlns:a="http://schemas.openxmlformats.org/drawingml/2006/main">
              <a:ext uri="{FF2B5EF4-FFF2-40B4-BE49-F238E27FC236}">
                <a16:creationId xmlns:a16="http://schemas.microsoft.com/office/drawing/2014/main" id="{EE55DB7B-E6A2-4AFE-91F3-99042CA6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57187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667085"/>
                </a:solidFill>
              </a:defRPr>
            </a:pPr>
            <a:r>
              <a:rPr sz="690" b="0">
                <a:solidFill>
                  <a:srgbClr val="667085"/>
                </a:solidFill>
              </a:rPr>
              <a:t>temp 0.2</a:t>
            </a:r>
          </a:p>
          <a:p xmlns:a="http://schemas.openxmlformats.org/drawingml/2006/main">
            <a:pPr algn="ctr">
              <a:defRPr sz="690" b="0">
                <a:solidFill>
                  <a:srgbClr val="667085"/>
                </a:solidFill>
              </a:defRPr>
            </a:pPr>
            <a:r>
              <a:rPr sz="690" b="0">
                <a:solidFill>
                  <a:srgbClr val="667085"/>
                </a:solidFill>
              </a:rPr>
              <a:t>25 s timeout</a:t>
            </a:r>
          </a:p>
        </p:txBody>
      </p:sp>
      <p:sp>
        <p:nvSpPr>
          <p:cNvPr id="66" name="refusal">
            <a:extLst xmlns:a="http://schemas.openxmlformats.org/drawingml/2006/main">
              <a:ext uri="{FF2B5EF4-FFF2-40B4-BE49-F238E27FC236}">
                <a16:creationId xmlns:a16="http://schemas.microsoft.com/office/drawing/2014/main" id="{8CACE831-09AD-4A3D-8352-51B6BD25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95825"/>
            <a:ext cx="1285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5"/>
          </a:solidFill>
          <a:ln xmlns:a="http://schemas.openxmlformats.org/drawingml/2006/main" w="12383">
            <a:solidFill>
              <a:srgbClr val="C85440"/>
            </a:solidFill>
            <a:prstDash val="solid"/>
          </a:ln>
        </p:spPr>
      </p:sp>
      <p:sp>
        <p:nvSpPr>
          <p:cNvPr id="67" name="refusal-copy">
            <a:extLst xmlns:a="http://schemas.openxmlformats.org/drawingml/2006/main">
              <a:ext uri="{FF2B5EF4-FFF2-40B4-BE49-F238E27FC236}">
                <a16:creationId xmlns:a16="http://schemas.microsoft.com/office/drawing/2014/main" id="{06DD625E-1CC1-4A9B-8D2A-89FBD6BF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10125"/>
            <a:ext cx="1095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85440"/>
                </a:solidFill>
              </a:defRPr>
            </a:pPr>
            <a:r>
              <a:rPr sz="788" b="1">
                <a:solidFill>
                  <a:srgbClr val="C85440"/>
                </a:solidFill>
              </a:rPr>
              <a:t>422 · refuse</a:t>
            </a:r>
          </a:p>
          <a:p xmlns:a="http://schemas.openxmlformats.org/drawingml/2006/main">
            <a:pPr algn="ctr">
              <a:defRPr sz="788" b="1">
                <a:solidFill>
                  <a:srgbClr val="C85440"/>
                </a:solidFill>
              </a:defRPr>
            </a:pPr>
            <a:r>
              <a:rPr sz="788" b="1">
                <a:solidFill>
                  <a:srgbClr val="C85440"/>
                </a:solidFill>
              </a:rPr>
              <a:t>no generation</a:t>
            </a:r>
          </a:p>
        </p:txBody>
      </p:sp>
      <p:sp>
        <p:nvSpPr>
          <p:cNvPr id="68" name="response">
            <a:extLst xmlns:a="http://schemas.openxmlformats.org/drawingml/2006/main">
              <a:ext uri="{FF2B5EF4-FFF2-40B4-BE49-F238E27FC236}">
                <a16:creationId xmlns:a16="http://schemas.microsoft.com/office/drawing/2014/main" id="{DC10C4A5-2CFB-4A0D-B291-624E65A2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4695825"/>
            <a:ext cx="9048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12383">
            <a:solidFill>
              <a:srgbClr val="205BE5"/>
            </a:solidFill>
            <a:prstDash val="solid"/>
          </a:ln>
        </p:spPr>
      </p:sp>
      <p:sp>
        <p:nvSpPr>
          <p:cNvPr id="69" name="response-copy">
            <a:extLst xmlns:a="http://schemas.openxmlformats.org/drawingml/2006/main">
              <a:ext uri="{FF2B5EF4-FFF2-40B4-BE49-F238E27FC236}">
                <a16:creationId xmlns:a16="http://schemas.microsoft.com/office/drawing/2014/main" id="{5FC31A9B-4BA5-40DC-BDED-9AD9352A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4857750"/>
            <a:ext cx="752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05BE5"/>
                </a:solidFill>
              </a:defRPr>
            </a:pPr>
            <a:r>
              <a:rPr sz="750" b="1">
                <a:solidFill>
                  <a:srgbClr val="205BE5"/>
                </a:solidFill>
              </a:rPr>
              <a:t>answer +</a:t>
            </a:r>
          </a:p>
          <a:p xmlns:a="http://schemas.openxmlformats.org/drawingml/2006/main">
            <a:pPr algn="ctr">
              <a:defRPr sz="750" b="1">
                <a:solidFill>
                  <a:srgbClr val="205BE5"/>
                </a:solidFill>
              </a:defRPr>
            </a:pPr>
            <a:r>
              <a:rPr sz="750" b="1">
                <a:solidFill>
                  <a:srgbClr val="205BE5"/>
                </a:solidFill>
              </a:rPr>
              <a:t>≤4 sources</a:t>
            </a:r>
          </a:p>
        </p:txBody>
      </p:sp>
      <p:sp>
        <p:nvSpPr>
          <p:cNvPr id="70" name="bound-browser-num">
            <a:extLst xmlns:a="http://schemas.openxmlformats.org/drawingml/2006/main">
              <a:ext uri="{FF2B5EF4-FFF2-40B4-BE49-F238E27FC236}">
                <a16:creationId xmlns:a16="http://schemas.microsoft.com/office/drawing/2014/main" id="{36908B72-8A30-4B71-99E8-7C7E42F8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172033"/>
            </a:solidFill>
            <a:prstDash val="solid"/>
          </a:ln>
        </p:spPr>
      </p:sp>
      <p:sp>
        <p:nvSpPr>
          <p:cNvPr id="71" name="bound-browser-n">
            <a:extLst xmlns:a="http://schemas.openxmlformats.org/drawingml/2006/main">
              <a:ext uri="{FF2B5EF4-FFF2-40B4-BE49-F238E27FC236}">
                <a16:creationId xmlns:a16="http://schemas.microsoft.com/office/drawing/2014/main" id="{753C39D2-86B1-48ED-893F-E8185DD4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05475"/>
            <a:ext cx="2381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2" name="bound-browser-title">
            <a:extLst xmlns:a="http://schemas.openxmlformats.org/drawingml/2006/main">
              <a:ext uri="{FF2B5EF4-FFF2-40B4-BE49-F238E27FC236}">
                <a16:creationId xmlns:a16="http://schemas.microsoft.com/office/drawing/2014/main" id="{B5AE3119-ABBE-4B9D-8BE0-E9522789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648325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72033"/>
                </a:solidFill>
              </a:defRPr>
            </a:pPr>
            <a:r>
              <a:rPr sz="750" b="1">
                <a:solidFill>
                  <a:srgbClr val="172033"/>
                </a:solidFill>
              </a:rPr>
              <a:t>SERVER BOUNDARY</a:t>
            </a:r>
          </a:p>
        </p:txBody>
      </p:sp>
      <p:sp>
        <p:nvSpPr>
          <p:cNvPr id="73" name="bound-browser-body">
            <a:extLst xmlns:a="http://schemas.openxmlformats.org/drawingml/2006/main">
              <a:ext uri="{FF2B5EF4-FFF2-40B4-BE49-F238E27FC236}">
                <a16:creationId xmlns:a16="http://schemas.microsoft.com/office/drawing/2014/main" id="{99CC8252-CF4E-4485-BB2B-E5B810B8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848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Astra and model credentials never enter the browser.</a:t>
            </a:r>
          </a:p>
        </p:txBody>
      </p:sp>
      <p:sp>
        <p:nvSpPr>
          <p:cNvPr id="74" name="bound-empty-num">
            <a:extLst xmlns:a="http://schemas.openxmlformats.org/drawingml/2006/main">
              <a:ext uri="{FF2B5EF4-FFF2-40B4-BE49-F238E27FC236}">
                <a16:creationId xmlns:a16="http://schemas.microsoft.com/office/drawing/2014/main" id="{04B9A81A-3876-43FE-A2C4-0C7CCBD7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6578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440"/>
          </a:solidFill>
          <a:ln xmlns:a="http://schemas.openxmlformats.org/drawingml/2006/main" w="0">
            <a:solidFill>
              <a:srgbClr val="C85440"/>
            </a:solidFill>
            <a:prstDash val="solid"/>
          </a:ln>
        </p:spPr>
      </p:sp>
      <p:sp>
        <p:nvSpPr>
          <p:cNvPr id="75" name="bound-empty-n">
            <a:extLst xmlns:a="http://schemas.openxmlformats.org/drawingml/2006/main">
              <a:ext uri="{FF2B5EF4-FFF2-40B4-BE49-F238E27FC236}">
                <a16:creationId xmlns:a16="http://schemas.microsoft.com/office/drawing/2014/main" id="{3BA8D041-121E-4F13-8895-6547F543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05475"/>
            <a:ext cx="2381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76" name="bound-empty-title">
            <a:extLst xmlns:a="http://schemas.openxmlformats.org/drawingml/2006/main">
              <a:ext uri="{FF2B5EF4-FFF2-40B4-BE49-F238E27FC236}">
                <a16:creationId xmlns:a16="http://schemas.microsoft.com/office/drawing/2014/main" id="{377F0D9E-83F2-4DD8-99DD-447A5E8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648325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C85440"/>
                </a:solidFill>
              </a:defRPr>
            </a:pPr>
            <a:r>
              <a:rPr sz="750" b="1">
                <a:solidFill>
                  <a:srgbClr val="C85440"/>
                </a:solidFill>
              </a:rPr>
              <a:t>EMPTY RETRIEVAL</a:t>
            </a:r>
          </a:p>
        </p:txBody>
      </p:sp>
      <p:sp>
        <p:nvSpPr>
          <p:cNvPr id="77" name="bound-empty-body">
            <a:extLst xmlns:a="http://schemas.openxmlformats.org/drawingml/2006/main">
              <a:ext uri="{FF2B5EF4-FFF2-40B4-BE49-F238E27FC236}">
                <a16:creationId xmlns:a16="http://schemas.microsoft.com/office/drawing/2014/main" id="{FA542278-EC00-4747-8126-12BA688B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48350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The route refuses before generation—no general-knowledge fallback.</a:t>
            </a:r>
          </a:p>
        </p:txBody>
      </p:sp>
      <p:sp>
        <p:nvSpPr>
          <p:cNvPr id="78" name="bound-scope-num">
            <a:extLst xmlns:a="http://schemas.openxmlformats.org/drawingml/2006/main">
              <a:ext uri="{FF2B5EF4-FFF2-40B4-BE49-F238E27FC236}">
                <a16:creationId xmlns:a16="http://schemas.microsoft.com/office/drawing/2014/main" id="{F99BB6BE-1803-45B7-94B3-B57778D8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6578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7B78"/>
          </a:solidFill>
          <a:ln xmlns:a="http://schemas.openxmlformats.org/drawingml/2006/main" w="0">
            <a:solidFill>
              <a:srgbClr val="127B78"/>
            </a:solidFill>
            <a:prstDash val="solid"/>
          </a:ln>
        </p:spPr>
      </p:sp>
      <p:sp>
        <p:nvSpPr>
          <p:cNvPr id="79" name="bound-scope-n">
            <a:extLst xmlns:a="http://schemas.openxmlformats.org/drawingml/2006/main">
              <a:ext uri="{FF2B5EF4-FFF2-40B4-BE49-F238E27FC236}">
                <a16:creationId xmlns:a16="http://schemas.microsoft.com/office/drawing/2014/main" id="{2D8400D0-CACA-40C3-82C4-AB517F56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705475"/>
            <a:ext cx="2381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0" name="bound-scope-title">
            <a:extLst xmlns:a="http://schemas.openxmlformats.org/drawingml/2006/main">
              <a:ext uri="{FF2B5EF4-FFF2-40B4-BE49-F238E27FC236}">
                <a16:creationId xmlns:a16="http://schemas.microsoft.com/office/drawing/2014/main" id="{B3A7C7D7-AC6D-4A40-B270-FF565FF9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5648325"/>
            <a:ext cx="2676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27B78"/>
                </a:solidFill>
              </a:defRPr>
            </a:pPr>
            <a:r>
              <a:rPr sz="750" b="1">
                <a:solidFill>
                  <a:srgbClr val="127B78"/>
                </a:solidFill>
              </a:rPr>
              <a:t>SCOPE</a:t>
            </a:r>
          </a:p>
        </p:txBody>
      </p:sp>
      <p:sp>
        <p:nvSpPr>
          <p:cNvPr id="81" name="bound-scope-body">
            <a:extLst xmlns:a="http://schemas.openxmlformats.org/drawingml/2006/main">
              <a:ext uri="{FF2B5EF4-FFF2-40B4-BE49-F238E27FC236}">
                <a16:creationId xmlns:a16="http://schemas.microsoft.com/office/drawing/2014/main" id="{F5D94EBF-94B5-4A2D-B261-4E9B8F4E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5848350"/>
            <a:ext cx="2676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Educational guidance only; no PHI, coverage, or amount-owed decision.</a:t>
            </a:r>
          </a:p>
        </p:txBody>
      </p:sp>
      <p:sp>
        <p:nvSpPr>
          <p:cNvPr id="82" name="caption">
            <a:extLst xmlns:a="http://schemas.openxmlformats.org/drawingml/2006/main">
              <a:ext uri="{FF2B5EF4-FFF2-40B4-BE49-F238E27FC236}">
                <a16:creationId xmlns:a16="http://schemas.microsoft.com/office/drawing/2014/main" id="{F7FB6CA2-E2DC-4587-A412-E66EAEAA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</a:defRPr>
            </a:pPr>
            <a:r>
              <a:rPr sz="938" b="0">
                <a:solidFill>
                  <a:srgbClr val="172033"/>
                </a:solidFill>
              </a:rPr>
              <a:t>The offline and online paths share only the embedding space and vector collection; the evidence gate decides whether generation is allowed.</a:t>
            </a:r>
          </a:p>
        </p:txBody>
      </p:sp>
      <p:sp>
        <p:nvSpPr>
          <p:cNvPr id="83" name="sources">
            <a:extLst xmlns:a="http://schemas.openxmlformats.org/drawingml/2006/main">
              <a:ext uri="{FF2B5EF4-FFF2-40B4-BE49-F238E27FC236}">
                <a16:creationId xmlns:a16="http://schemas.microsoft.com/office/drawing/2014/main" id="{61B88C7F-8B6E-493F-8DCB-5728B594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7334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85"/>
                </a:solidFill>
              </a:defRPr>
            </a:pPr>
            <a:r>
              <a:rPr sz="690" b="0">
                <a:solidFill>
                  <a:srgbClr val="667085"/>
                </a:solidFill>
              </a:rPr>
              <a:t>scripts/loadDB.ts · app/api/chat/route.ts · app/lib/chat.ts · app/types.ts</a:t>
            </a:r>
          </a:p>
        </p:txBody>
      </p:sp>
    </p:spTree>
    <p:extLst>
      <p:ext uri="{BB962C8B-B14F-4D97-AF65-F5344CB8AC3E}">
        <p14:creationId xmlns:p14="http://schemas.microsoft.com/office/powerpoint/2010/main" val="17662847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2026-07-21T17:50:33.5770000Z</dcterms:created>
  <dcterms:modified xsi:type="dcterms:W3CDTF">2026-07-21T17:50:33.5770000Z</dcterms:modified>
</coreProperties>
</file>